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B_F08B74F7.xml" ContentType="application/vnd.ms-powerpoint.comments+xml"/>
  <Override PartName="/ppt/comments/modernComment_127_EC149E2E.xml" ContentType="application/vnd.ms-powerpoint.comments+xml"/>
  <Override PartName="/ppt/comments/modernComment_128_9A4EA749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sldIdLst>
    <p:sldId id="267" r:id="rId2"/>
    <p:sldId id="286" r:id="rId3"/>
    <p:sldId id="294" r:id="rId4"/>
    <p:sldId id="287" r:id="rId5"/>
    <p:sldId id="295" r:id="rId6"/>
    <p:sldId id="296" r:id="rId7"/>
    <p:sldId id="297" r:id="rId8"/>
    <p:sldId id="298" r:id="rId9"/>
    <p:sldId id="299" r:id="rId10"/>
    <p:sldId id="300" r:id="rId11"/>
    <p:sldId id="301" r:id="rId12"/>
    <p:sldId id="302" r:id="rId13"/>
    <p:sldId id="303" r:id="rId14"/>
    <p:sldId id="304" r:id="rId15"/>
    <p:sldId id="305" r:id="rId16"/>
    <p:sldId id="306" r:id="rId17"/>
    <p:sldId id="307" r:id="rId18"/>
    <p:sldId id="308" r:id="rId19"/>
    <p:sldId id="311" r:id="rId20"/>
    <p:sldId id="310" r:id="rId21"/>
  </p:sldIdLst>
  <p:sldSz cx="9144000" cy="5143500" type="screen16x9"/>
  <p:notesSz cx="6858000" cy="9144000"/>
  <p:defaultTextStyle>
    <a:defPPr>
      <a:defRPr lang="nl-NL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DBFFED3-44F4-7C97-73D2-7574B2EBF8DB}" name="Kuijpers, Daan" initials="DK" userId="S::d.h.c.kuijpers@student.tue.nl::8262b649-c8b5-40ed-89cf-04571f0afe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EE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27" autoAdjust="0"/>
    <p:restoredTop sz="96433" autoAdjust="0"/>
  </p:normalViewPr>
  <p:slideViewPr>
    <p:cSldViewPr snapToGrid="0" showGuides="1">
      <p:cViewPr varScale="1">
        <p:scale>
          <a:sx n="109" d="100"/>
          <a:sy n="109" d="100"/>
        </p:scale>
        <p:origin x="106" y="86"/>
      </p:cViewPr>
      <p:guideLst/>
    </p:cSldViewPr>
  </p:slideViewPr>
  <p:outlineViewPr>
    <p:cViewPr>
      <p:scale>
        <a:sx n="33" d="100"/>
        <a:sy n="33" d="100"/>
      </p:scale>
      <p:origin x="0" y="-397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0B_F08B74F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D2A4C01-460C-47E8-8669-DC62CAA87648}" authorId="{8DBFFED3-44F4-7C97-73D2-7574B2EBF8DB}" created="2026-06-04T14:37:00.886">
    <pc:sldMkLst xmlns:pc="http://schemas.microsoft.com/office/powerpoint/2013/main/command">
      <pc:docMk/>
      <pc:sldMk cId="4035671287" sldId="267"/>
    </pc:sldMkLst>
    <p188:txBody>
      <a:bodyPr/>
      <a:lstStyle/>
      <a:p>
        <a:r>
          <a:rPr lang="en-NL"/>
          <a:t>Datum nog aanpassen
Gehele presentatie nog overkijken en afbeeldingen toepassen etc
</a:t>
        </a:r>
      </a:p>
    </p188:txBody>
  </p188:cm>
</p188:cmLst>
</file>

<file path=ppt/comments/modernComment_127_EC149E2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D6D6FBD-13A7-4BEA-9438-80625BC6B54A}" authorId="{8DBFFED3-44F4-7C97-73D2-7574B2EBF8DB}" created="2026-06-04T14:36:30.822">
    <pc:sldMkLst xmlns:pc="http://schemas.microsoft.com/office/powerpoint/2013/main/command">
      <pc:docMk/>
      <pc:sldMk cId="3960774190" sldId="295"/>
    </pc:sldMkLst>
    <p188:txBody>
      <a:bodyPr/>
      <a:lstStyle/>
      <a:p>
        <a:r>
          <a:rPr lang="en-NL"/>
          <a:t>Hier nog duidelijkere hypothese opschrijven
</a:t>
        </a:r>
      </a:p>
    </p188:txBody>
  </p188:cm>
</p188:cmLst>
</file>

<file path=ppt/comments/modernComment_128_9A4EA7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3DF77EB-E830-4102-858B-D895AC6C8F61}" authorId="{8DBFFED3-44F4-7C97-73D2-7574B2EBF8DB}" created="2026-06-04T14:36:13.016">
    <pc:sldMkLst xmlns:pc="http://schemas.microsoft.com/office/powerpoint/2013/main/command">
      <pc:docMk/>
      <pc:sldMk cId="2588845897" sldId="296"/>
    </pc:sldMkLst>
    <p188:txBody>
      <a:bodyPr/>
      <a:lstStyle/>
      <a:p>
        <a:r>
          <a:rPr lang="en-NL"/>
          <a:t>Samenvoegen met ‘why my project fits’ zie draft.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F25DE2-B715-4EA4-8CF0-DA425EA806A7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99BBE-B871-48D7-983C-C0B1D7156D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719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76865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02403-81FC-4448-DED5-D749E6F27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DC8BF19-013C-A2BA-1C81-74AD346C2B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44851F6-8ECA-3472-F61B-B5761A6748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223C711-65C2-C07F-51E1-6D97F61587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537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at the top">
    <p:bg>
      <p:bgPr>
        <a:solidFill>
          <a:srgbClr val="EE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lack75"/>
          <p:cNvSpPr/>
          <p:nvPr userDrawn="1"/>
        </p:nvSpPr>
        <p:spPr>
          <a:xfrm>
            <a:off x="0" y="75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7560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at the top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1548000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00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164422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in the midd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lack75"/>
          <p:cNvSpPr/>
          <p:nvPr userDrawn="1"/>
        </p:nvSpPr>
        <p:spPr>
          <a:xfrm>
            <a:off x="0" y="183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18355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in the middle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2628097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98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293110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at th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lack75"/>
          <p:cNvSpPr/>
          <p:nvPr userDrawn="1"/>
        </p:nvSpPr>
        <p:spPr>
          <a:xfrm>
            <a:off x="0" y="291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29150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at the bottom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3708591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98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22374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3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85793"/>
            <a:ext cx="3595688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606" y="1296000"/>
            <a:ext cx="3595688" cy="293310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4714875" y="586800"/>
            <a:ext cx="3604419" cy="732238"/>
          </a:xfrm>
        </p:spPr>
        <p:txBody>
          <a:bodyPr anchor="t"/>
          <a:lstStyle>
            <a:lvl1pPr marL="0" indent="0">
              <a:buNone/>
              <a:defRPr lang="nl-NL" sz="1950" b="0" kern="120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 dirty="0"/>
              <a:t>Click to enter text</a:t>
            </a:r>
          </a:p>
        </p:txBody>
      </p:sp>
    </p:spTree>
    <p:extLst>
      <p:ext uri="{BB962C8B-B14F-4D97-AF65-F5344CB8AC3E}">
        <p14:creationId xmlns:p14="http://schemas.microsoft.com/office/powerpoint/2010/main" val="168240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text -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6000" y="586800"/>
            <a:ext cx="360000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4714875" y="0"/>
            <a:ext cx="4429125" cy="456723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981543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text -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6000" y="586800"/>
            <a:ext cx="4910138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491331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6046788" y="0"/>
            <a:ext cx="3097212" cy="456723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3272405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image/movi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wrap="none"/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inhoud 9"/>
          <p:cNvSpPr>
            <a:spLocks noGrp="1" noChangeAspect="1"/>
          </p:cNvSpPr>
          <p:nvPr>
            <p:ph sz="quarter" idx="13" hasCustomPrompt="1"/>
          </p:nvPr>
        </p:nvSpPr>
        <p:spPr>
          <a:xfrm>
            <a:off x="1889125" y="1079501"/>
            <a:ext cx="5292725" cy="29772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icon to insert 16x9 image or movie</a:t>
            </a:r>
          </a:p>
        </p:txBody>
      </p:sp>
      <p:sp>
        <p:nvSpPr>
          <p:cNvPr id="12" name="Tijdelijke aanduiding voor tekst 11"/>
          <p:cNvSpPr>
            <a:spLocks noGrp="1"/>
          </p:cNvSpPr>
          <p:nvPr>
            <p:ph type="body" sz="quarter" idx="14" hasCustomPrompt="1"/>
          </p:nvPr>
        </p:nvSpPr>
        <p:spPr>
          <a:xfrm>
            <a:off x="1889125" y="4106268"/>
            <a:ext cx="5292725" cy="165100"/>
          </a:xfrm>
        </p:spPr>
        <p:txBody>
          <a:bodyPr/>
          <a:lstStyle>
            <a:lvl1pPr>
              <a:defRPr sz="1100" i="1"/>
            </a:lvl1pPr>
          </a:lstStyle>
          <a:p>
            <a:pPr lvl="0"/>
            <a:r>
              <a:rPr lang="en-GB" dirty="0"/>
              <a:t>Click to insert Caption under image or movie</a:t>
            </a:r>
          </a:p>
        </p:txBody>
      </p:sp>
    </p:spTree>
    <p:extLst>
      <p:ext uri="{BB962C8B-B14F-4D97-AF65-F5344CB8AC3E}">
        <p14:creationId xmlns:p14="http://schemas.microsoft.com/office/powerpoint/2010/main" val="1938494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A 27pt headline on a slide with three images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58824" y="1306642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3" hasCustomPrompt="1"/>
          </p:nvPr>
        </p:nvSpPr>
        <p:spPr>
          <a:xfrm>
            <a:off x="3490913" y="1302661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235414" y="1302661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5" hasCustomPrompt="1"/>
          </p:nvPr>
        </p:nvSpPr>
        <p:spPr>
          <a:xfrm>
            <a:off x="755650" y="1943101"/>
            <a:ext cx="2087563" cy="262529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1" name="Tijdelijke aanduiding voor afbeelding 9"/>
          <p:cNvSpPr>
            <a:spLocks noGrp="1"/>
          </p:cNvSpPr>
          <p:nvPr>
            <p:ph type="pic" sz="quarter" idx="16" hasCustomPrompt="1"/>
          </p:nvPr>
        </p:nvSpPr>
        <p:spPr>
          <a:xfrm>
            <a:off x="3487739" y="1943101"/>
            <a:ext cx="2087563" cy="262529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  <p:sp>
        <p:nvSpPr>
          <p:cNvPr id="12" name="Tijdelijke aanduiding voor afbeelding 9"/>
          <p:cNvSpPr>
            <a:spLocks noGrp="1"/>
          </p:cNvSpPr>
          <p:nvPr>
            <p:ph type="pic" sz="quarter" idx="17" hasCustomPrompt="1"/>
          </p:nvPr>
        </p:nvSpPr>
        <p:spPr>
          <a:xfrm>
            <a:off x="6235414" y="1943101"/>
            <a:ext cx="2087563" cy="262529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9201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- 1/2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518" y="586800"/>
            <a:ext cx="360000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20343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54513" cy="456723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88727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- 2/3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4405" y="586800"/>
            <a:ext cx="482092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491230" y="1295401"/>
            <a:ext cx="4824095" cy="29337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022600" cy="4567238"/>
          </a:xfrm>
        </p:spPr>
        <p:txBody>
          <a:bodyPr/>
          <a:lstStyle/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681225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full screen dark image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This is an example of a white headline on a full screen, dark image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0151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full screen light imag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This is an example of a black headline on a full screen, light image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6832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This is an example of a black headline on a white background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cxnSp>
        <p:nvCxnSpPr>
          <p:cNvPr id="7" name="Rechte verbindingslijn 6"/>
          <p:cNvCxnSpPr/>
          <p:nvPr userDrawn="1"/>
        </p:nvCxnSpPr>
        <p:spPr>
          <a:xfrm>
            <a:off x="0" y="4563782"/>
            <a:ext cx="9144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jdelijke aanduiding voor afbeelding 8"/>
          <p:cNvSpPr>
            <a:spLocks noGrp="1"/>
          </p:cNvSpPr>
          <p:nvPr>
            <p:ph type="pic" sz="quarter" idx="13" hasCustomPrompt="1"/>
          </p:nvPr>
        </p:nvSpPr>
        <p:spPr>
          <a:xfrm>
            <a:off x="1890000" y="1299075"/>
            <a:ext cx="5292725" cy="29772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1866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carlet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3965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5650" y="586800"/>
            <a:ext cx="7563556" cy="516339"/>
          </a:xfrm>
        </p:spPr>
        <p:txBody>
          <a:bodyPr wrap="none"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US" dirty="0"/>
              <a:t>Sample slide with table and text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1" y="2638425"/>
            <a:ext cx="7563556" cy="1590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Tijdelijke aanduiding voor tabel 7"/>
          <p:cNvSpPr>
            <a:spLocks noGrp="1"/>
          </p:cNvSpPr>
          <p:nvPr>
            <p:ph type="tbl" sz="quarter" idx="13" hasCustomPrompt="1"/>
          </p:nvPr>
        </p:nvSpPr>
        <p:spPr>
          <a:xfrm>
            <a:off x="755650" y="1079501"/>
            <a:ext cx="7559675" cy="115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table</a:t>
            </a:r>
          </a:p>
        </p:txBody>
      </p:sp>
    </p:spTree>
    <p:extLst>
      <p:ext uri="{BB962C8B-B14F-4D97-AF65-F5344CB8AC3E}">
        <p14:creationId xmlns:p14="http://schemas.microsoft.com/office/powerpoint/2010/main" val="2399389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5650" y="586800"/>
            <a:ext cx="7563556" cy="516339"/>
          </a:xfrm>
        </p:spPr>
        <p:txBody>
          <a:bodyPr wrap="none"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Example chart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Tijdelijke aanduiding voor grafiek 8"/>
          <p:cNvSpPr>
            <a:spLocks noGrp="1"/>
          </p:cNvSpPr>
          <p:nvPr>
            <p:ph type="chart" sz="quarter" idx="13" hasCustomPrompt="1"/>
          </p:nvPr>
        </p:nvSpPr>
        <p:spPr>
          <a:xfrm>
            <a:off x="755650" y="1079500"/>
            <a:ext cx="7559675" cy="31496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chart</a:t>
            </a:r>
          </a:p>
        </p:txBody>
      </p:sp>
    </p:spTree>
    <p:extLst>
      <p:ext uri="{BB962C8B-B14F-4D97-AF65-F5344CB8AC3E}">
        <p14:creationId xmlns:p14="http://schemas.microsoft.com/office/powerpoint/2010/main" val="4202347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bg1"/>
          </a:solidFill>
        </p:spPr>
        <p:txBody>
          <a:bodyPr vert="horz" lIns="756000" tIns="0" rIns="0" bIns="0" rtlCol="0" anchor="ctr"/>
          <a:lstStyle>
            <a:lvl1pPr algn="l">
              <a:defRPr sz="1100" b="0">
                <a:solidFill>
                  <a:schemeClr val="tx1"/>
                </a:solidFill>
              </a:defRPr>
            </a:lvl1pPr>
          </a:lstStyle>
          <a:p>
            <a:fld id="{C194BDB0-F4EA-4DD6-8281-CCE2440D0CE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 err="1"/>
              <a:t>Klik</a:t>
            </a:r>
            <a:r>
              <a:rPr lang="en-GB" dirty="0"/>
              <a:t> om de </a:t>
            </a:r>
            <a:r>
              <a:rPr lang="en-GB" dirty="0" err="1"/>
              <a:t>modelstijlen</a:t>
            </a:r>
            <a:r>
              <a:rPr lang="en-GB" dirty="0"/>
              <a:t>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bewerken</a:t>
            </a:r>
            <a:endParaRPr lang="en-GB" dirty="0"/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bg1"/>
          </a:solidFill>
        </p:spPr>
        <p:txBody>
          <a:bodyPr vert="horz" lIns="0" tIns="0" rIns="0" bIns="0" rtlCol="0" anchor="ctr"/>
          <a:lstStyle>
            <a:lvl1pPr algn="l">
              <a:defRPr sz="11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COMSOL FEM Breast Model for Early Warning Scan</a:t>
            </a:r>
            <a:endParaRPr lang="en-GB" dirty="0"/>
          </a:p>
        </p:txBody>
      </p:sp>
      <p:pic>
        <p:nvPicPr>
          <p:cNvPr id="66" name="Picture 4">
            <a:extLst>
              <a:ext uri="{FF2B5EF4-FFF2-40B4-BE49-F238E27FC236}">
                <a16:creationId xmlns:a16="http://schemas.microsoft.com/office/drawing/2014/main" id="{93FD69BB-9D62-3A4C-8433-C5954D52BB6F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8156575" y="4568825"/>
            <a:ext cx="987425" cy="574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791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61" r:id="rId3"/>
    <p:sldLayoutId id="2147483662" r:id="rId4"/>
    <p:sldLayoutId id="2147483664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685800" rtl="0" eaLnBrk="1" latinLnBrk="0" hangingPunct="1">
        <a:lnSpc>
          <a:spcPts val="27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65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4pPr>
      <a:lvl5pPr marL="539750" indent="-17780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F08B74F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27_EC149E2E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28_9A4EA74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COMSOL FEM Breast Model for Early Warning Scan</a:t>
            </a:r>
          </a:p>
        </p:txBody>
      </p:sp>
      <p:sp>
        <p:nvSpPr>
          <p:cNvPr id="15" name="Ondertitel 1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00-00-2026 </a:t>
            </a:r>
          </a:p>
        </p:txBody>
      </p:sp>
      <p:sp>
        <p:nvSpPr>
          <p:cNvPr id="16" name="Tijdelijke aanduiding voor tekst 1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Daan Kuijpers | </a:t>
            </a:r>
            <a:r>
              <a:rPr lang="en-GB" dirty="0" err="1"/>
              <a:t>Intership</a:t>
            </a:r>
            <a:r>
              <a:rPr lang="en-GB" dirty="0"/>
              <a:t> project | Catharina Hospital | April – July 2026 </a:t>
            </a:r>
          </a:p>
        </p:txBody>
      </p:sp>
      <p:sp>
        <p:nvSpPr>
          <p:cNvPr id="17" name="Tijdelijke aanduiding voor tekst 16"/>
          <p:cNvSpPr>
            <a:spLocks noGrp="1"/>
          </p:cNvSpPr>
          <p:nvPr>
            <p:ph type="body" sz="quarter" idx="14"/>
          </p:nvPr>
        </p:nvSpPr>
        <p:spPr>
          <a:xfrm>
            <a:off x="-534573" y="4567237"/>
            <a:ext cx="7875173" cy="576263"/>
          </a:xfrm>
        </p:spPr>
        <p:txBody>
          <a:bodyPr/>
          <a:lstStyle/>
          <a:p>
            <a:r>
              <a:rPr lang="en-GB" dirty="0"/>
              <a:t>COMSOL FEM Breast Model for Early Warning scan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DFA180-01AA-D8D3-5747-0F0ACEAB9A6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3661" y="4596289"/>
            <a:ext cx="1985450" cy="5181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565F26-13C9-0FE4-1639-722463474D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0460" y="4567236"/>
            <a:ext cx="1728792" cy="5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7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3907-D351-4316-5A18-813936C2E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1534F-A67D-2932-3564-BD1ED8000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Breast Screening Still Needs Improvement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E57DA0-3E99-8369-D6C7-DADBC5C7F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880AE7-4B40-0063-A708-2F9D2B89C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2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8A5E7C-BF6B-9760-2EC0-9A4442CB27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06039FF-95C7-2A9E-D55B-417A88A337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4F3072D-1C00-07E2-1405-AE7BC1CE1C0B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Early detection matter, but current screening does not serve every patient group equally well.</a:t>
            </a:r>
          </a:p>
          <a:p>
            <a:pPr lvl="1"/>
            <a:endParaRPr lang="en-GB" dirty="0"/>
          </a:p>
          <a:p>
            <a:pPr lvl="2"/>
            <a:r>
              <a:rPr lang="en-GB" dirty="0"/>
              <a:t>Breast cancer remains one of the most common cancer worldwide</a:t>
            </a:r>
          </a:p>
          <a:p>
            <a:pPr lvl="2"/>
            <a:r>
              <a:rPr lang="en-US" dirty="0"/>
              <a:t>Screening aims to detect disease before symptoms become clinically visible.</a:t>
            </a:r>
          </a:p>
          <a:p>
            <a:pPr lvl="2"/>
            <a:r>
              <a:rPr lang="en-US" dirty="0"/>
              <a:t>Performance and patient burden depend strongly on the screening modality.</a:t>
            </a:r>
          </a:p>
          <a:p>
            <a:pPr lvl="2"/>
            <a:r>
              <a:rPr lang="en-US" dirty="0"/>
              <a:t>This motivates complementary, non-invasive measurement concepts.</a:t>
            </a:r>
          </a:p>
        </p:txBody>
      </p:sp>
    </p:spTree>
    <p:extLst>
      <p:ext uri="{BB962C8B-B14F-4D97-AF65-F5344CB8AC3E}">
        <p14:creationId xmlns:p14="http://schemas.microsoft.com/office/powerpoint/2010/main" val="961877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F9827-44A6-EF71-00D2-7E19D1522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FD992-282E-C354-4F96-D25492285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</a:t>
            </a:r>
            <a:r>
              <a:rPr lang="en-US" dirty="0" err="1"/>
              <a:t>Mammagraphy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CE74CE-4280-5375-19C8-7D938EB0A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E372C-EA4A-3060-3345-C5C467866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3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F8888B-B03B-CE3D-191C-C01189B0C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7A49375-C31F-2237-70B4-2754AA416A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CFEB48-1588-2A12-3086-AB67BC8577D6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Mammography is clinically established, but it has practical and biological limitations.</a:t>
            </a:r>
          </a:p>
          <a:p>
            <a:endParaRPr lang="en-GB" dirty="0"/>
          </a:p>
          <a:p>
            <a:pPr lvl="2"/>
            <a:r>
              <a:rPr lang="en-US" dirty="0"/>
              <a:t>Uses ionizing radiation, so screening frequency and age range are constrained.</a:t>
            </a:r>
          </a:p>
          <a:p>
            <a:pPr lvl="2"/>
            <a:r>
              <a:rPr lang="en-US" dirty="0"/>
              <a:t>Requires breast compression, which can be uncomfortable.</a:t>
            </a:r>
          </a:p>
          <a:p>
            <a:pPr lvl="2"/>
            <a:r>
              <a:rPr lang="en-US" dirty="0"/>
              <a:t>Dense breast tissue can reduce contrast and sensitivity.</a:t>
            </a:r>
          </a:p>
          <a:p>
            <a:pPr lvl="2"/>
            <a:r>
              <a:rPr lang="en-US" dirty="0"/>
              <a:t>Younger women are often not included in routine screening programs.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262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FC55E-45BC-F6C4-158C-ABF38FE1D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6A654-24AA-F52D-B366-9B7CDA5E4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Warning Scan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FF2377-6F5F-6ECD-2E7E-8DD463FD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F23623-13DA-FA3C-9620-D9780B6E5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4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301E90-9155-86CA-7150-8BBE0E614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7851C95-2457-17A0-4467-F317E8D83C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6246689-3D23-649F-505D-67B180A32B9A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EWS studies the breast as a moving biomechanical system rather than a static X-ray image.</a:t>
            </a:r>
          </a:p>
          <a:p>
            <a:endParaRPr lang="en-GB" dirty="0"/>
          </a:p>
          <a:p>
            <a:pPr lvl="2"/>
            <a:r>
              <a:rPr lang="en-US" dirty="0" err="1"/>
              <a:t>Markerless</a:t>
            </a:r>
            <a:r>
              <a:rPr lang="en-US" dirty="0"/>
              <a:t> optical system with cameras and projectors around the patient.</a:t>
            </a:r>
          </a:p>
          <a:p>
            <a:pPr lvl="2"/>
            <a:r>
              <a:rPr lang="en-US" dirty="0"/>
              <a:t>Measures breast surface shape and motion without radiation or compression.</a:t>
            </a:r>
          </a:p>
          <a:p>
            <a:pPr lvl="2"/>
            <a:r>
              <a:rPr lang="en-US" dirty="0"/>
              <a:t>Designed to detect biomechanical differences caused by internal tissue changes.</a:t>
            </a:r>
          </a:p>
          <a:p>
            <a:pPr lvl="2"/>
            <a:r>
              <a:rPr lang="en-US" dirty="0"/>
              <a:t>FEM is used to understand which internal changes could be visible at the surface.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7483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581E7-DCD5-E482-9E20-4527637E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A57A8-C2C7-6A7E-CE09-1B3C77350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F4FBCC-2662-05AB-C893-121FD7A7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48F072-D4C7-8F45-E396-A28198F6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5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41FCC65-116C-F839-BE8B-C9DF32FC3D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7535EAA-2EA0-0104-A133-DF41684EAC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EC14813-F7A2-388A-82DB-8656E549AC50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stiffer internal lesion may alter the dynamic surface response of the breast.</a:t>
            </a:r>
          </a:p>
          <a:p>
            <a:pPr marL="0" lvl="2" indent="0">
              <a:buNone/>
            </a:pPr>
            <a:endParaRPr lang="en-US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0774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09C42-A77E-1E9D-E413-2DDB8AA30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E5F43-0017-1CC4-75E8-722EF87F1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Goal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2FA288-F806-8736-E415-2800F165D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59C448-C942-EFE3-F328-877062349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6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C9D6AA-BED1-8D8B-BF8A-2F6E961FAC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017705E-F413-0275-058A-1579821C91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BA83673-F26E-838C-D2EB-9900255844FC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Build a defensible parametric COMSOL pipeline, not yet a patient-specific detector.</a:t>
            </a:r>
          </a:p>
          <a:p>
            <a:endParaRPr lang="en-GB" dirty="0"/>
          </a:p>
          <a:p>
            <a:pPr lvl="2"/>
            <a:r>
              <a:rPr lang="en-GB" dirty="0"/>
              <a:t>Parametrize </a:t>
            </a:r>
            <a:r>
              <a:rPr lang="en-GB" dirty="0" err="1"/>
              <a:t>chestwall</a:t>
            </a:r>
            <a:r>
              <a:rPr lang="en-GB" dirty="0"/>
              <a:t> geometry, glandular structure, asymmetry, support, skin and </a:t>
            </a:r>
            <a:r>
              <a:rPr lang="en-GB" dirty="0" err="1"/>
              <a:t>tumor</a:t>
            </a:r>
            <a:r>
              <a:rPr lang="en-GB" dirty="0"/>
              <a:t> masks.</a:t>
            </a:r>
          </a:p>
          <a:p>
            <a:pPr lvl="2"/>
            <a:r>
              <a:rPr lang="en-GB" dirty="0"/>
              <a:t>Use a controlled dynamic excitation to compare model variants.</a:t>
            </a:r>
          </a:p>
          <a:p>
            <a:pPr lvl="2"/>
            <a:r>
              <a:rPr lang="en-GB" dirty="0"/>
              <a:t>Separate report-ready baselines from diagnostic sensitivity tests.</a:t>
            </a:r>
          </a:p>
          <a:p>
            <a:pPr lvl="2"/>
            <a:r>
              <a:rPr lang="en-GB" dirty="0"/>
              <a:t>Prepare the model for later patient-specific geometry and EWS-data coupling.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8845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2DE8F-7053-A298-C60A-746CE772E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B94A0-19F5-9CE4-893F-8C333F953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COMSOL pipeline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077069-FFDB-E707-F623-89A902921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7FD275-8B08-FA12-6E8F-9D02D43A8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7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431775B-0C9E-B451-01E6-31C862E684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7EBC1DC-3268-0CAD-41DD-A10F67C00D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6F9C6-81D2-62E5-79DC-CDC430493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6750" y="1536089"/>
            <a:ext cx="7810500" cy="233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859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94554-99F1-B352-7F02-48F3A4BCD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BC465-EFED-4179-1CE1-9B12734E5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E07B1B-E95B-F57E-F359-78F17C1A7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8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714AD3E-1259-8113-7D31-8A6AA81382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367E3D9-E180-0646-CC2C-EE4F1A0BE1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7C3455-DE16-B6EC-6664-1C2882C93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429733" y="-56271"/>
            <a:ext cx="6411535" cy="4624671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ED47F9F9-9922-7F5E-8C6E-0E60045C5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6433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B38B-77E5-E74E-1E09-2F96B3B3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F2CA9-9480-4237-1429-20B975709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1: Dynamic Motion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424896-8F2A-4A99-12D0-7B1F4B4B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5E5A0-890A-7899-567D-02CF7278A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9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32E0A1-783D-96F9-E327-B9F87E25FA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2A6B8E9-3484-CDC4-10FF-C7A9D99DCC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8FCCF6-EA19-5167-FC53-37D0A89472B6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EWS studies the breast as a moving biomechanical system rather than a static X-ray image.</a:t>
            </a:r>
          </a:p>
          <a:p>
            <a:endParaRPr lang="en-GB" dirty="0"/>
          </a:p>
          <a:p>
            <a:pPr lvl="2"/>
            <a:r>
              <a:rPr lang="en-US" dirty="0" err="1"/>
              <a:t>Markerless</a:t>
            </a:r>
            <a:r>
              <a:rPr lang="en-US" dirty="0"/>
              <a:t> optical system with cameras and projectors around the patient.</a:t>
            </a:r>
          </a:p>
          <a:p>
            <a:pPr lvl="2"/>
            <a:r>
              <a:rPr lang="en-US" dirty="0"/>
              <a:t>Measures breast surface shape and motion without radiation or compression.</a:t>
            </a:r>
          </a:p>
          <a:p>
            <a:pPr lvl="2"/>
            <a:r>
              <a:rPr lang="en-US" dirty="0"/>
              <a:t>Designed to detect biomechanical differences caused by internal tissue changes.</a:t>
            </a:r>
          </a:p>
          <a:p>
            <a:pPr lvl="2"/>
            <a:r>
              <a:rPr lang="en-US" dirty="0"/>
              <a:t>FEM is used to understand which internal changes could be visible at the surface.</a:t>
            </a:r>
          </a:p>
          <a:p>
            <a:pPr lvl="2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EE48D1-2006-BEF8-0B48-1A9AEE0A4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022166" y="2338855"/>
            <a:ext cx="3622284" cy="205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71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0DDCB-E455-C05C-BD41-BD3936D8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77FFA-E112-3A8C-4D70-A4BDCB0E8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2: </a:t>
            </a:r>
            <a:r>
              <a:rPr lang="en-US" dirty="0" err="1"/>
              <a:t>Chestwall</a:t>
            </a:r>
            <a:r>
              <a:rPr lang="en-US" dirty="0"/>
              <a:t> Geometry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FC6AD2-7C42-0C09-D1ED-DF7642B29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DF4F6A-61AB-E9A5-F63D-D77019A1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10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B060B7-0BD3-1EE4-E818-3ED07374D9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90D869-545C-A3B7-80EB-6A1707B3EE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645249-AFAF-3B20-04D8-36686D32E060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2083456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FFF0C-9DDC-7B0F-AA89-12D2E9F17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CA9DE-D940-C616-B032-214F32798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3: Realistic Glandular Distribution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5381F0-5830-1710-C9B6-05F48C4A0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FC1EC-40AB-1C98-9DBF-8C5761C7B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11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24B2E3-C769-8FB2-97C0-8ED0A4AB61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AF63C0C-101E-B8A5-466D-D1621A109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3BD10E9-03C4-906A-DBED-3F48AD8E9EDB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535691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A94C-F994-166C-55EF-15FE69F56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B44F5-7B5E-DF2F-6245-A8CBF940E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4: Asymmetry options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0CB5D8-C044-EC17-ECE7-04C1FB154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7530A-35A0-A406-3FA4-CFDE12A9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12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588000-7DF0-5F53-A545-B7FC876678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D839C78-DE6D-A998-778A-7C040DFA6A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BF3467D-0F40-87B8-49CF-D55756D65CC6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1194200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B05B9-84C9-6594-FD99-93FBC8416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14AB-F979-00CA-24E7-72CD4812E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5: Mechanical Support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C71CD1-3EBC-B2A9-164C-5F4833AF3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5F220A-4124-580B-C8C5-DC1CBD009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13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9CA91E-0F86-EF99-ED92-702AC46D5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498323-96A8-04C6-C854-0D460E9BCA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7521AB-4558-8C00-6F6C-C93C9D5E4714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2882438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6275-23C9-6FBF-F630-71AB459E5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BFA03-C535-CD1F-E5C7-BE377E81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5: Mechanical Support Results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8EC46F-5305-86F0-FAB4-9FBFA7690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F0CF6-714C-F607-7C96-BE01C1E5B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14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A917BC-8B88-C188-5922-74C94C909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C75C74C-F5DE-40C0-68AF-56C84614B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86E648-4730-AE00-BC08-1A5FA0BE7C21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3732775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4E788-FD07-8A6A-FAD7-0C9C299F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A267A-D4D5-9335-5C6F-9058C35FF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6: Tumor Implementation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B825F4-23B6-0590-DF9E-D9A90439D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FBD15E-2A98-5D78-8266-64E0BF70A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15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21EE98-A4D4-06AD-E497-F28F8C6F2D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94903A-A235-2741-8931-09F9F9C3FE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DAB9F88-6464-B4B2-6F3C-39093DDE69E0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3288508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465C0-79E4-B316-6E99-BCC556782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4695B-BDCF-DB1B-E82D-9BF2CAAE2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model Comparison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58B1F5-8F7B-8D32-96DD-E43070ABA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92B9CE-AD7F-B9D4-B925-5ACA4CB53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16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A8681B-20C3-E0DF-2ECE-C8853BB2A0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818636-43CE-40F5-CF67-5A7570753E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EACE2D-697F-C97E-51DA-FCB9C3A85674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4162204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ABF7-508E-C70A-AA43-252E3FCDF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7C50D-7B0A-BFFA-01FC-B5A087382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Limitations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DF3432-5946-E73F-CFA9-C404234CA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1C194D-6302-0FA7-45DC-FFC773705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17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D614DD-C5DB-B32F-DA3D-938BF23497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1113FAE-5291-6E5D-BC8B-CD2A517778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6CC90C1-4A7F-0FD3-7321-19C42DEECB0E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1791822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E87FA-CD57-1DAF-17B6-58E3F23CC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6FA44-E9D2-FC53-9F81-80BFC0EA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42189-4491-3F10-6382-1C95CA11D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DA0BF9-4609-ECC7-C377-FA1ED5937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18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B7BE0B-59F3-EFA7-CF0D-3D1245A59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A4DC81-497E-D19A-3425-96F23C2B7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427C76F-C358-0FB5-953F-04290E619B06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159822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ADDA4-C2CA-A88E-4670-B6C7A124A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BA95C-86C3-4952-A1B5-A9902C2C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5DC95-C529-0250-68C5-DBC76FF0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E1E97E-EEB0-D11D-0E82-F093FFB27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19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8C7F82-1068-49AB-B9CD-07FB6D0AC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49C9FC3-4D46-555F-4A33-1CF7102494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7DFB689-79E1-EB95-12A7-6E9368E19A2E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DDD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DDD</a:t>
            </a:r>
          </a:p>
        </p:txBody>
      </p:sp>
    </p:spTree>
    <p:extLst>
      <p:ext uri="{BB962C8B-B14F-4D97-AF65-F5344CB8AC3E}">
        <p14:creationId xmlns:p14="http://schemas.microsoft.com/office/powerpoint/2010/main" val="212034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72A1F-87FC-E0B7-1279-8DBBFAB62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7598D43D-72B4-BCD7-176E-FF29112F18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COMSOL FEM Breast Model for Early Warning Scan</a:t>
            </a:r>
          </a:p>
        </p:txBody>
      </p:sp>
      <p:sp>
        <p:nvSpPr>
          <p:cNvPr id="15" name="Ondertitel 14">
            <a:extLst>
              <a:ext uri="{FF2B5EF4-FFF2-40B4-BE49-F238E27FC236}">
                <a16:creationId xmlns:a16="http://schemas.microsoft.com/office/drawing/2014/main" id="{E5D5A0AF-1A6C-EA3E-D755-F1416D2B7B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00-00-2026 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4F1EAE48-2F5B-ABB0-AA47-54C1C9826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Daan Kuijpers | </a:t>
            </a:r>
            <a:r>
              <a:rPr lang="en-GB" dirty="0" err="1"/>
              <a:t>Intership</a:t>
            </a:r>
            <a:r>
              <a:rPr lang="en-GB" dirty="0"/>
              <a:t> project | Catharina Hospital | April – July 2026 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8E20F904-1766-1810-B5EB-7513D4703A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534573" y="4567237"/>
            <a:ext cx="7875173" cy="576263"/>
          </a:xfrm>
        </p:spPr>
        <p:txBody>
          <a:bodyPr/>
          <a:lstStyle/>
          <a:p>
            <a:r>
              <a:rPr lang="en-GB" dirty="0"/>
              <a:t>COMSOL FEM Breast Model for Early Warning scan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8AB88B-76CF-8438-F6D2-D931A9D55C7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3661" y="4596289"/>
            <a:ext cx="1985450" cy="5181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802D8AD-1A2D-6ECB-0EF6-390B7894F8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0460" y="4567236"/>
            <a:ext cx="1728792" cy="5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7959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Kantoorthema">
  <a:themeElements>
    <a:clrScheme name="TUe_PPT_V2">
      <a:dk1>
        <a:sysClr val="windowText" lastClr="000000"/>
      </a:dk1>
      <a:lt1>
        <a:sysClr val="window" lastClr="FFFFFF"/>
      </a:lt1>
      <a:dk2>
        <a:srgbClr val="C81919"/>
      </a:dk2>
      <a:lt2>
        <a:srgbClr val="101073"/>
      </a:lt2>
      <a:accent1>
        <a:srgbClr val="C81919"/>
      </a:accent1>
      <a:accent2>
        <a:srgbClr val="9E9EB1"/>
      </a:accent2>
      <a:accent3>
        <a:srgbClr val="0092B5"/>
      </a:accent3>
      <a:accent4>
        <a:srgbClr val="FF9A00"/>
      </a:accent4>
      <a:accent5>
        <a:srgbClr val="101073"/>
      </a:accent5>
      <a:accent6>
        <a:srgbClr val="CEDF00"/>
      </a:accent6>
      <a:hlink>
        <a:srgbClr val="0563C1"/>
      </a:hlink>
      <a:folHlink>
        <a:srgbClr val="954F72"/>
      </a:folHlink>
    </a:clrScheme>
    <a:fontScheme name="TUe_Calibr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e_16x9.potx" id="{9370F84E-7576-4FDA-B736-A09996DF8429}" vid="{ED81D3C9-A1FB-4E5B-AF38-E92F700A58FD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TUe_16x9 (2)</Template>
  <TotalTime>63</TotalTime>
  <Words>627</Words>
  <Application>Microsoft Office PowerPoint</Application>
  <PresentationFormat>On-screen Show (16:9)</PresentationFormat>
  <Paragraphs>114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Kantoorthema</vt:lpstr>
      <vt:lpstr>COMSOL FEM Breast Model for Early Warning Scan</vt:lpstr>
      <vt:lpstr>Why Breast Screening Still Needs Improvement</vt:lpstr>
      <vt:lpstr>Limitations of Mammagraphy</vt:lpstr>
      <vt:lpstr>Early Warning Scan</vt:lpstr>
      <vt:lpstr>Hypothesis</vt:lpstr>
      <vt:lpstr>Project Goal</vt:lpstr>
      <vt:lpstr>COMSOL pipeline</vt:lpstr>
      <vt:lpstr>PowerPoint Presentation</vt:lpstr>
      <vt:lpstr>Stage 1: Dynamic Motion</vt:lpstr>
      <vt:lpstr>Stage 2: Chestwall Geometry</vt:lpstr>
      <vt:lpstr>Stage 3: Realistic Glandular Distribution</vt:lpstr>
      <vt:lpstr>Stage 4: Asymmetry options</vt:lpstr>
      <vt:lpstr>Stage 5: Mechanical Support</vt:lpstr>
      <vt:lpstr>Stage 5: Mechanical Support Results</vt:lpstr>
      <vt:lpstr>Stage 6: Tumor Implementation</vt:lpstr>
      <vt:lpstr>Full model Comparison</vt:lpstr>
      <vt:lpstr>Current Limitations</vt:lpstr>
      <vt:lpstr>Next Steps</vt:lpstr>
      <vt:lpstr>Conclusion</vt:lpstr>
      <vt:lpstr>COMSOL FEM Breast Model for Early Warning Scan</vt:lpstr>
    </vt:vector>
  </TitlesOfParts>
  <Company>TU/e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title at the top</dc:title>
  <dc:creator>Ven, I.M.J. van de</dc:creator>
  <cp:lastModifiedBy>Kuijpers, Daan</cp:lastModifiedBy>
  <cp:revision>11</cp:revision>
  <dcterms:created xsi:type="dcterms:W3CDTF">2019-11-27T15:26:32Z</dcterms:created>
  <dcterms:modified xsi:type="dcterms:W3CDTF">2026-06-04T14:55:50Z</dcterms:modified>
</cp:coreProperties>
</file>