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1F_7E363BB4.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156_8DE8F58C.xml" ContentType="application/vnd.ms-powerpoint.comment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omments/modernComment_13D_3E6678B.xml" ContentType="application/vnd.ms-powerpoint.comments+xml"/>
  <Override PartName="/ppt/notesSlides/notesSlide2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6"/>
  </p:notesMasterIdLst>
  <p:sldIdLst>
    <p:sldId id="267" r:id="rId2"/>
    <p:sldId id="286" r:id="rId3"/>
    <p:sldId id="337" r:id="rId4"/>
    <p:sldId id="287" r:id="rId5"/>
    <p:sldId id="295" r:id="rId6"/>
    <p:sldId id="296" r:id="rId7"/>
    <p:sldId id="297" r:id="rId8"/>
    <p:sldId id="298" r:id="rId9"/>
    <p:sldId id="330" r:id="rId10"/>
    <p:sldId id="320" r:id="rId11"/>
    <p:sldId id="338" r:id="rId12"/>
    <p:sldId id="321" r:id="rId13"/>
    <p:sldId id="339" r:id="rId14"/>
    <p:sldId id="322" r:id="rId15"/>
    <p:sldId id="341" r:id="rId16"/>
    <p:sldId id="332" r:id="rId17"/>
    <p:sldId id="323" r:id="rId18"/>
    <p:sldId id="327" r:id="rId19"/>
    <p:sldId id="342" r:id="rId20"/>
    <p:sldId id="324" r:id="rId21"/>
    <p:sldId id="326" r:id="rId22"/>
    <p:sldId id="314" r:id="rId23"/>
    <p:sldId id="333" r:id="rId24"/>
    <p:sldId id="334" r:id="rId25"/>
    <p:sldId id="335" r:id="rId26"/>
    <p:sldId id="336" r:id="rId27"/>
    <p:sldId id="305" r:id="rId28"/>
    <p:sldId id="315" r:id="rId29"/>
    <p:sldId id="307" r:id="rId30"/>
    <p:sldId id="311" r:id="rId31"/>
    <p:sldId id="316" r:id="rId32"/>
    <p:sldId id="310" r:id="rId33"/>
    <p:sldId id="317" r:id="rId34"/>
    <p:sldId id="343" r:id="rId35"/>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DBFFED3-44F4-7C97-73D2-7574B2EBF8DB}" name="Kuijpers, Daan" initials="DK" userId="S::d.h.c.kuijpers@student.tue.nl::8262b649-c8b5-40ed-89cf-04571f0afef8"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0000"/>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39" autoAdjust="0"/>
    <p:restoredTop sz="81961" autoAdjust="0"/>
  </p:normalViewPr>
  <p:slideViewPr>
    <p:cSldViewPr snapToGrid="0" showGuides="1">
      <p:cViewPr>
        <p:scale>
          <a:sx n="75" d="100"/>
          <a:sy n="75" d="100"/>
        </p:scale>
        <p:origin x="970" y="293"/>
      </p:cViewPr>
      <p:guideLst/>
    </p:cSldViewPr>
  </p:slideViewPr>
  <p:outlineViewPr>
    <p:cViewPr>
      <p:scale>
        <a:sx n="33" d="100"/>
        <a:sy n="33" d="100"/>
      </p:scale>
      <p:origin x="0" y="-9019"/>
    </p:cViewPr>
  </p:outlineViewPr>
  <p:notesTextViewPr>
    <p:cViewPr>
      <p:scale>
        <a:sx n="1" d="1"/>
        <a:sy n="1" d="1"/>
      </p:scale>
      <p:origin x="0" y="0"/>
    </p:cViewPr>
  </p:notesTextViewPr>
  <p:sorterViewPr>
    <p:cViewPr>
      <p:scale>
        <a:sx n="100" d="100"/>
        <a:sy n="100" d="100"/>
      </p:scale>
      <p:origin x="0" y="-4315"/>
    </p:cViewPr>
  </p:sorterViewPr>
  <p:notesViewPr>
    <p:cSldViewPr snapToGrid="0">
      <p:cViewPr>
        <p:scale>
          <a:sx n="100" d="100"/>
          <a:sy n="100" d="100"/>
        </p:scale>
        <p:origin x="2400" y="-27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omments/modernComment_11F_7E363BB4.xml><?xml version="1.0" encoding="utf-8"?>
<p188:cmLst xmlns:a="http://schemas.openxmlformats.org/drawingml/2006/main" xmlns:r="http://schemas.openxmlformats.org/officeDocument/2006/relationships" xmlns:p188="http://schemas.microsoft.com/office/powerpoint/2018/8/main">
  <p188:cm id="{3DFE0D68-64AC-46AC-84B5-6779D6FB7E8C}" authorId="{8DBFFED3-44F4-7C97-73D2-7574B2EBF8DB}" created="2026-06-29T09:11:38.334">
    <pc:sldMkLst xmlns:pc="http://schemas.microsoft.com/office/powerpoint/2013/main/command">
      <pc:docMk/>
      <pc:sldMk cId="2117483444" sldId="287"/>
    </pc:sldMkLst>
    <p188:txBody>
      <a:bodyPr/>
      <a:lstStyle/>
      <a:p>
        <a:r>
          <a:rPr lang="en-NL"/>
          <a:t>Misschien hierna nog een slide met voorbeelden van hoe plaatjes eruit zien uit Tim zn presentatie</a:t>
        </a:r>
      </a:p>
    </p188:txBody>
  </p188:cm>
</p188:cmLst>
</file>

<file path=ppt/comments/modernComment_13D_3E6678B.xml><?xml version="1.0" encoding="utf-8"?>
<p188:cmLst xmlns:a="http://schemas.openxmlformats.org/drawingml/2006/main" xmlns:r="http://schemas.openxmlformats.org/officeDocument/2006/relationships" xmlns:p188="http://schemas.microsoft.com/office/powerpoint/2018/8/main">
  <p188:cm id="{AAEC491F-2E34-40E3-979C-30BBF7784B76}" authorId="{8DBFFED3-44F4-7C97-73D2-7574B2EBF8DB}" created="2026-06-25T17:25:37.032">
    <ac:deMkLst xmlns:ac="http://schemas.microsoft.com/office/drawing/2013/main/command">
      <pc:docMk xmlns:pc="http://schemas.microsoft.com/office/powerpoint/2013/main/command"/>
      <pc:sldMk xmlns:pc="http://schemas.microsoft.com/office/powerpoint/2013/main/command" cId="65431435" sldId="317"/>
      <ac:spMk id="3" creationId="{579FE1AD-40A2-AF04-731A-D7165383BA8C}"/>
    </ac:deMkLst>
    <p188:txBody>
      <a:bodyPr/>
      <a:lstStyle/>
      <a:p>
        <a:r>
          <a:rPr lang="en-NL"/>
          <a:t>- chen2025 slide
- tabel catharina dataset
- Comsol workspace screen
- ...</a:t>
        </a:r>
      </a:p>
    </p188:txBody>
  </p188:cm>
</p188:cmLst>
</file>

<file path=ppt/comments/modernComment_156_8DE8F58C.xml><?xml version="1.0" encoding="utf-8"?>
<p188:cmLst xmlns:a="http://schemas.openxmlformats.org/drawingml/2006/main" xmlns:r="http://schemas.openxmlformats.org/officeDocument/2006/relationships" xmlns:p188="http://schemas.microsoft.com/office/powerpoint/2018/8/main">
  <p188:cm id="{71118DBB-F235-4582-9C22-52C36AE84FB7}" authorId="{8DBFFED3-44F4-7C97-73D2-7574B2EBF8DB}" created="2026-06-29T13:46:24.415">
    <pc:sldMkLst xmlns:pc="http://schemas.microsoft.com/office/powerpoint/2013/main/command">
      <pc:docMk/>
      <pc:sldMk cId="2380854668" sldId="342"/>
    </pc:sldMkLst>
    <p188:txBody>
      <a:bodyPr/>
      <a:lstStyle/>
      <a:p>
        <a:r>
          <a:rPr lang="en-NL"/>
          <a:t>Hier wel nog exacte waardes neerzetten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25/06/2026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en-NL"/>
          </a:p>
        </p:txBody>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3676865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GB" dirty="0"/>
              <a:t>Breast cancer remains one of the most common cancer worldwide, with more than 2.3 million new cases reported annually</a:t>
            </a:r>
            <a:endParaRPr lang="en-US" dirty="0"/>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This makes screening and early detection important </a:t>
            </a:r>
            <a:r>
              <a:rPr lang="en-US" dirty="0">
                <a:sym typeface="Wingdings" panose="05000000000000000000" pitchFamily="2" charset="2"/>
              </a:rPr>
              <a:t> </a:t>
            </a:r>
            <a:r>
              <a:rPr lang="en-US" dirty="0"/>
              <a:t>aims to detect disease before symptoms become clinically visible, the earlier the more treatment options are available and treatment can </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Mammography is currently used as golden standard for screening for breast cancer, but it has its limitations</a:t>
            </a:r>
            <a:br>
              <a:rPr lang="en-US" dirty="0"/>
            </a:b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1341872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indent="-171450">
              <a:buFontTx/>
              <a:buChar char="-"/>
            </a:pPr>
            <a:r>
              <a:rPr lang="en-US" dirty="0"/>
              <a:t>X-rays are used to make the breast images, which exposes the patient to radiation</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During mammography, the breast is compressed between plates to improve image quality, but it can be uncomfortable or painful for some patients. (now 30% of women do not take part in screening)</a:t>
            </a:r>
          </a:p>
          <a:p>
            <a:pPr marL="171450" indent="-171450">
              <a:buFontTx/>
              <a:buChar char="-"/>
            </a:pPr>
            <a:r>
              <a:rPr lang="en-US" dirty="0"/>
              <a:t>Costs are still relatively high for mammography</a:t>
            </a:r>
          </a:p>
          <a:p>
            <a:pPr marL="171450" indent="-171450">
              <a:buFontTx/>
              <a:buChar char="-"/>
            </a:pPr>
            <a:r>
              <a:rPr lang="en-US" dirty="0"/>
              <a:t>A major limitation is reduced sensitivity in dense breasts. Dense fibroglandular tissue and tumors can both appear relatively bright on a mammogram, which makes abnormalities harder to distinguish. This is one of the reasons why other screening methods are being investigated.</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2777607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The Early Warning Scan is based on optical measurement of the breast surface. </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Instead of using X-rays or contact-based imaging, the system uses cameras and projected light patterns to reconstruct the breast surface. Which makes it a lot more comfortable for women.  </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The scan is not only interested in a static breast shape, but also during motion, so that the dynamic deformation response can be analysed. </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Designed to detect these biomechanical differences caused by internal tissue changes such as a tumor which is stiffer than normal breast tissue which makes the breast surface look and move differently.</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FEM is used to understand which internal changes could be visible at the surface</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No ionizing radiation or compression:</a:t>
            </a:r>
          </a:p>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A key motivation is that the method is intended to avoid ionizing radiation and breast compression. This makes it conceptually different from mammography. However, this does not mean it is already a replacement for mammography; it is still a technique under development.</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FEM needed to interpret deformation patterns:</a:t>
            </a:r>
          </a:p>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The surface motion measured by EWS depends on anatomy, material properties, support conditions and loading. A finite-element model is therefore useful to understand which model components influence the surface response, and whether local stiffness changes could theoretically affect measurable motion.</a:t>
            </a:r>
            <a:endParaRPr lang="en-GB" dirty="0"/>
          </a:p>
          <a:p>
            <a:pPr lvl="2"/>
            <a:endParaRPr lang="en-GB" dirty="0"/>
          </a:p>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17252438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indent="-171450">
              <a:buFontTx/>
              <a:buChar char="-"/>
            </a:pPr>
            <a:r>
              <a:rPr lang="en-US" dirty="0"/>
              <a:t>Before this project, an simplified FEM model was already created. It used an adipose and glandular region which are rotated to form the breast model. But this model is still a simplified version of the breast when looking at breast anatomy</a:t>
            </a:r>
          </a:p>
          <a:p>
            <a:pPr marL="171450" indent="-171450">
              <a:buFontTx/>
              <a:buChar char="-"/>
            </a:pPr>
            <a:r>
              <a:rPr lang="en-US" dirty="0"/>
              <a:t>This previous work showed already some promising displacement responses. </a:t>
            </a:r>
          </a:p>
        </p:txBody>
      </p:sp>
      <p:sp>
        <p:nvSpPr>
          <p:cNvPr id="4" name="Slide Number Placeholder 3"/>
          <p:cNvSpPr>
            <a:spLocks noGrp="1"/>
          </p:cNvSpPr>
          <p:nvPr>
            <p:ph type="sldNum" sz="quarter" idx="5"/>
          </p:nvPr>
        </p:nvSpPr>
        <p:spPr/>
        <p:txBody>
          <a:bodyPr/>
          <a:lstStyle/>
          <a:p>
            <a:fld id="{AA799BBE-B871-48D7-983C-C0B1D7156DCD}" type="slidenum">
              <a:rPr lang="en-GB" smtClean="0"/>
              <a:t>5</a:t>
            </a:fld>
            <a:endParaRPr lang="en-GB"/>
          </a:p>
        </p:txBody>
      </p:sp>
    </p:spTree>
    <p:extLst>
      <p:ext uri="{BB962C8B-B14F-4D97-AF65-F5344CB8AC3E}">
        <p14:creationId xmlns:p14="http://schemas.microsoft.com/office/powerpoint/2010/main" val="38452825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The main aim of this project was to build a more realistic FEM breast model which can be used to </a:t>
            </a:r>
            <a:r>
              <a:rPr lang="en-US" dirty="0" err="1"/>
              <a:t>validatie</a:t>
            </a:r>
            <a:r>
              <a:rPr lang="en-US" dirty="0"/>
              <a:t> the EWS concept.</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The project focused on improving both the anatomical parts of the model and the mechanical support defined in the model. This included: picture</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The earlier EWS models were developed in a program called FEBio. For this project, I moved to COMSOL because it offered a more practical environment for building larger more realistic model variants, which in FEBio were unable to solve.</a:t>
            </a:r>
            <a:endParaRPr lang="en-GB" dirty="0"/>
          </a:p>
          <a:p>
            <a:pPr marL="171450" marR="0" lvl="0" indent="-171450" algn="l" defTabSz="685800" rtl="0" eaLnBrk="1" fontAlgn="auto" latinLnBrk="0" hangingPunct="1">
              <a:lnSpc>
                <a:spcPct val="100000"/>
              </a:lnSpc>
              <a:spcBef>
                <a:spcPts val="0"/>
              </a:spcBef>
              <a:spcAft>
                <a:spcPts val="0"/>
              </a:spcAft>
              <a:buClrTx/>
              <a:buSzTx/>
              <a:buFontTx/>
              <a:buChar char="-"/>
              <a:tabLst/>
              <a:defRPr/>
            </a:pPr>
            <a:endParaRPr lang="en-GB" dirty="0"/>
          </a:p>
          <a:p>
            <a:endParaRPr lang="en-US" dirty="0"/>
          </a:p>
          <a:p>
            <a:endParaRPr lang="en-US" dirty="0"/>
          </a:p>
          <a:p>
            <a:endParaRPr lang="en-US" dirty="0"/>
          </a:p>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6</a:t>
            </a:fld>
            <a:endParaRPr lang="en-GB"/>
          </a:p>
        </p:txBody>
      </p:sp>
    </p:spTree>
    <p:extLst>
      <p:ext uri="{BB962C8B-B14F-4D97-AF65-F5344CB8AC3E}">
        <p14:creationId xmlns:p14="http://schemas.microsoft.com/office/powerpoint/2010/main" val="20670510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r>
              <a:rPr lang="en-US" dirty="0"/>
              <a:t>- Case Definition: This contains the main geometry, material, loading and evaluation settings. In my project these settings were stored in TOML files, so each model variant could be traced back to a specific input case.</a:t>
            </a:r>
          </a:p>
          <a:p>
            <a:pPr marL="0" indent="0">
              <a:buFontTx/>
              <a:buNone/>
            </a:pPr>
            <a:r>
              <a:rPr lang="en-US" dirty="0"/>
              <a:t>- Model Generation: The case definition is then translated into a COMSOL model setup. The goal was to reduce manual editing in COMSOL and make the model variants more reproducible.</a:t>
            </a:r>
          </a:p>
          <a:p>
            <a:pPr marL="0" indent="0">
              <a:buFontTx/>
              <a:buNone/>
            </a:pPr>
            <a:r>
              <a:rPr lang="en-US" dirty="0"/>
              <a:t>- Simulation: After the model is generated, the simulation is built and solved in COMSOL.</a:t>
            </a:r>
          </a:p>
          <a:p>
            <a:r>
              <a:rPr lang="en-US" dirty="0"/>
              <a:t>- Evaluation: Finally, the outputs are post-processed into compact metrics and figures. The main focus was displacement, stress and surface-response metrics.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22424620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r>
              <a:rPr lang="en-US" dirty="0"/>
              <a:t>- I will tell about the improvements in 4 divided subjects:…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638297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Transverse and/or Sagittal chest wall curvature in model</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Chest wall curvature is treated as patient-dependent sensitivity</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Cilinder with a certain radius and an x-offset which can be used to represent a left or right breast</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When varying these settings, the breast volume stays the same to make model comparison fair</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I used the +55 mm transverse-offset variant as the reference and kept the reference route transverse curve only, because the breast is most curved in that way and a sagittal curve had not that much affect of the displacement since it’s only a light curve and only increasing </a:t>
            </a:r>
            <a:r>
              <a:rPr lang="en-US" dirty="0" err="1"/>
              <a:t>complexibility</a:t>
            </a:r>
            <a:r>
              <a:rPr lang="en-US" dirty="0"/>
              <a:t>.</a:t>
            </a:r>
          </a:p>
          <a:p>
            <a:pPr marL="171450" marR="0" lvl="0" indent="-171450" algn="l" defTabSz="685800" rtl="0" eaLnBrk="1" fontAlgn="auto" latinLnBrk="0" hangingPunct="1">
              <a:lnSpc>
                <a:spcPct val="100000"/>
              </a:lnSpc>
              <a:spcBef>
                <a:spcPts val="0"/>
              </a:spcBef>
              <a:spcAft>
                <a:spcPts val="0"/>
              </a:spcAft>
              <a:buClrTx/>
              <a:buSzTx/>
              <a:buFontTx/>
              <a:buChar char="-"/>
              <a:tabLst/>
              <a:defRPr/>
            </a:pPr>
            <a:endParaRPr lang="en-US" dirty="0"/>
          </a:p>
          <a:p>
            <a:pPr marL="171450" marR="0" lvl="0" indent="-171450" algn="l" defTabSz="685800" rtl="0" eaLnBrk="1" fontAlgn="auto" latinLnBrk="0" hangingPunct="1">
              <a:lnSpc>
                <a:spcPct val="100000"/>
              </a:lnSpc>
              <a:spcBef>
                <a:spcPts val="0"/>
              </a:spcBef>
              <a:spcAft>
                <a:spcPts val="0"/>
              </a:spcAft>
              <a:buClrTx/>
              <a:buSzTx/>
              <a:buFontTx/>
              <a:buChar char="-"/>
              <a:tabLst/>
              <a:defRPr/>
            </a:pPr>
            <a:endParaRPr lang="en-US" dirty="0"/>
          </a:p>
          <a:p>
            <a:pPr marL="171450" marR="0" lvl="0" indent="-171450" algn="l" defTabSz="685800" rtl="0" eaLnBrk="1" fontAlgn="auto" latinLnBrk="0" hangingPunct="1">
              <a:lnSpc>
                <a:spcPct val="100000"/>
              </a:lnSpc>
              <a:spcBef>
                <a:spcPts val="0"/>
              </a:spcBef>
              <a:spcAft>
                <a:spcPts val="0"/>
              </a:spcAft>
              <a:buClrTx/>
              <a:buSzTx/>
              <a:buFontTx/>
              <a:buChar char="-"/>
              <a:tabLst/>
              <a:defRPr/>
            </a:pPr>
            <a:endParaRPr lang="en-US" dirty="0"/>
          </a:p>
          <a:p>
            <a:pPr marL="171450" marR="0" lvl="0" indent="-171450" algn="l" defTabSz="685800" rtl="0" eaLnBrk="1" fontAlgn="auto" latinLnBrk="0" hangingPunct="1">
              <a:lnSpc>
                <a:spcPct val="100000"/>
              </a:lnSpc>
              <a:spcBef>
                <a:spcPts val="0"/>
              </a:spcBef>
              <a:spcAft>
                <a:spcPts val="0"/>
              </a:spcAft>
              <a:buClrTx/>
              <a:buSzTx/>
              <a:buFontTx/>
              <a:buChar char="-"/>
              <a:tabLst/>
              <a:defRPr/>
            </a:pPr>
            <a:endParaRPr lang="en-US" dirty="0"/>
          </a:p>
          <a:p>
            <a:pPr marL="171450" marR="0" lvl="0" indent="-171450" algn="l" defTabSz="685800" rtl="0" eaLnBrk="1" fontAlgn="auto" latinLnBrk="0" hangingPunct="1">
              <a:lnSpc>
                <a:spcPct val="100000"/>
              </a:lnSpc>
              <a:spcBef>
                <a:spcPts val="0"/>
              </a:spcBef>
              <a:spcAft>
                <a:spcPts val="0"/>
              </a:spcAft>
              <a:buClrTx/>
              <a:buSzTx/>
              <a:buFontTx/>
              <a:buChar char="-"/>
              <a:tabLst/>
              <a:defRPr/>
            </a:pPr>
            <a:endParaRPr lang="en-US" dirty="0"/>
          </a:p>
          <a:p>
            <a:pPr marL="171450" indent="-171450">
              <a:buFontTx/>
              <a:buChar char="-"/>
            </a:pPr>
            <a:endParaRPr lang="en-US" dirty="0"/>
          </a:p>
          <a:p>
            <a:pPr marL="171450" indent="-171450">
              <a:buFontTx/>
              <a:buChar char="-"/>
            </a:pPr>
            <a:endParaRPr lang="en-US" dirty="0"/>
          </a:p>
          <a:p>
            <a:pPr marL="171450" indent="-171450">
              <a:buFontTx/>
              <a:buChar char="-"/>
            </a:pP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2491836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r>
              <a:rPr lang="en-US" dirty="0"/>
              <a:t>- Here are two examples of how it looked like when first implemented in the model.</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27492706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indent="-171450">
              <a:buFontTx/>
              <a:buChar char="-"/>
            </a:pPr>
            <a:r>
              <a:rPr lang="en-US" dirty="0"/>
              <a:t>8-outer and 4-inner lobules, which is based on a realistic lobule amount according to </a:t>
            </a:r>
            <a:r>
              <a:rPr lang="en-US" dirty="0" err="1"/>
              <a:t>literture</a:t>
            </a:r>
            <a:endParaRPr lang="en-US" dirty="0"/>
          </a:p>
          <a:p>
            <a:pPr marL="171450" indent="-171450">
              <a:buFontTx/>
              <a:buChar char="-"/>
            </a:pPr>
            <a:r>
              <a:rPr lang="en-US" dirty="0"/>
              <a:t>Glandular region adjusts with </a:t>
            </a:r>
            <a:r>
              <a:rPr lang="en-US" dirty="0" err="1"/>
              <a:t>chestwall</a:t>
            </a:r>
            <a:r>
              <a:rPr lang="en-US" dirty="0"/>
              <a:t> curvature</a:t>
            </a:r>
          </a:p>
          <a:p>
            <a:pPr marL="171450" indent="-171450">
              <a:buFontTx/>
              <a:buChar char="-"/>
            </a:pPr>
            <a:r>
              <a:rPr lang="en-US" dirty="0"/>
              <a:t>Adjustable Fraction and with a higher fraction the breast showed less displacement, because glandular tissue is </a:t>
            </a:r>
            <a:r>
              <a:rPr lang="en-US" dirty="0" err="1"/>
              <a:t>slighty</a:t>
            </a:r>
            <a:r>
              <a:rPr lang="en-US" dirty="0"/>
              <a:t> stiffer than fat tissue</a:t>
            </a:r>
          </a:p>
          <a:p>
            <a:pPr marL="171450" indent="-171450">
              <a:buFontTx/>
              <a:buChar char="-"/>
            </a:pPr>
            <a:r>
              <a:rPr lang="en-US" dirty="0"/>
              <a:t>And different type of spreads can </a:t>
            </a:r>
            <a:r>
              <a:rPr lang="en-US"/>
              <a:t>be used</a:t>
            </a:r>
          </a:p>
          <a:p>
            <a:pPr marL="0" indent="0">
              <a:buFontTx/>
              <a:buNone/>
            </a:pP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21261846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GB" dirty="0"/>
              <a:t>The breast is for most women not perfectly symmetric, so I introduced some asymmetry variations</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GB" dirty="0"/>
              <a:t>Profile asymmetry and nipple-shift variants are geometry-tested</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GB" dirty="0"/>
              <a:t>All these anatomical improvements can be useful for later patient-specific shape variation</a:t>
            </a:r>
          </a:p>
          <a:p>
            <a:pPr marL="171450" marR="0" lvl="0" indent="-171450" algn="l" defTabSz="685800" rtl="0" eaLnBrk="1" fontAlgn="auto" latinLnBrk="0" hangingPunct="1">
              <a:lnSpc>
                <a:spcPct val="100000"/>
              </a:lnSpc>
              <a:spcBef>
                <a:spcPts val="0"/>
              </a:spcBef>
              <a:spcAft>
                <a:spcPts val="0"/>
              </a:spcAft>
              <a:buClrTx/>
              <a:buSzTx/>
              <a:buFontTx/>
              <a:buChar char="-"/>
              <a:tabLst/>
              <a:defRPr/>
            </a:pPr>
            <a:endParaRPr lang="en-GB" dirty="0"/>
          </a:p>
          <a:p>
            <a:pPr marL="171450" marR="0" lvl="0" indent="-171450" algn="l" defTabSz="685800" rtl="0" eaLnBrk="1" fontAlgn="auto" latinLnBrk="0" hangingPunct="1">
              <a:lnSpc>
                <a:spcPct val="100000"/>
              </a:lnSpc>
              <a:spcBef>
                <a:spcPts val="0"/>
              </a:spcBef>
              <a:spcAft>
                <a:spcPts val="0"/>
              </a:spcAft>
              <a:buClrTx/>
              <a:buSzTx/>
              <a:buFontTx/>
              <a:buChar char="-"/>
              <a:tabLst/>
              <a:defRPr/>
            </a:pPr>
            <a:endParaRPr lang="en-GB" dirty="0"/>
          </a:p>
          <a:p>
            <a:pPr marL="171450" marR="0" lvl="0" indent="-171450" algn="l" defTabSz="685800" rtl="0" eaLnBrk="1" fontAlgn="auto" latinLnBrk="0" hangingPunct="1">
              <a:lnSpc>
                <a:spcPct val="100000"/>
              </a:lnSpc>
              <a:spcBef>
                <a:spcPts val="0"/>
              </a:spcBef>
              <a:spcAft>
                <a:spcPts val="0"/>
              </a:spcAft>
              <a:buClrTx/>
              <a:buSzTx/>
              <a:buFontTx/>
              <a:buChar char="-"/>
              <a:tabLst/>
              <a:defRPr/>
            </a:pPr>
            <a:endParaRPr lang="en-GB" dirty="0"/>
          </a:p>
          <a:p>
            <a:pPr marL="171450" indent="-171450">
              <a:buFontTx/>
              <a:buChar char="-"/>
            </a:pPr>
            <a:endParaRPr lang="en-US" dirty="0"/>
          </a:p>
          <a:p>
            <a:pPr marL="171450" indent="-171450">
              <a:buFontTx/>
              <a:buChar char="-"/>
            </a:pPr>
            <a:endParaRPr lang="en-US" dirty="0"/>
          </a:p>
          <a:p>
            <a:pPr marL="171450" indent="-171450">
              <a:buFontTx/>
              <a:buChar char="-"/>
            </a:pPr>
            <a:endParaRPr lang="en-US" dirty="0"/>
          </a:p>
          <a:p>
            <a:endParaRPr lang="en-GB"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21913298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15</a:t>
            </a:fld>
            <a:endParaRPr lang="en-GB"/>
          </a:p>
        </p:txBody>
      </p:sp>
    </p:spTree>
    <p:extLst>
      <p:ext uri="{BB962C8B-B14F-4D97-AF65-F5344CB8AC3E}">
        <p14:creationId xmlns:p14="http://schemas.microsoft.com/office/powerpoint/2010/main" val="4971326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The COMSOL model was meshed using a free tetrahedral mesh. This is suitable for the 3D breast geometry, because the model contains curved surfaces, which </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For the reference model, I used a characteristic mesh length of 5 mm. This was selected as a practical balance between geometric detail and computational cost, because they become more expensive for finer meshes.</a:t>
            </a:r>
          </a:p>
          <a:p>
            <a:pPr marL="171450" indent="-171450">
              <a:buFontTx/>
              <a:buChar char="-"/>
            </a:pPr>
            <a:r>
              <a:rPr lang="en-US" dirty="0"/>
              <a:t>The same mesh settings were kept across comparable model variants</a:t>
            </a:r>
          </a:p>
        </p:txBody>
      </p:sp>
      <p:sp>
        <p:nvSpPr>
          <p:cNvPr id="4" name="Slide Number Placeholder 3"/>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13960624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r>
              <a:rPr lang="en-US" dirty="0"/>
              <a:t>- The material parameters were selected from literature values.</a:t>
            </a:r>
          </a:p>
          <a:p>
            <a:pPr marL="171450" indent="-171450">
              <a:buFontTx/>
              <a:buChar char="-"/>
            </a:pPr>
            <a:r>
              <a:rPr lang="en-US" dirty="0"/>
              <a:t>The key point is that breast tissue material properties vary strongly in the literature. I therefore did not treat one parameter set as the true patient-specific value, but as a controlled reference set.</a:t>
            </a:r>
          </a:p>
          <a:p>
            <a:pPr marL="171450" indent="-171450">
              <a:buFontTx/>
              <a:buChar char="-"/>
            </a:pPr>
            <a:r>
              <a:rPr lang="en-US" dirty="0"/>
              <a:t>The model used Mooney-Rivlin to define the tissues. Instead of assuming a constant linear stiffness, it describes how soft tissue stores energy during deformation. In my model, C10 and C01 define the shear stiffness scale, while the last term controls the resistance to volume change.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40842527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r>
              <a:rPr lang="en-US" dirty="0"/>
              <a:t>- In table reference parameters used for most of the model tests</a:t>
            </a:r>
            <a:br>
              <a:rPr lang="en-US" dirty="0"/>
            </a:br>
            <a:r>
              <a:rPr lang="en-US" dirty="0"/>
              <a:t>- Ranges of skin and tumor were the broadest</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8032029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indent="-171450">
              <a:buFontTx/>
              <a:buChar char="-"/>
            </a:pPr>
            <a:r>
              <a:rPr lang="en-US" dirty="0"/>
              <a:t>The skin was implemented as a 1.5 mm volumetric layer around the breast.</a:t>
            </a:r>
          </a:p>
          <a:p>
            <a:pPr marL="171450" indent="-171450">
              <a:buFontTx/>
              <a:buChar char="-"/>
            </a:pPr>
            <a:r>
              <a:rPr lang="en-US" dirty="0"/>
              <a:t>It acts like a stiffer outer model component.</a:t>
            </a:r>
          </a:p>
          <a:p>
            <a:pPr marL="171450" indent="-171450">
              <a:buFontTx/>
              <a:buChar char="-"/>
            </a:pPr>
            <a:r>
              <a:rPr lang="en-US" dirty="0"/>
              <a:t>Solving some different sensitivity cases with different parameter settings in the literature range I saw a lot of difference in response.</a:t>
            </a:r>
          </a:p>
          <a:p>
            <a:pPr marL="171450" indent="-171450">
              <a:buFontTx/>
              <a:buChar char="-"/>
            </a:pPr>
            <a:r>
              <a:rPr lang="en-US" dirty="0"/>
              <a:t>The different stiffnesses are from 3 different literature studies </a:t>
            </a:r>
            <a:br>
              <a:rPr lang="en-US" dirty="0"/>
            </a:b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1727585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indent="-171450">
              <a:buFontTx/>
              <a:buChar char="-"/>
            </a:pPr>
            <a:r>
              <a:rPr lang="en-US" dirty="0"/>
              <a:t>Cooper's ligaments are fibrous support structures in the breast. </a:t>
            </a:r>
          </a:p>
          <a:p>
            <a:pPr marL="171450" indent="-171450">
              <a:buFontTx/>
              <a:buChar char="-"/>
            </a:pPr>
            <a:r>
              <a:rPr lang="en-US" dirty="0"/>
              <a:t>I implemented them as simplified Cooper-like support terms. These apply restoring tractions to selected regions, so the model can test the mechanical influence of additional support without modelling every ligament.</a:t>
            </a:r>
          </a:p>
          <a:p>
            <a:pPr marL="171450" indent="-171450">
              <a:buFontTx/>
              <a:buChar char="-"/>
            </a:pPr>
            <a:r>
              <a:rPr lang="en-US" dirty="0"/>
              <a:t>Again in literature is divided around the exact orientations of these ligaments so I implemented three different variants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718555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variate across women</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37281108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indent="-171450">
              <a:buFontTx/>
              <a:buChar char="-"/>
            </a:pPr>
            <a:r>
              <a:rPr lang="en-US" dirty="0"/>
              <a:t>The main dynamic route used a fixed posterior support and applied an acceleration pulse to the breast volume. This can be interpreted as a small push to the breast in the upper direction were the patients stands still</a:t>
            </a:r>
          </a:p>
          <a:p>
            <a:pPr marL="171450" indent="-171450">
              <a:buFontTx/>
              <a:buChar char="-"/>
            </a:pPr>
            <a:r>
              <a:rPr lang="en-US" dirty="0"/>
              <a:t>I also prepared a prescribed support-displacement route. In that case, the posterior support itself moves smoothly up and down. This is comparable with a jump like motion, as if the patient makes a small jump</a:t>
            </a:r>
          </a:p>
          <a:p>
            <a:pPr marL="171450" indent="-171450">
              <a:buFontTx/>
              <a:buChar char="-"/>
            </a:pPr>
            <a:r>
              <a:rPr lang="en-US" dirty="0"/>
              <a:t>Surface response evaluated over time:</a:t>
            </a:r>
          </a:p>
          <a:p>
            <a:pPr marL="171450" indent="-171450">
              <a:buFontTx/>
              <a:buChar char="-"/>
            </a:pPr>
            <a:r>
              <a:rPr lang="en-US" dirty="0"/>
              <a:t>The important output is not only the final deformed shape, but the time-dependent response. The plot shows how the displacement magnitude changes over time. The yellow region marks the acceleration pulse window, and the peak response occurs during or shortly after this excitation.</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4650143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indent="-171450">
              <a:buFontTx/>
              <a:buChar char="-"/>
            </a:pPr>
            <a:r>
              <a:rPr lang="en-US" dirty="0"/>
              <a:t>The key point is that EWS would measure the outside of the breast, Therefore, I focused the post-processing on the free outer surface instead of only looking at internal model quantities. </a:t>
            </a:r>
          </a:p>
          <a:p>
            <a:pPr marL="171450" indent="-171450">
              <a:buFontTx/>
              <a:buChar char="-"/>
            </a:pPr>
            <a:r>
              <a:rPr lang="en-US" dirty="0"/>
              <a:t>I used displacement magnitude of signed landmarks on the breast averages to describe the surface response over time.</a:t>
            </a:r>
          </a:p>
          <a:p>
            <a:pPr marL="171450" indent="-171450">
              <a:buFontTx/>
              <a:buChar char="-"/>
            </a:pPr>
            <a:r>
              <a:rPr lang="en-US" dirty="0"/>
              <a:t>For now, I only looked at vertical displacements of these landmarks since that is the most influencent direction but the model is also able to extract the other 2 directions.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6852902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For the tumor route, I implemented an analytic spherical material overlay.</a:t>
            </a:r>
          </a:p>
          <a:p>
            <a:pPr marL="171450" indent="-171450">
              <a:buFontTx/>
              <a:buChar char="-"/>
            </a:pPr>
            <a:r>
              <a:rPr lang="en-US" dirty="0"/>
              <a:t>It’s a local spot in the breast where the stiffness is adjusted to e.g. 100 kPa to represent the tumor</a:t>
            </a:r>
          </a:p>
          <a:p>
            <a:pPr marL="171450" indent="-171450">
              <a:buFontTx/>
              <a:buChar char="-"/>
            </a:pPr>
            <a:r>
              <a:rPr lang="en-US" dirty="0"/>
              <a:t>The tumor can be adjusted in size and location throughout the breast </a:t>
            </a:r>
          </a:p>
          <a:p>
            <a:pPr marL="171450" indent="-171450">
              <a:buFontTx/>
              <a:buChar char="-"/>
            </a:pPr>
            <a:r>
              <a:rPr lang="en-US" dirty="0"/>
              <a:t>And I prepared some different variants of model builds with a tumor inside.</a:t>
            </a:r>
          </a:p>
        </p:txBody>
      </p:sp>
      <p:sp>
        <p:nvSpPr>
          <p:cNvPr id="4" name="Slide Number Placeholder 3"/>
          <p:cNvSpPr>
            <a:spLocks noGrp="1"/>
          </p:cNvSpPr>
          <p:nvPr>
            <p:ph type="sldNum" sz="quarter" idx="5"/>
          </p:nvPr>
        </p:nvSpPr>
        <p:spPr/>
        <p:txBody>
          <a:bodyPr/>
          <a:lstStyle/>
          <a:p>
            <a:fld id="{AA799BBE-B871-48D7-983C-C0B1D7156DCD}" type="slidenum">
              <a:rPr lang="en-GB" smtClean="0"/>
              <a:t>27</a:t>
            </a:fld>
            <a:endParaRPr lang="en-GB"/>
          </a:p>
        </p:txBody>
      </p:sp>
    </p:spTree>
    <p:extLst>
      <p:ext uri="{BB962C8B-B14F-4D97-AF65-F5344CB8AC3E}">
        <p14:creationId xmlns:p14="http://schemas.microsoft.com/office/powerpoint/2010/main" val="15292840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 red regions show the tumor overlays placed inside the existing COMSOL breast model.</a:t>
            </a:r>
          </a:p>
          <a:p>
            <a:pPr marL="171450" indent="-171450">
              <a:buFontTx/>
              <a:buChar char="-"/>
            </a:pPr>
            <a:r>
              <a:rPr lang="en-US" dirty="0"/>
              <a:t>And the 3mm</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28</a:t>
            </a:fld>
            <a:endParaRPr lang="en-GB"/>
          </a:p>
        </p:txBody>
      </p:sp>
    </p:spTree>
    <p:extLst>
      <p:ext uri="{BB962C8B-B14F-4D97-AF65-F5344CB8AC3E}">
        <p14:creationId xmlns:p14="http://schemas.microsoft.com/office/powerpoint/2010/main" val="13385945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indent="-171450">
              <a:buFontTx/>
              <a:buChar char="-"/>
            </a:pPr>
            <a:r>
              <a:rPr lang="en-US" dirty="0"/>
              <a:t>Computation limitation: all runs on my own laptop and most runs were more than 12 hours for one case</a:t>
            </a: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dirty="0"/>
              <a:t>Also, the dynamic loading and tumor cases still need validation with matched simulations and EWS-like surface-motion data. </a:t>
            </a:r>
          </a:p>
        </p:txBody>
      </p:sp>
      <p:sp>
        <p:nvSpPr>
          <p:cNvPr id="4" name="Slide Number Placeholder 3"/>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41959994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indent="-171450">
              <a:buFontTx/>
              <a:buChar char="-"/>
            </a:pPr>
            <a:r>
              <a:rPr lang="en-US" dirty="0"/>
              <a:t>I build a reproducible COMSOL FEM which can be further used and work more realistically than the previous model</a:t>
            </a:r>
          </a:p>
          <a:p>
            <a:pPr marL="171450" indent="-171450">
              <a:buFontTx/>
              <a:buChar char="-"/>
            </a:pPr>
            <a:r>
              <a:rPr lang="en-US" dirty="0"/>
              <a:t>The strongest effect in displacement differences were cause by the skin and material settings </a:t>
            </a:r>
          </a:p>
          <a:p>
            <a:pPr marL="171450" indent="-171450">
              <a:buFontTx/>
              <a:buChar char="-"/>
            </a:pPr>
            <a:r>
              <a:rPr lang="en-US" dirty="0"/>
              <a:t>So careful calibration of these tissue stiffness needs to be done, before interpreting surface-motion differences.</a:t>
            </a:r>
          </a:p>
          <a:p>
            <a:pPr marL="171450" indent="-171450">
              <a:buFontTx/>
              <a:buChar char="-"/>
            </a:pPr>
            <a:r>
              <a:rPr lang="en-US" dirty="0"/>
              <a:t>Overall, model is ready to be further investigated</a:t>
            </a:r>
          </a:p>
        </p:txBody>
      </p:sp>
      <p:sp>
        <p:nvSpPr>
          <p:cNvPr id="4" name="Slide Number Placeholder 3"/>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13711077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a:p>
        </p:txBody>
      </p:sp>
      <p:sp>
        <p:nvSpPr>
          <p:cNvPr id="4" name="Slide Number Placeholder 3"/>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0479763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02403-81FC-4448-DED5-D749E6F27AB8}"/>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DDC8BF19-013C-A2BA-1C81-74AD346C2B35}"/>
              </a:ext>
            </a:extLst>
          </p:cNvPr>
          <p:cNvSpPr>
            <a:spLocks noGrp="1" noRot="1" noChangeAspect="1"/>
          </p:cNvSpPr>
          <p:nvPr>
            <p:ph type="sldImg"/>
          </p:nvPr>
        </p:nvSpPr>
        <p:spPr/>
        <p:txBody>
          <a:bodyPr/>
          <a:lstStyle/>
          <a:p>
            <a:endParaRPr lang="en-NL"/>
          </a:p>
        </p:txBody>
      </p:sp>
      <p:sp>
        <p:nvSpPr>
          <p:cNvPr id="3" name="Tijdelijke aanduiding voor notities 2">
            <a:extLst>
              <a:ext uri="{FF2B5EF4-FFF2-40B4-BE49-F238E27FC236}">
                <a16:creationId xmlns:a16="http://schemas.microsoft.com/office/drawing/2014/main" id="{944851F6-8ECA-3472-F61B-B5761A674817}"/>
              </a:ext>
            </a:extLst>
          </p:cNvPr>
          <p:cNvSpPr>
            <a:spLocks noGrp="1"/>
          </p:cNvSpPr>
          <p:nvPr>
            <p:ph type="body" idx="1"/>
          </p:nvPr>
        </p:nvSpPr>
        <p:spPr/>
        <p:txBody>
          <a:bodyPr/>
          <a:lstStyle/>
          <a:p>
            <a:endParaRPr lang="en-GB" dirty="0"/>
          </a:p>
        </p:txBody>
      </p:sp>
      <p:sp>
        <p:nvSpPr>
          <p:cNvPr id="4" name="Tijdelijke aanduiding voor dianummer 3">
            <a:extLst>
              <a:ext uri="{FF2B5EF4-FFF2-40B4-BE49-F238E27FC236}">
                <a16:creationId xmlns:a16="http://schemas.microsoft.com/office/drawing/2014/main" id="{4223C711-65C2-C07F-51E1-6D97F6158706}"/>
              </a:ext>
            </a:extLst>
          </p:cNvPr>
          <p:cNvSpPr>
            <a:spLocks noGrp="1"/>
          </p:cNvSpPr>
          <p:nvPr>
            <p:ph type="sldNum" sz="quarter" idx="10"/>
          </p:nvPr>
        </p:nvSpPr>
        <p:spPr/>
        <p:txBody>
          <a:bodyPr/>
          <a:lstStyle/>
          <a:p>
            <a:fld id="{AA799BBE-B871-48D7-983C-C0B1D7156DCD}" type="slidenum">
              <a:rPr lang="en-GB" smtClean="0"/>
              <a:t>32</a:t>
            </a:fld>
            <a:endParaRPr lang="en-GB" dirty="0"/>
          </a:p>
        </p:txBody>
      </p:sp>
    </p:spTree>
    <p:extLst>
      <p:ext uri="{BB962C8B-B14F-4D97-AF65-F5344CB8AC3E}">
        <p14:creationId xmlns:p14="http://schemas.microsoft.com/office/powerpoint/2010/main" val="16695377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Catharina Hospital</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39143933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Title at the top">
    <p:bg>
      <p:bgPr>
        <a:solidFill>
          <a:srgbClr val="EEE8E8"/>
        </a:solidFill>
        <a:effectLst/>
      </p:bgPr>
    </p:bg>
    <p:spTree>
      <p:nvGrpSpPr>
        <p:cNvPr id="1" name=""/>
        <p:cNvGrpSpPr/>
        <p:nvPr/>
      </p:nvGrpSpPr>
      <p:grpSpPr>
        <a:xfrm>
          <a:off x="0" y="0"/>
          <a:ext cx="0" cy="0"/>
          <a:chOff x="0" y="0"/>
          <a:chExt cx="0" cy="0"/>
        </a:xfrm>
      </p:grpSpPr>
      <p:sp>
        <p:nvSpPr>
          <p:cNvPr id="10" name="Black75"/>
          <p:cNvSpPr/>
          <p:nvPr userDrawn="1"/>
        </p:nvSpPr>
        <p:spPr>
          <a:xfrm>
            <a:off x="0" y="75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756049"/>
            <a:ext cx="9143999" cy="792000"/>
          </a:xfrm>
          <a:solidFill>
            <a:schemeClr val="tx2">
              <a:alpha val="50000"/>
            </a:schemeClr>
          </a:solidFill>
        </p:spPr>
        <p:txBody>
          <a:bodyPr lIns="756000" rIns="1962000" anchor="ctr"/>
          <a:lstStyle>
            <a:lvl1pPr algn="l">
              <a:lnSpc>
                <a:spcPts val="2300"/>
              </a:lnSpc>
              <a:defRPr sz="2200" baseline="0">
                <a:solidFill>
                  <a:schemeClr val="bg1"/>
                </a:solidFill>
              </a:defRPr>
            </a:lvl1pPr>
          </a:lstStyle>
          <a:p>
            <a:r>
              <a:rPr lang="en-GB" dirty="0"/>
              <a:t>Example of a title at the top</a:t>
            </a:r>
          </a:p>
        </p:txBody>
      </p:sp>
      <p:sp>
        <p:nvSpPr>
          <p:cNvPr id="3" name="Subtitle 2"/>
          <p:cNvSpPr>
            <a:spLocks noGrp="1"/>
          </p:cNvSpPr>
          <p:nvPr>
            <p:ph type="subTitle" idx="1" hasCustomPrompt="1"/>
          </p:nvPr>
        </p:nvSpPr>
        <p:spPr>
          <a:xfrm>
            <a:off x="-1" y="1548000"/>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00"/>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1644222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Title in the middle">
    <p:spTree>
      <p:nvGrpSpPr>
        <p:cNvPr id="1" name=""/>
        <p:cNvGrpSpPr/>
        <p:nvPr/>
      </p:nvGrpSpPr>
      <p:grpSpPr>
        <a:xfrm>
          <a:off x="0" y="0"/>
          <a:ext cx="0" cy="0"/>
          <a:chOff x="0" y="0"/>
          <a:chExt cx="0" cy="0"/>
        </a:xfrm>
      </p:grpSpPr>
      <p:sp>
        <p:nvSpPr>
          <p:cNvPr id="4" name="Black75"/>
          <p:cNvSpPr/>
          <p:nvPr userDrawn="1"/>
        </p:nvSpPr>
        <p:spPr>
          <a:xfrm>
            <a:off x="0" y="183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18355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in the middle</a:t>
            </a:r>
          </a:p>
        </p:txBody>
      </p:sp>
      <p:sp>
        <p:nvSpPr>
          <p:cNvPr id="3" name="Subtitle 2"/>
          <p:cNvSpPr>
            <a:spLocks noGrp="1"/>
          </p:cNvSpPr>
          <p:nvPr>
            <p:ph type="subTitle" idx="1" hasCustomPrompt="1"/>
          </p:nvPr>
        </p:nvSpPr>
        <p:spPr>
          <a:xfrm>
            <a:off x="-1" y="2628097"/>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931105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Title at the bottom">
    <p:spTree>
      <p:nvGrpSpPr>
        <p:cNvPr id="1" name=""/>
        <p:cNvGrpSpPr/>
        <p:nvPr/>
      </p:nvGrpSpPr>
      <p:grpSpPr>
        <a:xfrm>
          <a:off x="0" y="0"/>
          <a:ext cx="0" cy="0"/>
          <a:chOff x="0" y="0"/>
          <a:chExt cx="0" cy="0"/>
        </a:xfrm>
      </p:grpSpPr>
      <p:sp>
        <p:nvSpPr>
          <p:cNvPr id="8" name="Black75"/>
          <p:cNvSpPr/>
          <p:nvPr userDrawn="1"/>
        </p:nvSpPr>
        <p:spPr>
          <a:xfrm>
            <a:off x="0" y="291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29150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at the bottom</a:t>
            </a:r>
          </a:p>
        </p:txBody>
      </p:sp>
      <p:sp>
        <p:nvSpPr>
          <p:cNvPr id="3" name="Subtitle 2"/>
          <p:cNvSpPr>
            <a:spLocks noGrp="1"/>
          </p:cNvSpPr>
          <p:nvPr>
            <p:ph type="subTitle" idx="1" hasCustomPrompt="1"/>
          </p:nvPr>
        </p:nvSpPr>
        <p:spPr>
          <a:xfrm>
            <a:off x="-1" y="3708591"/>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23749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en-US"/>
              <a:t>COMSOL FEM Breast Model for Early Warning Scan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4194838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slide -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85793"/>
            <a:ext cx="359568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Content Placeholder 3"/>
          <p:cNvSpPr>
            <a:spLocks noGrp="1"/>
          </p:cNvSpPr>
          <p:nvPr>
            <p:ph sz="half" idx="2" hasCustomPrompt="1"/>
          </p:nvPr>
        </p:nvSpPr>
        <p:spPr>
          <a:xfrm>
            <a:off x="4723606" y="1296000"/>
            <a:ext cx="3595688" cy="2933101"/>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en-US"/>
              <a:t>COMSOL FEM Breast Model for Early Warning Scan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ext Placeholder 2"/>
          <p:cNvSpPr>
            <a:spLocks noGrp="1"/>
          </p:cNvSpPr>
          <p:nvPr>
            <p:ph type="body" idx="13" hasCustomPrompt="1"/>
          </p:nvPr>
        </p:nvSpPr>
        <p:spPr>
          <a:xfrm>
            <a:off x="4714875" y="586800"/>
            <a:ext cx="3604419" cy="732238"/>
          </a:xfrm>
        </p:spPr>
        <p:txBody>
          <a:bodyPr anchor="t"/>
          <a:lstStyle>
            <a:lvl1pPr marL="0" indent="0">
              <a:buNone/>
              <a:defRPr lang="nl-NL" sz="1950" b="0" kern="1200" baseline="0" dirty="0" smtClean="0">
                <a:solidFill>
                  <a:schemeClr val="tx1"/>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enter text</a:t>
            </a:r>
          </a:p>
        </p:txBody>
      </p:sp>
    </p:spTree>
    <p:extLst>
      <p:ext uri="{BB962C8B-B14F-4D97-AF65-F5344CB8AC3E}">
        <p14:creationId xmlns:p14="http://schemas.microsoft.com/office/powerpoint/2010/main" val="1682407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 text - 1/2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en-US"/>
              <a:t>COMSOL FEM Breast Model for Early Warning Scan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4714875" y="0"/>
            <a:ext cx="4429125"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981543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3 text - 1/3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491013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491331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en-US"/>
              <a:t>COMSOL FEM Breast Model for Early Warning Scan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6046788" y="0"/>
            <a:ext cx="3097212"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3272405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 image/movie 16:9">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wrap="none"/>
          <a:lstStyle/>
          <a:p>
            <a:r>
              <a:rPr lang="en-GB" dirty="0"/>
              <a:t>This is an example of a 27 </a:t>
            </a:r>
            <a:r>
              <a:rPr lang="en-GB" dirty="0" err="1"/>
              <a:t>pt</a:t>
            </a:r>
            <a:r>
              <a:rPr lang="en-GB" dirty="0"/>
              <a:t> headline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en-US"/>
              <a:t>COMSOL FEM Breast Model for Early Warning Scan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inhoud 9"/>
          <p:cNvSpPr>
            <a:spLocks noGrp="1" noChangeAspect="1"/>
          </p:cNvSpPr>
          <p:nvPr>
            <p:ph sz="quarter" idx="13" hasCustomPrompt="1"/>
          </p:nvPr>
        </p:nvSpPr>
        <p:spPr>
          <a:xfrm>
            <a:off x="1889125" y="1079501"/>
            <a:ext cx="5292725" cy="2977200"/>
          </a:xfrm>
        </p:spPr>
        <p:txBody>
          <a:bodyPr/>
          <a:lstStyle>
            <a:lvl1pPr>
              <a:defRPr baseline="0"/>
            </a:lvl1pPr>
          </a:lstStyle>
          <a:p>
            <a:pPr lvl="0"/>
            <a:r>
              <a:rPr lang="en-GB" dirty="0"/>
              <a:t>Click icon to insert 16x9 image or movie</a:t>
            </a:r>
          </a:p>
        </p:txBody>
      </p:sp>
      <p:sp>
        <p:nvSpPr>
          <p:cNvPr id="12" name="Tijdelijke aanduiding voor tekst 11"/>
          <p:cNvSpPr>
            <a:spLocks noGrp="1"/>
          </p:cNvSpPr>
          <p:nvPr>
            <p:ph type="body" sz="quarter" idx="14" hasCustomPrompt="1"/>
          </p:nvPr>
        </p:nvSpPr>
        <p:spPr>
          <a:xfrm>
            <a:off x="1889125" y="4106268"/>
            <a:ext cx="5292725" cy="165100"/>
          </a:xfrm>
        </p:spPr>
        <p:txBody>
          <a:bodyPr/>
          <a:lstStyle>
            <a:lvl1pPr>
              <a:defRPr sz="1100" i="1"/>
            </a:lvl1pPr>
          </a:lstStyle>
          <a:p>
            <a:pPr lvl="0"/>
            <a:r>
              <a:rPr lang="en-GB" dirty="0"/>
              <a:t>Click to insert Caption under image or movie</a:t>
            </a:r>
          </a:p>
        </p:txBody>
      </p:sp>
    </p:spTree>
    <p:extLst>
      <p:ext uri="{BB962C8B-B14F-4D97-AF65-F5344CB8AC3E}">
        <p14:creationId xmlns:p14="http://schemas.microsoft.com/office/powerpoint/2010/main" val="1938494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 3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A 27pt headline on a slide with three images</a:t>
            </a:r>
            <a:endParaRPr lang="en-GB" dirty="0"/>
          </a:p>
        </p:txBody>
      </p:sp>
      <p:sp>
        <p:nvSpPr>
          <p:cNvPr id="3" name="Content Placeholder 2"/>
          <p:cNvSpPr>
            <a:spLocks noGrp="1"/>
          </p:cNvSpPr>
          <p:nvPr>
            <p:ph idx="1" hasCustomPrompt="1"/>
          </p:nvPr>
        </p:nvSpPr>
        <p:spPr>
          <a:xfrm>
            <a:off x="758824" y="1306642"/>
            <a:ext cx="2084389" cy="636458"/>
          </a:xfrm>
        </p:spPr>
        <p:txBody>
          <a:bodyPr/>
          <a:lstStyle>
            <a:lvl1pPr>
              <a:defRPr sz="1650"/>
            </a:lvl1pPr>
          </a:lstStyle>
          <a:p>
            <a:pPr lvl="0"/>
            <a:r>
              <a:rPr lang="en-GB" dirty="0"/>
              <a:t>Click to enter text</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en-US"/>
              <a:t>COMSOL FEM Breast Model for Early Warning Scan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7" name="Content Placeholder 2"/>
          <p:cNvSpPr>
            <a:spLocks noGrp="1"/>
          </p:cNvSpPr>
          <p:nvPr>
            <p:ph idx="13" hasCustomPrompt="1"/>
          </p:nvPr>
        </p:nvSpPr>
        <p:spPr>
          <a:xfrm>
            <a:off x="3490913" y="1302661"/>
            <a:ext cx="2084389" cy="636458"/>
          </a:xfrm>
        </p:spPr>
        <p:txBody>
          <a:bodyPr/>
          <a:lstStyle>
            <a:lvl1pPr>
              <a:defRPr sz="1650"/>
            </a:lvl1pPr>
          </a:lstStyle>
          <a:p>
            <a:pPr lvl="0"/>
            <a:r>
              <a:rPr lang="en-GB" dirty="0"/>
              <a:t>Click to enter text</a:t>
            </a:r>
          </a:p>
        </p:txBody>
      </p:sp>
      <p:sp>
        <p:nvSpPr>
          <p:cNvPr id="8" name="Content Placeholder 2"/>
          <p:cNvSpPr>
            <a:spLocks noGrp="1"/>
          </p:cNvSpPr>
          <p:nvPr>
            <p:ph idx="14" hasCustomPrompt="1"/>
          </p:nvPr>
        </p:nvSpPr>
        <p:spPr>
          <a:xfrm>
            <a:off x="6235414" y="1302661"/>
            <a:ext cx="2084389" cy="636458"/>
          </a:xfrm>
        </p:spPr>
        <p:txBody>
          <a:bodyPr/>
          <a:lstStyle>
            <a:lvl1pPr>
              <a:defRPr sz="1650"/>
            </a:lvl1pPr>
          </a:lstStyle>
          <a:p>
            <a:pPr lvl="0"/>
            <a:r>
              <a:rPr lang="en-GB" dirty="0"/>
              <a:t>Click to enter text</a:t>
            </a:r>
          </a:p>
        </p:txBody>
      </p:sp>
      <p:sp>
        <p:nvSpPr>
          <p:cNvPr id="10" name="Tijdelijke aanduiding voor afbeelding 9"/>
          <p:cNvSpPr>
            <a:spLocks noGrp="1"/>
          </p:cNvSpPr>
          <p:nvPr>
            <p:ph type="pic" sz="quarter" idx="15" hasCustomPrompt="1"/>
          </p:nvPr>
        </p:nvSpPr>
        <p:spPr>
          <a:xfrm>
            <a:off x="755650" y="1943101"/>
            <a:ext cx="2087563" cy="2625298"/>
          </a:xfrm>
        </p:spPr>
        <p:txBody>
          <a:bodyPr/>
          <a:lstStyle>
            <a:lvl1pPr>
              <a:defRPr baseline="0"/>
            </a:lvl1pPr>
          </a:lstStyle>
          <a:p>
            <a:r>
              <a:rPr lang="en-GB" dirty="0"/>
              <a:t>Click to insert image</a:t>
            </a:r>
          </a:p>
        </p:txBody>
      </p:sp>
      <p:sp>
        <p:nvSpPr>
          <p:cNvPr id="11" name="Tijdelijke aanduiding voor afbeelding 9"/>
          <p:cNvSpPr>
            <a:spLocks noGrp="1"/>
          </p:cNvSpPr>
          <p:nvPr>
            <p:ph type="pic" sz="quarter" idx="16" hasCustomPrompt="1"/>
          </p:nvPr>
        </p:nvSpPr>
        <p:spPr>
          <a:xfrm>
            <a:off x="3487739"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
        <p:nvSpPr>
          <p:cNvPr id="12" name="Tijdelijke aanduiding voor afbeelding 9"/>
          <p:cNvSpPr>
            <a:spLocks noGrp="1"/>
          </p:cNvSpPr>
          <p:nvPr>
            <p:ph type="pic" sz="quarter" idx="17" hasCustomPrompt="1"/>
          </p:nvPr>
        </p:nvSpPr>
        <p:spPr>
          <a:xfrm>
            <a:off x="6235414"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244920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image - 1/2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23518"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4720343"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en-US"/>
              <a:t>COMSOL FEM Breast Model for Early Warning Scan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4354513" cy="456723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p:txBody>
      </p:sp>
    </p:spTree>
    <p:extLst>
      <p:ext uri="{BB962C8B-B14F-4D97-AF65-F5344CB8AC3E}">
        <p14:creationId xmlns:p14="http://schemas.microsoft.com/office/powerpoint/2010/main" val="18872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 image - 2/3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94405" y="586800"/>
            <a:ext cx="482092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3491230" y="1295401"/>
            <a:ext cx="4824095" cy="2933700"/>
          </a:xfrm>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en-US"/>
              <a:t>COMSOL FEM Breast Model for Early Warning Scan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3022600" cy="4567238"/>
          </a:xfrm>
        </p:spPr>
        <p:txBody>
          <a:bodyPr/>
          <a:lstStyle/>
          <a:p>
            <a:r>
              <a:rPr lang="en-GB" dirty="0"/>
              <a:t>Click to insert image</a:t>
            </a:r>
          </a:p>
        </p:txBody>
      </p:sp>
    </p:spTree>
    <p:extLst>
      <p:ext uri="{BB962C8B-B14F-4D97-AF65-F5344CB8AC3E}">
        <p14:creationId xmlns:p14="http://schemas.microsoft.com/office/powerpoint/2010/main" val="681225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ing + full screen dark image">
    <p:bg>
      <p:bgPr>
        <a:solidFill>
          <a:schemeClr val="bg1">
            <a:lumMod val="6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bg1"/>
                </a:solidFill>
              </a:defRPr>
            </a:lvl1pPr>
          </a:lstStyle>
          <a:p>
            <a:r>
              <a:rPr lang="en-GB" dirty="0"/>
              <a:t>This is an example of a white headline on a full screen, dark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en-US"/>
              <a:t>COMSOL FEM Breast Model for Early Warning Scan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77015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ading + full screen light imag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full screen, light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en-US"/>
              <a:t>COMSOL FEM Breast Model for Early Warning Scan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696832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hite backgroun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white background</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en-US"/>
              <a:t>COMSOL FEM Breast Model for Early Warning Scan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cxnSp>
        <p:nvCxnSpPr>
          <p:cNvPr id="7" name="Rechte verbindingslijn 6"/>
          <p:cNvCxnSpPr/>
          <p:nvPr userDrawn="1"/>
        </p:nvCxnSpPr>
        <p:spPr>
          <a:xfrm>
            <a:off x="0" y="4563782"/>
            <a:ext cx="91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jdelijke aanduiding voor afbeelding 8"/>
          <p:cNvSpPr>
            <a:spLocks noGrp="1"/>
          </p:cNvSpPr>
          <p:nvPr>
            <p:ph type="pic" sz="quarter" idx="13" hasCustomPrompt="1"/>
          </p:nvPr>
        </p:nvSpPr>
        <p:spPr>
          <a:xfrm>
            <a:off x="1890000" y="1299075"/>
            <a:ext cx="5292725" cy="2977200"/>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3881866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Scarlet background">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en-US"/>
              <a:t>COMSOL FEM Breast Model for Early Warning Scan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533965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US" dirty="0"/>
              <a:t>Sample slide with table and text</a:t>
            </a:r>
            <a:endParaRPr lang="en-GB" dirty="0"/>
          </a:p>
        </p:txBody>
      </p:sp>
      <p:sp>
        <p:nvSpPr>
          <p:cNvPr id="3" name="Content Placeholder 2"/>
          <p:cNvSpPr>
            <a:spLocks noGrp="1"/>
          </p:cNvSpPr>
          <p:nvPr>
            <p:ph sz="half" idx="1" hasCustomPrompt="1"/>
          </p:nvPr>
        </p:nvSpPr>
        <p:spPr>
          <a:xfrm>
            <a:off x="755651" y="2638425"/>
            <a:ext cx="7563556" cy="1590675"/>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en-US"/>
              <a:t>COMSOL FEM Breast Model for Early Warning Scan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8" name="Tijdelijke aanduiding voor tabel 7"/>
          <p:cNvSpPr>
            <a:spLocks noGrp="1"/>
          </p:cNvSpPr>
          <p:nvPr>
            <p:ph type="tbl" sz="quarter" idx="13" hasCustomPrompt="1"/>
          </p:nvPr>
        </p:nvSpPr>
        <p:spPr>
          <a:xfrm>
            <a:off x="755650" y="1079501"/>
            <a:ext cx="7559675" cy="1152000"/>
          </a:xfrm>
        </p:spPr>
        <p:txBody>
          <a:bodyPr/>
          <a:lstStyle>
            <a:lvl1pPr>
              <a:defRPr/>
            </a:lvl1pPr>
          </a:lstStyle>
          <a:p>
            <a:r>
              <a:rPr lang="en-GB" dirty="0"/>
              <a:t>Click to insert table</a:t>
            </a:r>
          </a:p>
        </p:txBody>
      </p:sp>
    </p:spTree>
    <p:extLst>
      <p:ext uri="{BB962C8B-B14F-4D97-AF65-F5344CB8AC3E}">
        <p14:creationId xmlns:p14="http://schemas.microsoft.com/office/powerpoint/2010/main" val="2399389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GB" dirty="0"/>
              <a:t>Example chart</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en-US"/>
              <a:t>COMSOL FEM Breast Model for Early Warning Scan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ijdelijke aanduiding voor grafiek 8"/>
          <p:cNvSpPr>
            <a:spLocks noGrp="1"/>
          </p:cNvSpPr>
          <p:nvPr>
            <p:ph type="chart" sz="quarter" idx="13" hasCustomPrompt="1"/>
          </p:nvPr>
        </p:nvSpPr>
        <p:spPr>
          <a:xfrm>
            <a:off x="755650" y="1079500"/>
            <a:ext cx="7559675" cy="3149600"/>
          </a:xfrm>
        </p:spPr>
        <p:txBody>
          <a:bodyPr/>
          <a:lstStyle>
            <a:lvl1pPr>
              <a:defRPr/>
            </a:lvl1pPr>
          </a:lstStyle>
          <a:p>
            <a:r>
              <a:rPr lang="en-GB" dirty="0"/>
              <a:t>Click to insert chart</a:t>
            </a:r>
          </a:p>
        </p:txBody>
      </p:sp>
    </p:spTree>
    <p:extLst>
      <p:ext uri="{BB962C8B-B14F-4D97-AF65-F5344CB8AC3E}">
        <p14:creationId xmlns:p14="http://schemas.microsoft.com/office/powerpoint/2010/main" val="4202347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8E8"/>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2" y="4568400"/>
            <a:ext cx="1114424" cy="572286"/>
          </a:xfrm>
          <a:prstGeom prst="rect">
            <a:avLst/>
          </a:prstGeom>
          <a:solidFill>
            <a:schemeClr val="bg1"/>
          </a:solidFill>
        </p:spPr>
        <p:txBody>
          <a:bodyPr vert="horz" lIns="756000" tIns="0" rIns="0" bIns="0" rtlCol="0" anchor="ctr"/>
          <a:lstStyle>
            <a:lvl1pPr algn="l">
              <a:defRPr sz="1100" b="0">
                <a:solidFill>
                  <a:schemeClr val="tx1"/>
                </a:solidFill>
              </a:defRPr>
            </a:lvl1pPr>
          </a:lstStyle>
          <a:p>
            <a:fld id="{C194BDB0-F4EA-4DD6-8281-CCE2440D0CE0}" type="slidenum">
              <a:rPr lang="en-GB" smtClean="0"/>
              <a:pPr/>
              <a:t>‹#›</a:t>
            </a:fld>
            <a:endParaRPr lang="en-GB" dirty="0"/>
          </a:p>
        </p:txBody>
      </p:sp>
      <p:sp>
        <p:nvSpPr>
          <p:cNvPr id="2" name="Title Placeholder 1"/>
          <p:cNvSpPr>
            <a:spLocks noGrp="1"/>
          </p:cNvSpPr>
          <p:nvPr>
            <p:ph type="title"/>
          </p:nvPr>
        </p:nvSpPr>
        <p:spPr>
          <a:xfrm>
            <a:off x="758825" y="518711"/>
            <a:ext cx="7556500" cy="539038"/>
          </a:xfrm>
          <a:prstGeom prst="rect">
            <a:avLst/>
          </a:prstGeom>
        </p:spPr>
        <p:txBody>
          <a:bodyPr vert="horz" lIns="0" tIns="0" rIns="0" bIns="0" rtlCol="0" anchor="t" anchorCtr="0">
            <a:noAutofit/>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Text Placeholder 2"/>
          <p:cNvSpPr>
            <a:spLocks noGrp="1"/>
          </p:cNvSpPr>
          <p:nvPr>
            <p:ph type="body" idx="1"/>
          </p:nvPr>
        </p:nvSpPr>
        <p:spPr>
          <a:xfrm>
            <a:off x="758824" y="1306642"/>
            <a:ext cx="7556501" cy="2922458"/>
          </a:xfrm>
          <a:prstGeom prst="rect">
            <a:avLst/>
          </a:prstGeom>
        </p:spPr>
        <p:txBody>
          <a:bodyPr vert="horz" lIns="0" tIns="0" rIns="0" bIns="0" rtlCol="0">
            <a:noAutofit/>
          </a:bodyPr>
          <a:lstStyle/>
          <a:p>
            <a:pPr lvl="0"/>
            <a:r>
              <a:rPr lang="en-GB" dirty="0" err="1"/>
              <a:t>Klik</a:t>
            </a:r>
            <a:r>
              <a:rPr lang="en-GB" dirty="0"/>
              <a:t> om de </a:t>
            </a:r>
            <a:r>
              <a:rPr lang="en-GB" dirty="0" err="1"/>
              <a:t>modelstijlen</a:t>
            </a:r>
            <a:r>
              <a:rPr lang="en-GB" dirty="0"/>
              <a:t> </a:t>
            </a:r>
            <a:r>
              <a:rPr lang="en-GB" dirty="0" err="1"/>
              <a:t>te</a:t>
            </a:r>
            <a:r>
              <a:rPr lang="en-GB" dirty="0"/>
              <a:t> </a:t>
            </a:r>
            <a:r>
              <a:rPr lang="en-GB" dirty="0" err="1"/>
              <a:t>bewerken</a:t>
            </a:r>
            <a:endParaRPr lang="en-GB" dirty="0"/>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Footer Placeholder 4"/>
          <p:cNvSpPr>
            <a:spLocks noGrp="1"/>
          </p:cNvSpPr>
          <p:nvPr>
            <p:ph type="ftr" sz="quarter" idx="3"/>
          </p:nvPr>
        </p:nvSpPr>
        <p:spPr>
          <a:xfrm>
            <a:off x="1114426" y="4568400"/>
            <a:ext cx="7042149" cy="576000"/>
          </a:xfrm>
          <a:prstGeom prst="rect">
            <a:avLst/>
          </a:prstGeom>
          <a:solidFill>
            <a:schemeClr val="bg1"/>
          </a:solidFill>
        </p:spPr>
        <p:txBody>
          <a:bodyPr vert="horz" lIns="0" tIns="0" rIns="0" bIns="0" rtlCol="0" anchor="ctr"/>
          <a:lstStyle>
            <a:lvl1pPr algn="l">
              <a:defRPr sz="1100" b="0">
                <a:solidFill>
                  <a:schemeClr val="tx1"/>
                </a:solidFill>
              </a:defRPr>
            </a:lvl1pPr>
          </a:lstStyle>
          <a:p>
            <a:r>
              <a:rPr lang="en-US"/>
              <a:t>COMSOL FEM Breast Model for Early Warning Scan</a:t>
            </a:r>
            <a:endParaRPr lang="en-GB" dirty="0"/>
          </a:p>
        </p:txBody>
      </p:sp>
      <p:pic>
        <p:nvPicPr>
          <p:cNvPr id="66" name="Picture 4">
            <a:extLst>
              <a:ext uri="{FF2B5EF4-FFF2-40B4-BE49-F238E27FC236}">
                <a16:creationId xmlns:a16="http://schemas.microsoft.com/office/drawing/2014/main" id="{93FD69BB-9D62-3A4C-8433-C5954D52BB6F}"/>
              </a:ext>
            </a:extLst>
          </p:cNvPr>
          <p:cNvPicPr>
            <a:picLocks noChangeAspect="1"/>
          </p:cNvPicPr>
          <p:nvPr userDrawn="1"/>
        </p:nvPicPr>
        <p:blipFill>
          <a:blip r:embed="rId19"/>
          <a:stretch>
            <a:fillRect/>
          </a:stretch>
        </p:blipFill>
        <p:spPr>
          <a:xfrm>
            <a:off x="8156575" y="4568825"/>
            <a:ext cx="987425" cy="574675"/>
          </a:xfrm>
          <a:prstGeom prst="rect">
            <a:avLst/>
          </a:prstGeom>
        </p:spPr>
      </p:pic>
    </p:spTree>
    <p:extLst>
      <p:ext uri="{BB962C8B-B14F-4D97-AF65-F5344CB8AC3E}">
        <p14:creationId xmlns:p14="http://schemas.microsoft.com/office/powerpoint/2010/main" val="2422791903"/>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ts val="2700"/>
        </a:lnSpc>
        <a:spcBef>
          <a:spcPct val="0"/>
        </a:spcBef>
        <a:buNone/>
        <a:defRPr sz="2700" b="1" kern="1200">
          <a:solidFill>
            <a:schemeClr val="tx1"/>
          </a:solidFill>
          <a:latin typeface="+mj-lt"/>
          <a:ea typeface="+mj-ea"/>
          <a:cs typeface="+mj-cs"/>
        </a:defRPr>
      </a:lvl1pPr>
    </p:titleStyle>
    <p:bodyStyle>
      <a:lvl1pPr marL="0" indent="0" algn="l" defTabSz="685800" rtl="0" eaLnBrk="1" latinLnBrk="0" hangingPunct="1">
        <a:lnSpc>
          <a:spcPct val="100000"/>
        </a:lnSpc>
        <a:spcBef>
          <a:spcPts val="0"/>
        </a:spcBef>
        <a:buFont typeface="Arial" panose="020B0604020202020204" pitchFamily="34" charset="0"/>
        <a:buNone/>
        <a:defRPr sz="1950" kern="120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microsoft.com/office/2018/10/relationships/comments" Target="../comments/modernComment_11F_7E363BB4.xml"/><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33.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37.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3" Type="http://schemas.microsoft.com/office/2018/10/relationships/comments" Target="../comments/modernComment_156_8DE8F58C.xml"/><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42.png"/><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46.png"/><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49.png"/><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8" Type="http://schemas.openxmlformats.org/officeDocument/2006/relationships/hyperlink" Target="https://doi.org/10.1038/s41598-024-83598-8" TargetMode="External"/><Relationship Id="rId3" Type="http://schemas.openxmlformats.org/officeDocument/2006/relationships/hyperlink" Target="https://www.who.int/news-room/fact-sheets/detail/breast-cancer" TargetMode="External"/><Relationship Id="rId7" Type="http://schemas.openxmlformats.org/officeDocument/2006/relationships/hyperlink" Target="https://teachmeanatomy.info/thorax/organs/breasts/" TargetMode="External"/><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hyperlink" Target="https://www.earlywarningscan.nl/" TargetMode="External"/><Relationship Id="rId5" Type="http://schemas.openxmlformats.org/officeDocument/2006/relationships/hyperlink" Target="https://www.invitra.com/en/breast-cancer/mamography/" TargetMode="External"/><Relationship Id="rId4" Type="http://schemas.openxmlformats.org/officeDocument/2006/relationships/hyperlink" Target="https://www.breastcancer.org/risk/risk-factors/dense-breasts"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2" Type="http://schemas.microsoft.com/office/2018/10/relationships/comments" Target="../comments/modernComment_13D_3E6678B.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 name="Titel 9"/>
          <p:cNvSpPr>
            <a:spLocks noGrp="1"/>
          </p:cNvSpPr>
          <p:nvPr>
            <p:ph type="ctrTitle"/>
          </p:nvPr>
        </p:nvSpPr>
        <p:spPr>
          <a:xfrm>
            <a:off x="-1" y="1835549"/>
            <a:ext cx="10881361" cy="792000"/>
          </a:xfrm>
        </p:spPr>
        <p:txBody>
          <a:bodyPr/>
          <a:lstStyle/>
          <a:p>
            <a:r>
              <a:rPr lang="en-US" dirty="0"/>
              <a:t>Development of a COMSOL Finite Element Breast Model for Deformation-Based Early Warning Scan Imaging</a:t>
            </a:r>
            <a:endParaRPr lang="en-GB" dirty="0"/>
          </a:p>
        </p:txBody>
      </p:sp>
      <p:sp>
        <p:nvSpPr>
          <p:cNvPr id="15" name="Ondertitel 14"/>
          <p:cNvSpPr>
            <a:spLocks noGrp="1"/>
          </p:cNvSpPr>
          <p:nvPr>
            <p:ph type="subTitle" idx="1"/>
          </p:nvPr>
        </p:nvSpPr>
        <p:spPr/>
        <p:txBody>
          <a:bodyPr/>
          <a:lstStyle/>
          <a:p>
            <a:r>
              <a:rPr lang="en-GB" dirty="0"/>
              <a:t>30-06-2026 </a:t>
            </a:r>
          </a:p>
        </p:txBody>
      </p:sp>
      <p:sp>
        <p:nvSpPr>
          <p:cNvPr id="16" name="Tijdelijke aanduiding voor tekst 15"/>
          <p:cNvSpPr>
            <a:spLocks noGrp="1"/>
          </p:cNvSpPr>
          <p:nvPr>
            <p:ph type="body" sz="quarter" idx="13"/>
          </p:nvPr>
        </p:nvSpPr>
        <p:spPr/>
        <p:txBody>
          <a:bodyPr/>
          <a:lstStyle/>
          <a:p>
            <a:r>
              <a:rPr lang="en-GB" dirty="0"/>
              <a:t>Daan Kuijpers | Internship project | Catharina Hospital | April – July 2026 </a:t>
            </a:r>
          </a:p>
        </p:txBody>
      </p:sp>
      <p:sp>
        <p:nvSpPr>
          <p:cNvPr id="17" name="Tijdelijke aanduiding voor tekst 16"/>
          <p:cNvSpPr>
            <a:spLocks noGrp="1"/>
          </p:cNvSpPr>
          <p:nvPr>
            <p:ph type="body" sz="quarter" idx="14"/>
          </p:nvPr>
        </p:nvSpPr>
        <p:spPr>
          <a:xfrm>
            <a:off x="-534573" y="4567237"/>
            <a:ext cx="7875173" cy="576263"/>
          </a:xfrm>
        </p:spPr>
        <p:txBody>
          <a:bodyPr/>
          <a:lstStyle/>
          <a:p>
            <a:r>
              <a:rPr lang="en-GB" dirty="0"/>
              <a:t>COMSOL FEM Breast Model for Early Warning scan</a:t>
            </a:r>
          </a:p>
        </p:txBody>
      </p:sp>
      <p:pic>
        <p:nvPicPr>
          <p:cNvPr id="3" name="Picture 2">
            <a:extLst>
              <a:ext uri="{FF2B5EF4-FFF2-40B4-BE49-F238E27FC236}">
                <a16:creationId xmlns:a16="http://schemas.microsoft.com/office/drawing/2014/main" id="{EDDFA180-01AA-D8D3-5747-0F0ACEAB9A6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63661" y="4596289"/>
            <a:ext cx="1985450" cy="518160"/>
          </a:xfrm>
          <a:prstGeom prst="rect">
            <a:avLst/>
          </a:prstGeom>
        </p:spPr>
      </p:pic>
      <p:pic>
        <p:nvPicPr>
          <p:cNvPr id="5" name="Picture 4">
            <a:extLst>
              <a:ext uri="{FF2B5EF4-FFF2-40B4-BE49-F238E27FC236}">
                <a16:creationId xmlns:a16="http://schemas.microsoft.com/office/drawing/2014/main" id="{DB565F26-13C9-0FE4-1639-722463474D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30460" y="4567236"/>
            <a:ext cx="1728792" cy="576264"/>
          </a:xfrm>
          <a:prstGeom prst="rect">
            <a:avLst/>
          </a:prstGeom>
        </p:spPr>
      </p:pic>
    </p:spTree>
    <p:extLst>
      <p:ext uri="{BB962C8B-B14F-4D97-AF65-F5344CB8AC3E}">
        <p14:creationId xmlns:p14="http://schemas.microsoft.com/office/powerpoint/2010/main" val="4035671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43907-D351-4316-5A18-813936C2E9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51534F-A67D-2932-3564-BD1ED8000F89}"/>
              </a:ext>
            </a:extLst>
          </p:cNvPr>
          <p:cNvSpPr>
            <a:spLocks noGrp="1"/>
          </p:cNvSpPr>
          <p:nvPr>
            <p:ph type="title"/>
          </p:nvPr>
        </p:nvSpPr>
        <p:spPr/>
        <p:txBody>
          <a:bodyPr/>
          <a:lstStyle/>
          <a:p>
            <a:r>
              <a:rPr lang="en-US" dirty="0"/>
              <a:t>Why Breast Screening Matters</a:t>
            </a:r>
            <a:endParaRPr lang="en-NL" dirty="0"/>
          </a:p>
        </p:txBody>
      </p:sp>
      <p:sp>
        <p:nvSpPr>
          <p:cNvPr id="4" name="Footer Placeholder 3">
            <a:extLst>
              <a:ext uri="{FF2B5EF4-FFF2-40B4-BE49-F238E27FC236}">
                <a16:creationId xmlns:a16="http://schemas.microsoft.com/office/drawing/2014/main" id="{6CE57DA0-3E99-8369-D6C7-DADBC5C7FA23}"/>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AF880AE7-4B40-0063-A708-2F9D2B89C942}"/>
              </a:ext>
            </a:extLst>
          </p:cNvPr>
          <p:cNvSpPr>
            <a:spLocks noGrp="1"/>
          </p:cNvSpPr>
          <p:nvPr>
            <p:ph type="sldNum" sz="quarter" idx="12"/>
          </p:nvPr>
        </p:nvSpPr>
        <p:spPr/>
        <p:txBody>
          <a:bodyPr/>
          <a:lstStyle/>
          <a:p>
            <a:fld id="{C194BDB0-F4EA-4DD6-8281-CCE2440D0CE0}" type="slidenum">
              <a:rPr lang="en-GB" smtClean="0"/>
              <a:t>2</a:t>
            </a:fld>
            <a:endParaRPr lang="en-GB" dirty="0"/>
          </a:p>
        </p:txBody>
      </p:sp>
      <p:sp>
        <p:nvSpPr>
          <p:cNvPr id="3" name="Tijdelijke aanduiding voor inhoud 2">
            <a:extLst>
              <a:ext uri="{FF2B5EF4-FFF2-40B4-BE49-F238E27FC236}">
                <a16:creationId xmlns:a16="http://schemas.microsoft.com/office/drawing/2014/main" id="{E4F3072D-1C00-07E2-1405-AE7BC1CE1C0B}"/>
              </a:ext>
            </a:extLst>
          </p:cNvPr>
          <p:cNvSpPr txBox="1">
            <a:spLocks/>
          </p:cNvSpPr>
          <p:nvPr/>
        </p:nvSpPr>
        <p:spPr>
          <a:xfrm>
            <a:off x="758824" y="1306642"/>
            <a:ext cx="7556501" cy="2922458"/>
          </a:xfrm>
          <a:prstGeom prst="rect">
            <a:avLst/>
          </a:prstGeom>
        </p:spPr>
        <p:txBody>
          <a:bodyPr vert="horz" lIns="0" tIns="0" rIns="0" bIns="0" rtlCol="0">
            <a:noAutofit/>
          </a:bodyPr>
          <a:lstStyle>
            <a:lvl1pPr marL="0" indent="0" algn="l" defTabSz="685800" rtl="0" eaLnBrk="1" latinLnBrk="0" hangingPunct="1">
              <a:lnSpc>
                <a:spcPct val="100000"/>
              </a:lnSpc>
              <a:spcBef>
                <a:spcPts val="0"/>
              </a:spcBef>
              <a:buFont typeface="Arial" panose="020B0604020202020204" pitchFamily="34" charset="0"/>
              <a:buNone/>
              <a:defRPr sz="1950" kern="1200" baseline="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indent="-342900">
              <a:buFont typeface="Arial" panose="020B0604020202020204" pitchFamily="34" charset="0"/>
              <a:buChar char="•"/>
            </a:pPr>
            <a:r>
              <a:rPr lang="en-NL" dirty="0"/>
              <a:t>2.3 million breast cancer diagnoses worldwide</a:t>
            </a:r>
            <a:r>
              <a:rPr lang="en-US" dirty="0"/>
              <a:t> </a:t>
            </a:r>
            <a:r>
              <a:rPr lang="en-GB" dirty="0"/>
              <a:t>[1]</a:t>
            </a:r>
          </a:p>
          <a:p>
            <a:pPr marL="342900" indent="-342900">
              <a:buFont typeface="Arial" panose="020B0604020202020204" pitchFamily="34" charset="0"/>
              <a:buChar char="•"/>
            </a:pPr>
            <a:r>
              <a:rPr lang="en-GB" dirty="0"/>
              <a:t>Early detection increases treatment options</a:t>
            </a:r>
          </a:p>
          <a:p>
            <a:pPr marL="342900" indent="-342900">
              <a:buFont typeface="Arial" panose="020B0604020202020204" pitchFamily="34" charset="0"/>
              <a:buChar char="•"/>
            </a:pPr>
            <a:r>
              <a:rPr lang="en-GB" dirty="0"/>
              <a:t>Screening aims to detect disease before symptoms visible</a:t>
            </a:r>
          </a:p>
          <a:p>
            <a:pPr marL="342900" indent="-342900">
              <a:buFont typeface="Arial" panose="020B0604020202020204" pitchFamily="34" charset="0"/>
              <a:buChar char="•"/>
            </a:pPr>
            <a:r>
              <a:rPr lang="en-GB" dirty="0"/>
              <a:t>Mammography is established, but not perfect</a:t>
            </a:r>
          </a:p>
        </p:txBody>
      </p:sp>
    </p:spTree>
    <p:extLst>
      <p:ext uri="{BB962C8B-B14F-4D97-AF65-F5344CB8AC3E}">
        <p14:creationId xmlns:p14="http://schemas.microsoft.com/office/powerpoint/2010/main" val="961877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A71D2-D38E-AC2F-B8A7-F1584D2719B3}"/>
              </a:ext>
            </a:extLst>
          </p:cNvPr>
          <p:cNvSpPr>
            <a:spLocks noGrp="1"/>
          </p:cNvSpPr>
          <p:nvPr>
            <p:ph type="title"/>
          </p:nvPr>
        </p:nvSpPr>
        <p:spPr/>
        <p:txBody>
          <a:bodyPr/>
          <a:lstStyle/>
          <a:p>
            <a:r>
              <a:rPr lang="en-US" dirty="0"/>
              <a:t>Limitations of Mammography</a:t>
            </a:r>
            <a:endParaRPr lang="en-NL" dirty="0"/>
          </a:p>
        </p:txBody>
      </p:sp>
      <p:sp>
        <p:nvSpPr>
          <p:cNvPr id="3" name="Content Placeholder 2">
            <a:extLst>
              <a:ext uri="{FF2B5EF4-FFF2-40B4-BE49-F238E27FC236}">
                <a16:creationId xmlns:a16="http://schemas.microsoft.com/office/drawing/2014/main" id="{08A231EA-3986-88C5-1478-95E2ACC10E8A}"/>
              </a:ext>
            </a:extLst>
          </p:cNvPr>
          <p:cNvSpPr>
            <a:spLocks noGrp="1"/>
          </p:cNvSpPr>
          <p:nvPr>
            <p:ph idx="1"/>
          </p:nvPr>
        </p:nvSpPr>
        <p:spPr/>
        <p:txBody>
          <a:bodyPr/>
          <a:lstStyle/>
          <a:p>
            <a:pPr marL="342900" indent="-342900">
              <a:buFont typeface="Arial" panose="020B0604020202020204" pitchFamily="34" charset="0"/>
              <a:buChar char="•"/>
            </a:pPr>
            <a:r>
              <a:rPr lang="en-US" dirty="0"/>
              <a:t>Radiation exposure</a:t>
            </a:r>
          </a:p>
          <a:p>
            <a:pPr marL="342900" indent="-342900">
              <a:buFont typeface="Arial" panose="020B0604020202020204" pitchFamily="34" charset="0"/>
              <a:buChar char="•"/>
            </a:pPr>
            <a:r>
              <a:rPr lang="en-US" dirty="0"/>
              <a:t>Discomfort</a:t>
            </a:r>
          </a:p>
          <a:p>
            <a:pPr marL="342900" indent="-342900">
              <a:buFont typeface="Arial" panose="020B0604020202020204" pitchFamily="34" charset="0"/>
              <a:buChar char="•"/>
            </a:pPr>
            <a:r>
              <a:rPr lang="en-US" dirty="0"/>
              <a:t>High costs</a:t>
            </a:r>
          </a:p>
          <a:p>
            <a:pPr marL="342900" indent="-342900">
              <a:buFont typeface="Arial" panose="020B0604020202020204" pitchFamily="34" charset="0"/>
              <a:buChar char="•"/>
            </a:pPr>
            <a:r>
              <a:rPr lang="en-US" dirty="0"/>
              <a:t>Reduced sensitivity in dense tissue</a:t>
            </a:r>
          </a:p>
        </p:txBody>
      </p:sp>
      <p:sp>
        <p:nvSpPr>
          <p:cNvPr id="4" name="Footer Placeholder 3">
            <a:extLst>
              <a:ext uri="{FF2B5EF4-FFF2-40B4-BE49-F238E27FC236}">
                <a16:creationId xmlns:a16="http://schemas.microsoft.com/office/drawing/2014/main" id="{333B527B-7630-FD5A-D344-BABD708735EE}"/>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9E786745-F060-49D3-6B26-0AEEC940BDE1}"/>
              </a:ext>
            </a:extLst>
          </p:cNvPr>
          <p:cNvSpPr>
            <a:spLocks noGrp="1"/>
          </p:cNvSpPr>
          <p:nvPr>
            <p:ph type="sldNum" sz="quarter" idx="12"/>
          </p:nvPr>
        </p:nvSpPr>
        <p:spPr/>
        <p:txBody>
          <a:bodyPr/>
          <a:lstStyle/>
          <a:p>
            <a:fld id="{C194BDB0-F4EA-4DD6-8281-CCE2440D0CE0}" type="slidenum">
              <a:rPr lang="en-GB" smtClean="0"/>
              <a:t>3</a:t>
            </a:fld>
            <a:endParaRPr lang="en-GB" dirty="0"/>
          </a:p>
        </p:txBody>
      </p:sp>
      <p:pic>
        <p:nvPicPr>
          <p:cNvPr id="6" name="Picture 5">
            <a:extLst>
              <a:ext uri="{FF2B5EF4-FFF2-40B4-BE49-F238E27FC236}">
                <a16:creationId xmlns:a16="http://schemas.microsoft.com/office/drawing/2014/main" id="{86D97E24-BEF7-A6E1-B335-4814B9AB8330}"/>
              </a:ext>
            </a:extLst>
          </p:cNvPr>
          <p:cNvPicPr>
            <a:picLocks noChangeAspect="1"/>
          </p:cNvPicPr>
          <p:nvPr/>
        </p:nvPicPr>
        <p:blipFill>
          <a:blip r:embed="rId3"/>
          <a:stretch>
            <a:fillRect/>
          </a:stretch>
        </p:blipFill>
        <p:spPr>
          <a:xfrm>
            <a:off x="5810299" y="338415"/>
            <a:ext cx="3009988" cy="2148732"/>
          </a:xfrm>
          <a:prstGeom prst="rect">
            <a:avLst/>
          </a:prstGeom>
        </p:spPr>
      </p:pic>
      <p:pic>
        <p:nvPicPr>
          <p:cNvPr id="7" name="Picture 6">
            <a:extLst>
              <a:ext uri="{FF2B5EF4-FFF2-40B4-BE49-F238E27FC236}">
                <a16:creationId xmlns:a16="http://schemas.microsoft.com/office/drawing/2014/main" id="{16E29E81-DF94-ADF4-C0C2-D801862A18FA}"/>
              </a:ext>
            </a:extLst>
          </p:cNvPr>
          <p:cNvPicPr>
            <a:picLocks noChangeAspect="1"/>
          </p:cNvPicPr>
          <p:nvPr/>
        </p:nvPicPr>
        <p:blipFill>
          <a:blip r:embed="rId4"/>
          <a:srcRect l="7804" r="6402"/>
          <a:stretch>
            <a:fillRect/>
          </a:stretch>
        </p:blipFill>
        <p:spPr>
          <a:xfrm>
            <a:off x="5156092" y="2501192"/>
            <a:ext cx="3664195" cy="1815142"/>
          </a:xfrm>
          <a:prstGeom prst="rect">
            <a:avLst/>
          </a:prstGeom>
          <a:ln>
            <a:solidFill>
              <a:schemeClr val="tx1">
                <a:lumMod val="50000"/>
                <a:lumOff val="50000"/>
              </a:schemeClr>
            </a:solidFill>
          </a:ln>
        </p:spPr>
      </p:pic>
      <p:sp>
        <p:nvSpPr>
          <p:cNvPr id="10" name="TextBox 9">
            <a:extLst>
              <a:ext uri="{FF2B5EF4-FFF2-40B4-BE49-F238E27FC236}">
                <a16:creationId xmlns:a16="http://schemas.microsoft.com/office/drawing/2014/main" id="{D5878050-A885-D8D6-29FD-30811848C073}"/>
              </a:ext>
            </a:extLst>
          </p:cNvPr>
          <p:cNvSpPr txBox="1"/>
          <p:nvPr/>
        </p:nvSpPr>
        <p:spPr>
          <a:xfrm>
            <a:off x="6511835" y="4268318"/>
            <a:ext cx="2348528" cy="300082"/>
          </a:xfrm>
          <a:prstGeom prst="rect">
            <a:avLst/>
          </a:prstGeom>
          <a:noFill/>
        </p:spPr>
        <p:txBody>
          <a:bodyPr wrap="none" rtlCol="0">
            <a:spAutoFit/>
          </a:bodyPr>
          <a:lstStyle/>
          <a:p>
            <a:r>
              <a:rPr lang="en-US" dirty="0"/>
              <a:t>[2] Dr. Wendie Berg [3] </a:t>
            </a:r>
            <a:r>
              <a:rPr lang="en-US" dirty="0" err="1"/>
              <a:t>inviTRA</a:t>
            </a:r>
            <a:endParaRPr lang="en-NL" dirty="0"/>
          </a:p>
        </p:txBody>
      </p:sp>
    </p:spTree>
    <p:extLst>
      <p:ext uri="{BB962C8B-B14F-4D97-AF65-F5344CB8AC3E}">
        <p14:creationId xmlns:p14="http://schemas.microsoft.com/office/powerpoint/2010/main" val="2943938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FC55E-45BC-F6C4-158C-ABF38FE1DA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46A654-24AA-F52D-B366-9B7CDA5E438F}"/>
              </a:ext>
            </a:extLst>
          </p:cNvPr>
          <p:cNvSpPr>
            <a:spLocks noGrp="1"/>
          </p:cNvSpPr>
          <p:nvPr>
            <p:ph type="title"/>
          </p:nvPr>
        </p:nvSpPr>
        <p:spPr/>
        <p:txBody>
          <a:bodyPr/>
          <a:lstStyle/>
          <a:p>
            <a:r>
              <a:rPr lang="en-US" dirty="0"/>
              <a:t>The Early Warning Scan</a:t>
            </a:r>
            <a:endParaRPr lang="en-NL" dirty="0"/>
          </a:p>
        </p:txBody>
      </p:sp>
      <p:sp>
        <p:nvSpPr>
          <p:cNvPr id="4" name="Footer Placeholder 3">
            <a:extLst>
              <a:ext uri="{FF2B5EF4-FFF2-40B4-BE49-F238E27FC236}">
                <a16:creationId xmlns:a16="http://schemas.microsoft.com/office/drawing/2014/main" id="{F4FF2377-6F5F-6ECD-2E7E-8DD463FD176A}"/>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37F23623-13DA-FA3C-9620-D9780B6E589C}"/>
              </a:ext>
            </a:extLst>
          </p:cNvPr>
          <p:cNvSpPr>
            <a:spLocks noGrp="1"/>
          </p:cNvSpPr>
          <p:nvPr>
            <p:ph type="sldNum" sz="quarter" idx="12"/>
          </p:nvPr>
        </p:nvSpPr>
        <p:spPr/>
        <p:txBody>
          <a:bodyPr/>
          <a:lstStyle/>
          <a:p>
            <a:fld id="{C194BDB0-F4EA-4DD6-8281-CCE2440D0CE0}" type="slidenum">
              <a:rPr lang="en-GB" smtClean="0"/>
              <a:t>4</a:t>
            </a:fld>
            <a:endParaRPr lang="en-GB" dirty="0"/>
          </a:p>
        </p:txBody>
      </p:sp>
      <p:sp>
        <p:nvSpPr>
          <p:cNvPr id="3" name="Tijdelijke aanduiding voor inhoud 2">
            <a:extLst>
              <a:ext uri="{FF2B5EF4-FFF2-40B4-BE49-F238E27FC236}">
                <a16:creationId xmlns:a16="http://schemas.microsoft.com/office/drawing/2014/main" id="{66246689-3D23-649F-505D-67B180A32B9A}"/>
              </a:ext>
            </a:extLst>
          </p:cNvPr>
          <p:cNvSpPr txBox="1">
            <a:spLocks/>
          </p:cNvSpPr>
          <p:nvPr/>
        </p:nvSpPr>
        <p:spPr>
          <a:xfrm>
            <a:off x="758824" y="1306642"/>
            <a:ext cx="7556501" cy="2922458"/>
          </a:xfrm>
          <a:prstGeom prst="rect">
            <a:avLst/>
          </a:prstGeom>
        </p:spPr>
        <p:txBody>
          <a:bodyPr vert="horz" lIns="0" tIns="0" rIns="0" bIns="0" rtlCol="0">
            <a:noAutofit/>
          </a:bodyPr>
          <a:lstStyle>
            <a:lvl1pPr marL="0" indent="0" algn="l" defTabSz="685800" rtl="0" eaLnBrk="1" latinLnBrk="0" hangingPunct="1">
              <a:lnSpc>
                <a:spcPct val="100000"/>
              </a:lnSpc>
              <a:spcBef>
                <a:spcPts val="0"/>
              </a:spcBef>
              <a:buFont typeface="Arial" panose="020B0604020202020204" pitchFamily="34" charset="0"/>
              <a:buNone/>
              <a:defRPr sz="1950" kern="1200" baseline="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2"/>
            <a:r>
              <a:rPr lang="en-GB" sz="1950" dirty="0" err="1"/>
              <a:t>Markerless</a:t>
            </a:r>
            <a:r>
              <a:rPr lang="en-GB" sz="1950" dirty="0"/>
              <a:t> optical surface measurement</a:t>
            </a:r>
          </a:p>
          <a:p>
            <a:pPr lvl="2"/>
            <a:r>
              <a:rPr lang="en-GB" sz="1950" dirty="0"/>
              <a:t>No radiation or compression</a:t>
            </a:r>
          </a:p>
          <a:p>
            <a:pPr lvl="2"/>
            <a:r>
              <a:rPr lang="en-GB" sz="1950" dirty="0"/>
              <a:t>Deformation responses</a:t>
            </a:r>
          </a:p>
          <a:p>
            <a:pPr lvl="2"/>
            <a:r>
              <a:rPr lang="en-GB" sz="1950" dirty="0"/>
              <a:t>FEM </a:t>
            </a:r>
          </a:p>
        </p:txBody>
      </p:sp>
      <p:pic>
        <p:nvPicPr>
          <p:cNvPr id="6" name="Picture Placeholder 7" descr="A circular object with many lights&#10;&#10;AI-generated content may be incorrect.">
            <a:extLst>
              <a:ext uri="{FF2B5EF4-FFF2-40B4-BE49-F238E27FC236}">
                <a16:creationId xmlns:a16="http://schemas.microsoft.com/office/drawing/2014/main" id="{39F7FEA6-C26E-49B5-C9BF-27D7A36EC19B}"/>
              </a:ext>
            </a:extLst>
          </p:cNvPr>
          <p:cNvPicPr>
            <a:picLocks noChangeAspect="1"/>
          </p:cNvPicPr>
          <p:nvPr/>
        </p:nvPicPr>
        <p:blipFill>
          <a:blip r:embed="rId4"/>
          <a:srcRect l="17712" r="15255" b="2"/>
          <a:stretch>
            <a:fillRect/>
          </a:stretch>
        </p:blipFill>
        <p:spPr>
          <a:xfrm>
            <a:off x="5381420" y="914400"/>
            <a:ext cx="3762580" cy="3171351"/>
          </a:xfrm>
          <a:prstGeom prst="rect">
            <a:avLst/>
          </a:prstGeom>
          <a:noFill/>
        </p:spPr>
      </p:pic>
      <p:pic>
        <p:nvPicPr>
          <p:cNvPr id="11" name="Content Placeholder 6">
            <a:extLst>
              <a:ext uri="{FF2B5EF4-FFF2-40B4-BE49-F238E27FC236}">
                <a16:creationId xmlns:a16="http://schemas.microsoft.com/office/drawing/2014/main" id="{83A7FAD6-2A90-F60D-3B80-F664F644231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14426" y="3112253"/>
            <a:ext cx="3730180" cy="973498"/>
          </a:xfrm>
          <a:prstGeom prst="rect">
            <a:avLst/>
          </a:prstGeom>
        </p:spPr>
      </p:pic>
      <p:sp>
        <p:nvSpPr>
          <p:cNvPr id="12" name="TextBox 11">
            <a:extLst>
              <a:ext uri="{FF2B5EF4-FFF2-40B4-BE49-F238E27FC236}">
                <a16:creationId xmlns:a16="http://schemas.microsoft.com/office/drawing/2014/main" id="{DD51C641-4F80-C763-F861-8F01C16D567F}"/>
              </a:ext>
            </a:extLst>
          </p:cNvPr>
          <p:cNvSpPr txBox="1"/>
          <p:nvPr/>
        </p:nvSpPr>
        <p:spPr>
          <a:xfrm>
            <a:off x="7381081" y="4098668"/>
            <a:ext cx="1762919" cy="300082"/>
          </a:xfrm>
          <a:prstGeom prst="rect">
            <a:avLst/>
          </a:prstGeom>
          <a:noFill/>
        </p:spPr>
        <p:txBody>
          <a:bodyPr wrap="none" rtlCol="0">
            <a:spAutoFit/>
          </a:bodyPr>
          <a:lstStyle/>
          <a:p>
            <a:r>
              <a:rPr lang="en-US" dirty="0"/>
              <a:t>[4] Early Warning Scan</a:t>
            </a:r>
            <a:endParaRPr lang="en-NL" dirty="0"/>
          </a:p>
        </p:txBody>
      </p:sp>
    </p:spTree>
    <p:extLst>
      <p:ext uri="{BB962C8B-B14F-4D97-AF65-F5344CB8AC3E}">
        <p14:creationId xmlns:p14="http://schemas.microsoft.com/office/powerpoint/2010/main" val="211748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581E7-DCD5-E482-9E20-4527637EF3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7A57A8-C2C7-6A7E-CE09-1B3C773506CE}"/>
              </a:ext>
            </a:extLst>
          </p:cNvPr>
          <p:cNvSpPr>
            <a:spLocks noGrp="1"/>
          </p:cNvSpPr>
          <p:nvPr>
            <p:ph type="title"/>
          </p:nvPr>
        </p:nvSpPr>
        <p:spPr/>
        <p:txBody>
          <a:bodyPr/>
          <a:lstStyle/>
          <a:p>
            <a:r>
              <a:rPr lang="en-US" dirty="0"/>
              <a:t>Previous work</a:t>
            </a:r>
            <a:endParaRPr lang="en-NL" dirty="0"/>
          </a:p>
        </p:txBody>
      </p:sp>
      <p:sp>
        <p:nvSpPr>
          <p:cNvPr id="4" name="Footer Placeholder 3">
            <a:extLst>
              <a:ext uri="{FF2B5EF4-FFF2-40B4-BE49-F238E27FC236}">
                <a16:creationId xmlns:a16="http://schemas.microsoft.com/office/drawing/2014/main" id="{4CF4FBCC-2662-05AB-C893-121FD7A7BFE0}"/>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F648F072-D4C7-8F45-E396-A28198F6F76D}"/>
              </a:ext>
            </a:extLst>
          </p:cNvPr>
          <p:cNvSpPr>
            <a:spLocks noGrp="1"/>
          </p:cNvSpPr>
          <p:nvPr>
            <p:ph type="sldNum" sz="quarter" idx="12"/>
          </p:nvPr>
        </p:nvSpPr>
        <p:spPr/>
        <p:txBody>
          <a:bodyPr/>
          <a:lstStyle/>
          <a:p>
            <a:fld id="{C194BDB0-F4EA-4DD6-8281-CCE2440D0CE0}" type="slidenum">
              <a:rPr lang="en-GB" smtClean="0"/>
              <a:t>5</a:t>
            </a:fld>
            <a:endParaRPr lang="en-GB" dirty="0"/>
          </a:p>
        </p:txBody>
      </p:sp>
      <p:sp>
        <p:nvSpPr>
          <p:cNvPr id="3" name="Tijdelijke aanduiding voor inhoud 2">
            <a:extLst>
              <a:ext uri="{FF2B5EF4-FFF2-40B4-BE49-F238E27FC236}">
                <a16:creationId xmlns:a16="http://schemas.microsoft.com/office/drawing/2014/main" id="{8EC14813-F7A2-388A-82DB-8656E549AC50}"/>
              </a:ext>
            </a:extLst>
          </p:cNvPr>
          <p:cNvSpPr txBox="1">
            <a:spLocks/>
          </p:cNvSpPr>
          <p:nvPr/>
        </p:nvSpPr>
        <p:spPr>
          <a:xfrm>
            <a:off x="758824" y="1306642"/>
            <a:ext cx="7556501" cy="2922458"/>
          </a:xfrm>
          <a:prstGeom prst="rect">
            <a:avLst/>
          </a:prstGeom>
        </p:spPr>
        <p:txBody>
          <a:bodyPr vert="horz" lIns="0" tIns="0" rIns="0" bIns="0" rtlCol="0">
            <a:noAutofit/>
          </a:bodyPr>
          <a:lstStyle>
            <a:lvl1pPr marL="0" indent="0" algn="l" defTabSz="685800" rtl="0" eaLnBrk="1" latinLnBrk="0" hangingPunct="1">
              <a:lnSpc>
                <a:spcPct val="100000"/>
              </a:lnSpc>
              <a:spcBef>
                <a:spcPts val="0"/>
              </a:spcBef>
              <a:buFont typeface="Arial" panose="020B0604020202020204" pitchFamily="34" charset="0"/>
              <a:buNone/>
              <a:defRPr sz="1950" kern="1200" baseline="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2"/>
            <a:endParaRPr lang="en-GB" dirty="0"/>
          </a:p>
        </p:txBody>
      </p:sp>
      <p:pic>
        <p:nvPicPr>
          <p:cNvPr id="11" name="Content Placeholder 10">
            <a:extLst>
              <a:ext uri="{FF2B5EF4-FFF2-40B4-BE49-F238E27FC236}">
                <a16:creationId xmlns:a16="http://schemas.microsoft.com/office/drawing/2014/main" id="{FAA039F2-358D-57BE-D942-94A2EB5868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5199" y="1245299"/>
            <a:ext cx="4553876" cy="3027668"/>
          </a:xfrm>
          <a:prstGeom prst="rect">
            <a:avLst/>
          </a:prstGeom>
        </p:spPr>
      </p:pic>
      <p:pic>
        <p:nvPicPr>
          <p:cNvPr id="14" name="Picture 13">
            <a:extLst>
              <a:ext uri="{FF2B5EF4-FFF2-40B4-BE49-F238E27FC236}">
                <a16:creationId xmlns:a16="http://schemas.microsoft.com/office/drawing/2014/main" id="{E0B92B33-9DF0-6166-52C3-5D659B6D5A71}"/>
              </a:ext>
            </a:extLst>
          </p:cNvPr>
          <p:cNvPicPr>
            <a:picLocks noChangeAspect="1"/>
          </p:cNvPicPr>
          <p:nvPr/>
        </p:nvPicPr>
        <p:blipFill>
          <a:blip r:embed="rId4"/>
          <a:stretch>
            <a:fillRect/>
          </a:stretch>
        </p:blipFill>
        <p:spPr>
          <a:xfrm>
            <a:off x="4957916" y="2772861"/>
            <a:ext cx="4009916" cy="1746835"/>
          </a:xfrm>
          <a:prstGeom prst="rect">
            <a:avLst/>
          </a:prstGeom>
        </p:spPr>
      </p:pic>
      <p:pic>
        <p:nvPicPr>
          <p:cNvPr id="15" name="Picture 14" descr="The Breasts - Structure - Vasculature - TeachMeAnatomy">
            <a:extLst>
              <a:ext uri="{FF2B5EF4-FFF2-40B4-BE49-F238E27FC236}">
                <a16:creationId xmlns:a16="http://schemas.microsoft.com/office/drawing/2014/main" id="{AAA71E59-B33F-F469-2399-7D79009DAC5D}"/>
              </a:ext>
            </a:extLst>
          </p:cNvPr>
          <p:cNvPicPr>
            <a:picLocks noChangeAspect="1"/>
          </p:cNvPicPr>
          <p:nvPr/>
        </p:nvPicPr>
        <p:blipFill>
          <a:blip r:embed="rId5"/>
          <a:stretch>
            <a:fillRect/>
          </a:stretch>
        </p:blipFill>
        <p:spPr>
          <a:xfrm>
            <a:off x="5883760" y="44796"/>
            <a:ext cx="2431565" cy="2401007"/>
          </a:xfrm>
          <a:prstGeom prst="rect">
            <a:avLst/>
          </a:prstGeom>
        </p:spPr>
      </p:pic>
      <p:pic>
        <p:nvPicPr>
          <p:cNvPr id="12" name="Picture 11">
            <a:extLst>
              <a:ext uri="{FF2B5EF4-FFF2-40B4-BE49-F238E27FC236}">
                <a16:creationId xmlns:a16="http://schemas.microsoft.com/office/drawing/2014/main" id="{CEB56406-65F7-60C4-D063-C0C92D6579FA}"/>
              </a:ext>
            </a:extLst>
          </p:cNvPr>
          <p:cNvPicPr>
            <a:picLocks noChangeAspect="1"/>
          </p:cNvPicPr>
          <p:nvPr/>
        </p:nvPicPr>
        <p:blipFill>
          <a:blip r:embed="rId6"/>
          <a:stretch>
            <a:fillRect/>
          </a:stretch>
        </p:blipFill>
        <p:spPr>
          <a:xfrm>
            <a:off x="2592136" y="1232635"/>
            <a:ext cx="4169907" cy="2990104"/>
          </a:xfrm>
          <a:prstGeom prst="rect">
            <a:avLst/>
          </a:prstGeom>
        </p:spPr>
      </p:pic>
      <p:sp>
        <p:nvSpPr>
          <p:cNvPr id="16" name="TextBox 15">
            <a:extLst>
              <a:ext uri="{FF2B5EF4-FFF2-40B4-BE49-F238E27FC236}">
                <a16:creationId xmlns:a16="http://schemas.microsoft.com/office/drawing/2014/main" id="{40F9ED52-ABE7-F4E3-2BCB-2999070746AA}"/>
              </a:ext>
            </a:extLst>
          </p:cNvPr>
          <p:cNvSpPr txBox="1"/>
          <p:nvPr/>
        </p:nvSpPr>
        <p:spPr>
          <a:xfrm>
            <a:off x="6809897" y="2402893"/>
            <a:ext cx="1521379" cy="276999"/>
          </a:xfrm>
          <a:prstGeom prst="rect">
            <a:avLst/>
          </a:prstGeom>
          <a:noFill/>
        </p:spPr>
        <p:txBody>
          <a:bodyPr wrap="none" rtlCol="0">
            <a:spAutoFit/>
          </a:bodyPr>
          <a:lstStyle/>
          <a:p>
            <a:r>
              <a:rPr lang="en-US" sz="1200" dirty="0"/>
              <a:t>[5] </a:t>
            </a:r>
            <a:r>
              <a:rPr lang="en-NL" sz="1200" dirty="0" err="1"/>
              <a:t>TeachMeAnatomy</a:t>
            </a:r>
            <a:endParaRPr lang="en-NL" dirty="0"/>
          </a:p>
        </p:txBody>
      </p:sp>
    </p:spTree>
    <p:extLst>
      <p:ext uri="{BB962C8B-B14F-4D97-AF65-F5344CB8AC3E}">
        <p14:creationId xmlns:p14="http://schemas.microsoft.com/office/powerpoint/2010/main" val="3960774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09C42-A77E-1E9D-E413-2DDB8AA306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AE5F43-0017-1CC4-75E8-722EF87F1995}"/>
              </a:ext>
            </a:extLst>
          </p:cNvPr>
          <p:cNvSpPr>
            <a:spLocks noGrp="1"/>
          </p:cNvSpPr>
          <p:nvPr>
            <p:ph type="title"/>
          </p:nvPr>
        </p:nvSpPr>
        <p:spPr/>
        <p:txBody>
          <a:bodyPr/>
          <a:lstStyle/>
          <a:p>
            <a:r>
              <a:rPr lang="en-US" dirty="0"/>
              <a:t>Project Aim and Scope</a:t>
            </a:r>
            <a:endParaRPr lang="en-NL" dirty="0"/>
          </a:p>
        </p:txBody>
      </p:sp>
      <p:sp>
        <p:nvSpPr>
          <p:cNvPr id="4" name="Footer Placeholder 3">
            <a:extLst>
              <a:ext uri="{FF2B5EF4-FFF2-40B4-BE49-F238E27FC236}">
                <a16:creationId xmlns:a16="http://schemas.microsoft.com/office/drawing/2014/main" id="{BB2FA288-F806-8736-E415-2800F165DCA7}"/>
              </a:ext>
            </a:extLst>
          </p:cNvPr>
          <p:cNvSpPr>
            <a:spLocks noGrp="1"/>
          </p:cNvSpPr>
          <p:nvPr>
            <p:ph type="ftr" sz="quarter" idx="11"/>
          </p:nvPr>
        </p:nvSpPr>
        <p:spPr/>
        <p:txBody>
          <a:bodyPr/>
          <a:lstStyle/>
          <a:p>
            <a:r>
              <a:rPr lang="en-US" dirty="0"/>
              <a:t>COMSOL FEM Breast Model for Early Warning Scan</a:t>
            </a:r>
            <a:endParaRPr lang="en-GB" dirty="0"/>
          </a:p>
        </p:txBody>
      </p:sp>
      <p:sp>
        <p:nvSpPr>
          <p:cNvPr id="5" name="Slide Number Placeholder 4">
            <a:extLst>
              <a:ext uri="{FF2B5EF4-FFF2-40B4-BE49-F238E27FC236}">
                <a16:creationId xmlns:a16="http://schemas.microsoft.com/office/drawing/2014/main" id="{2A59C448-C942-EFE3-F328-8770623495F7}"/>
              </a:ext>
            </a:extLst>
          </p:cNvPr>
          <p:cNvSpPr>
            <a:spLocks noGrp="1"/>
          </p:cNvSpPr>
          <p:nvPr>
            <p:ph type="sldNum" sz="quarter" idx="12"/>
          </p:nvPr>
        </p:nvSpPr>
        <p:spPr/>
        <p:txBody>
          <a:bodyPr/>
          <a:lstStyle/>
          <a:p>
            <a:fld id="{C194BDB0-F4EA-4DD6-8281-CCE2440D0CE0}" type="slidenum">
              <a:rPr lang="en-GB" smtClean="0"/>
              <a:t>6</a:t>
            </a:fld>
            <a:endParaRPr lang="en-GB" dirty="0"/>
          </a:p>
        </p:txBody>
      </p:sp>
      <p:sp>
        <p:nvSpPr>
          <p:cNvPr id="3" name="Tijdelijke aanduiding voor inhoud 2">
            <a:extLst>
              <a:ext uri="{FF2B5EF4-FFF2-40B4-BE49-F238E27FC236}">
                <a16:creationId xmlns:a16="http://schemas.microsoft.com/office/drawing/2014/main" id="{2BA83673-F26E-838C-D2EB-9900255844FC}"/>
              </a:ext>
            </a:extLst>
          </p:cNvPr>
          <p:cNvSpPr txBox="1">
            <a:spLocks/>
          </p:cNvSpPr>
          <p:nvPr/>
        </p:nvSpPr>
        <p:spPr>
          <a:xfrm>
            <a:off x="758824" y="1306642"/>
            <a:ext cx="7556501" cy="2922458"/>
          </a:xfrm>
          <a:prstGeom prst="rect">
            <a:avLst/>
          </a:prstGeom>
        </p:spPr>
        <p:txBody>
          <a:bodyPr vert="horz" lIns="0" tIns="0" rIns="0" bIns="0" rtlCol="0">
            <a:noAutofit/>
          </a:bodyPr>
          <a:lstStyle>
            <a:lvl1pPr marL="0" indent="0" algn="l" defTabSz="685800" rtl="0" eaLnBrk="1" latinLnBrk="0" hangingPunct="1">
              <a:lnSpc>
                <a:spcPct val="100000"/>
              </a:lnSpc>
              <a:spcBef>
                <a:spcPts val="0"/>
              </a:spcBef>
              <a:buFont typeface="Arial" panose="020B0604020202020204" pitchFamily="34" charset="0"/>
              <a:buNone/>
              <a:defRPr sz="1950" kern="1200" baseline="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2"/>
            <a:r>
              <a:rPr lang="en-GB" sz="1950" dirty="0"/>
              <a:t>Making a more realistic </a:t>
            </a:r>
            <a:br>
              <a:rPr lang="en-GB" sz="1950" dirty="0"/>
            </a:br>
            <a:r>
              <a:rPr lang="en-GB" sz="1950" dirty="0"/>
              <a:t>FEM breast model</a:t>
            </a:r>
          </a:p>
          <a:p>
            <a:pPr lvl="3"/>
            <a:r>
              <a:rPr lang="en-GB" dirty="0"/>
              <a:t>Anatomical definitions</a:t>
            </a:r>
          </a:p>
          <a:p>
            <a:pPr lvl="3"/>
            <a:r>
              <a:rPr lang="en-GB" dirty="0"/>
              <a:t>Mechanical support</a:t>
            </a:r>
            <a:br>
              <a:rPr lang="en-GB" dirty="0"/>
            </a:br>
            <a:endParaRPr lang="en-GB" dirty="0"/>
          </a:p>
          <a:p>
            <a:pPr lvl="2"/>
            <a:r>
              <a:rPr lang="en-GB" sz="1950" dirty="0"/>
              <a:t>FEBio </a:t>
            </a:r>
            <a:r>
              <a:rPr lang="en-GB" sz="1950" dirty="0">
                <a:sym typeface="Wingdings" panose="05000000000000000000" pitchFamily="2" charset="2"/>
              </a:rPr>
              <a:t> </a:t>
            </a:r>
            <a:r>
              <a:rPr lang="en-GB" sz="1950" dirty="0"/>
              <a:t>COMSOL</a:t>
            </a:r>
          </a:p>
          <a:p>
            <a:pPr lvl="2"/>
            <a:endParaRPr lang="en-GB" sz="1950" dirty="0"/>
          </a:p>
          <a:p>
            <a:pPr lvl="2"/>
            <a:endParaRPr lang="en-GB" sz="1950" dirty="0"/>
          </a:p>
        </p:txBody>
      </p:sp>
      <p:pic>
        <p:nvPicPr>
          <p:cNvPr id="11" name="Picture 10">
            <a:extLst>
              <a:ext uri="{FF2B5EF4-FFF2-40B4-BE49-F238E27FC236}">
                <a16:creationId xmlns:a16="http://schemas.microsoft.com/office/drawing/2014/main" id="{3F9C93FC-329A-33BB-CAF3-E9ABA5E9686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14452" y="871241"/>
            <a:ext cx="4929546" cy="3697159"/>
          </a:xfrm>
          <a:prstGeom prst="rect">
            <a:avLst/>
          </a:prstGeom>
        </p:spPr>
      </p:pic>
    </p:spTree>
    <p:extLst>
      <p:ext uri="{BB962C8B-B14F-4D97-AF65-F5344CB8AC3E}">
        <p14:creationId xmlns:p14="http://schemas.microsoft.com/office/powerpoint/2010/main" val="2588845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2DE8F-7053-A298-C60A-746CE772E1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FB94A0-19F5-9CE4-893F-8C333F953B5B}"/>
              </a:ext>
            </a:extLst>
          </p:cNvPr>
          <p:cNvSpPr>
            <a:spLocks noGrp="1"/>
          </p:cNvSpPr>
          <p:nvPr>
            <p:ph type="title"/>
          </p:nvPr>
        </p:nvSpPr>
        <p:spPr/>
        <p:txBody>
          <a:bodyPr/>
          <a:lstStyle/>
          <a:p>
            <a:r>
              <a:rPr lang="en-US" dirty="0"/>
              <a:t>COMSOL pipeline</a:t>
            </a:r>
            <a:endParaRPr lang="en-NL" dirty="0"/>
          </a:p>
        </p:txBody>
      </p:sp>
      <p:sp>
        <p:nvSpPr>
          <p:cNvPr id="4" name="Footer Placeholder 3">
            <a:extLst>
              <a:ext uri="{FF2B5EF4-FFF2-40B4-BE49-F238E27FC236}">
                <a16:creationId xmlns:a16="http://schemas.microsoft.com/office/drawing/2014/main" id="{36077069-FFDB-E707-F623-89A902921C11}"/>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BE7FD275-8B08-FA12-6E8F-9D02D43A80C7}"/>
              </a:ext>
            </a:extLst>
          </p:cNvPr>
          <p:cNvSpPr>
            <a:spLocks noGrp="1"/>
          </p:cNvSpPr>
          <p:nvPr>
            <p:ph type="sldNum" sz="quarter" idx="12"/>
          </p:nvPr>
        </p:nvSpPr>
        <p:spPr/>
        <p:txBody>
          <a:bodyPr/>
          <a:lstStyle/>
          <a:p>
            <a:fld id="{C194BDB0-F4EA-4DD6-8281-CCE2440D0CE0}" type="slidenum">
              <a:rPr lang="en-GB" smtClean="0"/>
              <a:t>7</a:t>
            </a:fld>
            <a:endParaRPr lang="en-GB" dirty="0"/>
          </a:p>
        </p:txBody>
      </p:sp>
      <p:pic>
        <p:nvPicPr>
          <p:cNvPr id="8" name="Picture 7">
            <a:extLst>
              <a:ext uri="{FF2B5EF4-FFF2-40B4-BE49-F238E27FC236}">
                <a16:creationId xmlns:a16="http://schemas.microsoft.com/office/drawing/2014/main" id="{E4E82E92-BDEF-D2CE-29A9-041B86572F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058" y="1156037"/>
            <a:ext cx="8911883" cy="2676043"/>
          </a:xfrm>
          <a:prstGeom prst="rect">
            <a:avLst/>
          </a:prstGeom>
        </p:spPr>
      </p:pic>
    </p:spTree>
    <p:extLst>
      <p:ext uri="{BB962C8B-B14F-4D97-AF65-F5344CB8AC3E}">
        <p14:creationId xmlns:p14="http://schemas.microsoft.com/office/powerpoint/2010/main" val="876859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94554-99F1-B352-7F02-48F3A4BCD446}"/>
            </a:ext>
          </a:extLst>
        </p:cNvPr>
        <p:cNvGrpSpPr/>
        <p:nvPr/>
      </p:nvGrpSpPr>
      <p:grpSpPr>
        <a:xfrm>
          <a:off x="0" y="0"/>
          <a:ext cx="0" cy="0"/>
          <a:chOff x="0" y="0"/>
          <a:chExt cx="0" cy="0"/>
        </a:xfrm>
      </p:grpSpPr>
      <p:pic>
        <p:nvPicPr>
          <p:cNvPr id="23" name="Picture 22">
            <a:extLst>
              <a:ext uri="{FF2B5EF4-FFF2-40B4-BE49-F238E27FC236}">
                <a16:creationId xmlns:a16="http://schemas.microsoft.com/office/drawing/2014/main" id="{F90A6D14-7378-CC4B-CE28-F4D96C88DCDF}"/>
              </a:ext>
            </a:extLst>
          </p:cNvPr>
          <p:cNvPicPr>
            <a:picLocks noChangeAspect="1"/>
          </p:cNvPicPr>
          <p:nvPr/>
        </p:nvPicPr>
        <p:blipFill>
          <a:blip r:embed="rId3"/>
          <a:stretch>
            <a:fillRect/>
          </a:stretch>
        </p:blipFill>
        <p:spPr>
          <a:xfrm>
            <a:off x="4577054" y="-182880"/>
            <a:ext cx="4835887" cy="2467688"/>
          </a:xfrm>
          <a:prstGeom prst="rect">
            <a:avLst/>
          </a:prstGeom>
        </p:spPr>
      </p:pic>
      <p:sp>
        <p:nvSpPr>
          <p:cNvPr id="4" name="Footer Placeholder 3">
            <a:extLst>
              <a:ext uri="{FF2B5EF4-FFF2-40B4-BE49-F238E27FC236}">
                <a16:creationId xmlns:a16="http://schemas.microsoft.com/office/drawing/2014/main" id="{16EBC465-EFED-4179-1CE1-9B12734E50B6}"/>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54E07B1B-E95B-F57E-F359-78F17C1A7F75}"/>
              </a:ext>
            </a:extLst>
          </p:cNvPr>
          <p:cNvSpPr>
            <a:spLocks noGrp="1"/>
          </p:cNvSpPr>
          <p:nvPr>
            <p:ph type="sldNum" sz="quarter" idx="12"/>
          </p:nvPr>
        </p:nvSpPr>
        <p:spPr/>
        <p:txBody>
          <a:bodyPr/>
          <a:lstStyle/>
          <a:p>
            <a:fld id="{C194BDB0-F4EA-4DD6-8281-CCE2440D0CE0}" type="slidenum">
              <a:rPr lang="en-GB" smtClean="0"/>
              <a:t>8</a:t>
            </a:fld>
            <a:endParaRPr lang="en-GB" dirty="0"/>
          </a:p>
        </p:txBody>
      </p:sp>
      <p:pic>
        <p:nvPicPr>
          <p:cNvPr id="15" name="Picture 14">
            <a:extLst>
              <a:ext uri="{FF2B5EF4-FFF2-40B4-BE49-F238E27FC236}">
                <a16:creationId xmlns:a16="http://schemas.microsoft.com/office/drawing/2014/main" id="{71D5FB4C-2B09-B9CA-DC6E-44B5C078952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05" y="-77206"/>
            <a:ext cx="4581553" cy="2284808"/>
          </a:xfrm>
          <a:prstGeom prst="rect">
            <a:avLst/>
          </a:prstGeom>
        </p:spPr>
      </p:pic>
      <p:pic>
        <p:nvPicPr>
          <p:cNvPr id="19" name="Picture 18">
            <a:extLst>
              <a:ext uri="{FF2B5EF4-FFF2-40B4-BE49-F238E27FC236}">
                <a16:creationId xmlns:a16="http://schemas.microsoft.com/office/drawing/2014/main" id="{B4BBB7F3-3A9D-E4A4-1C07-3264B88FEC3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84751" y="2207602"/>
            <a:ext cx="4759249" cy="2364996"/>
          </a:xfrm>
          <a:prstGeom prst="rect">
            <a:avLst/>
          </a:prstGeom>
        </p:spPr>
      </p:pic>
      <p:pic>
        <p:nvPicPr>
          <p:cNvPr id="25" name="Picture 24">
            <a:extLst>
              <a:ext uri="{FF2B5EF4-FFF2-40B4-BE49-F238E27FC236}">
                <a16:creationId xmlns:a16="http://schemas.microsoft.com/office/drawing/2014/main" id="{1ACAA34F-03A8-1FC0-2D22-12D05BFA7B2F}"/>
              </a:ext>
            </a:extLst>
          </p:cNvPr>
          <p:cNvPicPr>
            <a:picLocks noChangeAspect="1"/>
          </p:cNvPicPr>
          <p:nvPr/>
        </p:nvPicPr>
        <p:blipFill>
          <a:blip r:embed="rId6"/>
          <a:stretch>
            <a:fillRect/>
          </a:stretch>
        </p:blipFill>
        <p:spPr>
          <a:xfrm>
            <a:off x="-68261" y="2193184"/>
            <a:ext cx="4635209" cy="2371501"/>
          </a:xfrm>
          <a:prstGeom prst="rect">
            <a:avLst/>
          </a:prstGeom>
        </p:spPr>
      </p:pic>
      <p:pic>
        <p:nvPicPr>
          <p:cNvPr id="26" name="Picture 25">
            <a:extLst>
              <a:ext uri="{FF2B5EF4-FFF2-40B4-BE49-F238E27FC236}">
                <a16:creationId xmlns:a16="http://schemas.microsoft.com/office/drawing/2014/main" id="{A18C0744-D0FD-3DC3-0884-CDD450AE92F4}"/>
              </a:ext>
            </a:extLst>
          </p:cNvPr>
          <p:cNvPicPr>
            <a:picLocks noChangeAspect="1"/>
          </p:cNvPicPr>
          <p:nvPr/>
        </p:nvPicPr>
        <p:blipFill>
          <a:blip r:embed="rId7" cstate="print">
            <a:extLst>
              <a:ext uri="{28A0092B-C50C-407E-A947-70E740481C1C}">
                <a14:useLocalDpi xmlns:a14="http://schemas.microsoft.com/office/drawing/2010/main" val="0"/>
              </a:ext>
            </a:extLst>
          </a:blip>
          <a:srcRect l="43879" r="6070"/>
          <a:stretch>
            <a:fillRect/>
          </a:stretch>
        </p:blipFill>
        <p:spPr>
          <a:xfrm>
            <a:off x="2327183" y="2171240"/>
            <a:ext cx="2239766" cy="2401358"/>
          </a:xfrm>
          <a:prstGeom prst="rect">
            <a:avLst/>
          </a:prstGeom>
        </p:spPr>
      </p:pic>
      <p:pic>
        <p:nvPicPr>
          <p:cNvPr id="27" name="Content Placeholder 6">
            <a:extLst>
              <a:ext uri="{FF2B5EF4-FFF2-40B4-BE49-F238E27FC236}">
                <a16:creationId xmlns:a16="http://schemas.microsoft.com/office/drawing/2014/main" id="{9E685DCA-FBBC-4981-A581-02549A8EA4D2}"/>
              </a:ext>
            </a:extLst>
          </p:cNvPr>
          <p:cNvPicPr>
            <a:picLocks noGrp="1" noChangeAspect="1"/>
          </p:cNvPicPr>
          <p:nvPr>
            <p:ph idx="1"/>
          </p:nvPr>
        </p:nvPicPr>
        <p:blipFill>
          <a:blip r:embed="rId8" cstate="print">
            <a:extLst>
              <a:ext uri="{28A0092B-C50C-407E-A947-70E740481C1C}">
                <a14:useLocalDpi xmlns:a14="http://schemas.microsoft.com/office/drawing/2010/main" val="0"/>
              </a:ext>
            </a:extLst>
          </a:blip>
          <a:stretch>
            <a:fillRect/>
          </a:stretch>
        </p:blipFill>
        <p:spPr>
          <a:xfrm>
            <a:off x="7054065" y="0"/>
            <a:ext cx="2205019" cy="2168258"/>
          </a:xfrm>
          <a:prstGeom prst="rect">
            <a:avLst/>
          </a:prstGeom>
        </p:spPr>
      </p:pic>
      <p:cxnSp>
        <p:nvCxnSpPr>
          <p:cNvPr id="29" name="Straight Connector 28">
            <a:extLst>
              <a:ext uri="{FF2B5EF4-FFF2-40B4-BE49-F238E27FC236}">
                <a16:creationId xmlns:a16="http://schemas.microsoft.com/office/drawing/2014/main" id="{85D65635-874C-683C-E152-35DE6263179D}"/>
              </a:ext>
            </a:extLst>
          </p:cNvPr>
          <p:cNvCxnSpPr>
            <a:cxnSpLocks/>
          </p:cNvCxnSpPr>
          <p:nvPr/>
        </p:nvCxnSpPr>
        <p:spPr>
          <a:xfrm>
            <a:off x="4566948" y="-182880"/>
            <a:ext cx="0" cy="4747565"/>
          </a:xfrm>
          <a:prstGeom prst="line">
            <a:avLst/>
          </a:prstGeom>
          <a:ln w="57150">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cxnSp>
        <p:nvCxnSpPr>
          <p:cNvPr id="32" name="Straight Connector 31">
            <a:extLst>
              <a:ext uri="{FF2B5EF4-FFF2-40B4-BE49-F238E27FC236}">
                <a16:creationId xmlns:a16="http://schemas.microsoft.com/office/drawing/2014/main" id="{EEADBBEE-F2DD-0C9F-A422-E63B19EA4BFC}"/>
              </a:ext>
            </a:extLst>
          </p:cNvPr>
          <p:cNvCxnSpPr/>
          <p:nvPr/>
        </p:nvCxnSpPr>
        <p:spPr>
          <a:xfrm flipV="1">
            <a:off x="-28173" y="2171240"/>
            <a:ext cx="9327345" cy="36362"/>
          </a:xfrm>
          <a:prstGeom prst="line">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6433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BD9DF-0201-2814-F1F6-AC0ABCAD037D}"/>
              </a:ext>
            </a:extLst>
          </p:cNvPr>
          <p:cNvSpPr>
            <a:spLocks noGrp="1"/>
          </p:cNvSpPr>
          <p:nvPr>
            <p:ph type="title"/>
          </p:nvPr>
        </p:nvSpPr>
        <p:spPr>
          <a:xfrm>
            <a:off x="470251" y="1700276"/>
            <a:ext cx="3958875" cy="1166696"/>
          </a:xfrm>
        </p:spPr>
        <p:txBody>
          <a:bodyPr anchor="t">
            <a:noAutofit/>
          </a:bodyPr>
          <a:lstStyle/>
          <a:p>
            <a:r>
              <a:rPr lang="en-US" sz="3200" b="1" dirty="0"/>
              <a:t>Anatomical Breast Model Improvements</a:t>
            </a:r>
            <a:endParaRPr lang="en-NL" sz="3200" b="1" dirty="0"/>
          </a:p>
        </p:txBody>
      </p:sp>
      <p:sp>
        <p:nvSpPr>
          <p:cNvPr id="13" name="Content Placeholder 2">
            <a:extLst>
              <a:ext uri="{FF2B5EF4-FFF2-40B4-BE49-F238E27FC236}">
                <a16:creationId xmlns:a16="http://schemas.microsoft.com/office/drawing/2014/main" id="{82BE80F5-5548-AFAF-2657-1C3D7996BCC3}"/>
              </a:ext>
            </a:extLst>
          </p:cNvPr>
          <p:cNvSpPr>
            <a:spLocks noGrp="1"/>
          </p:cNvSpPr>
          <p:nvPr>
            <p:ph sz="half" idx="1"/>
          </p:nvPr>
        </p:nvSpPr>
        <p:spPr>
          <a:xfrm>
            <a:off x="755650" y="1295401"/>
            <a:ext cx="3598863" cy="2933700"/>
          </a:xfrm>
        </p:spPr>
        <p:txBody>
          <a:bodyPr/>
          <a:lstStyle/>
          <a:p>
            <a:endParaRPr lang="en-US" dirty="0"/>
          </a:p>
        </p:txBody>
      </p:sp>
      <p:sp>
        <p:nvSpPr>
          <p:cNvPr id="4" name="Footer Placeholder 3">
            <a:extLst>
              <a:ext uri="{FF2B5EF4-FFF2-40B4-BE49-F238E27FC236}">
                <a16:creationId xmlns:a16="http://schemas.microsoft.com/office/drawing/2014/main" id="{618B23B0-ED42-E640-3B49-74EBAA4505D3}"/>
              </a:ext>
            </a:extLst>
          </p:cNvPr>
          <p:cNvSpPr>
            <a:spLocks noGrp="1"/>
          </p:cNvSpPr>
          <p:nvPr>
            <p:ph type="ftr" sz="quarter" idx="11"/>
          </p:nvPr>
        </p:nvSpPr>
        <p:spPr>
          <a:xfrm>
            <a:off x="1114426" y="4568400"/>
            <a:ext cx="7042149" cy="576000"/>
          </a:xfrm>
        </p:spPr>
        <p:txBody>
          <a:bodyPr anchor="ctr">
            <a:normAutofit/>
          </a:bodyPr>
          <a:lstStyle/>
          <a:p>
            <a:pPr>
              <a:spcAft>
                <a:spcPts val="600"/>
              </a:spcAft>
            </a:pPr>
            <a:r>
              <a:rPr lang="en-US"/>
              <a:t>COMSOL FEM Breast Model for Early Warning Scan</a:t>
            </a:r>
            <a:endParaRPr lang="en-GB"/>
          </a:p>
        </p:txBody>
      </p:sp>
      <p:sp>
        <p:nvSpPr>
          <p:cNvPr id="5" name="Slide Number Placeholder 4">
            <a:extLst>
              <a:ext uri="{FF2B5EF4-FFF2-40B4-BE49-F238E27FC236}">
                <a16:creationId xmlns:a16="http://schemas.microsoft.com/office/drawing/2014/main" id="{21A18BF6-0C9E-ED63-6833-7A764D3D9B93}"/>
              </a:ext>
            </a:extLst>
          </p:cNvPr>
          <p:cNvSpPr>
            <a:spLocks noGrp="1"/>
          </p:cNvSpPr>
          <p:nvPr>
            <p:ph type="sldNum" sz="quarter" idx="12"/>
          </p:nvPr>
        </p:nvSpPr>
        <p:spPr>
          <a:xfrm>
            <a:off x="2" y="4568400"/>
            <a:ext cx="1114424" cy="572286"/>
          </a:xfrm>
        </p:spPr>
        <p:txBody>
          <a:bodyPr anchor="ctr">
            <a:normAutofit/>
          </a:bodyPr>
          <a:lstStyle/>
          <a:p>
            <a:pPr>
              <a:spcAft>
                <a:spcPts val="600"/>
              </a:spcAft>
            </a:pPr>
            <a:fld id="{C194BDB0-F4EA-4DD6-8281-CCE2440D0CE0}" type="slidenum">
              <a:rPr lang="en-GB" smtClean="0"/>
              <a:pPr>
                <a:spcAft>
                  <a:spcPts val="600"/>
                </a:spcAft>
              </a:pPr>
              <a:t>9</a:t>
            </a:fld>
            <a:endParaRPr lang="en-GB"/>
          </a:p>
        </p:txBody>
      </p:sp>
      <p:pic>
        <p:nvPicPr>
          <p:cNvPr id="8" name="Picture 7" descr="3ds Human Female Breast Anatomy">
            <a:extLst>
              <a:ext uri="{FF2B5EF4-FFF2-40B4-BE49-F238E27FC236}">
                <a16:creationId xmlns:a16="http://schemas.microsoft.com/office/drawing/2014/main" id="{A7E14F75-B3DF-0C44-553E-39BA245960EC}"/>
              </a:ext>
            </a:extLst>
          </p:cNvPr>
          <p:cNvPicPr>
            <a:picLocks noChangeAspect="1"/>
          </p:cNvPicPr>
          <p:nvPr/>
        </p:nvPicPr>
        <p:blipFill>
          <a:blip r:embed="rId2"/>
          <a:srcRect l="3024" r="-1" b="-1"/>
          <a:stretch>
            <a:fillRect/>
          </a:stretch>
        </p:blipFill>
        <p:spPr>
          <a:xfrm>
            <a:off x="4714875" y="10"/>
            <a:ext cx="4429125" cy="4567228"/>
          </a:xfrm>
          <a:prstGeom prst="rect">
            <a:avLst/>
          </a:prstGeom>
          <a:noFill/>
        </p:spPr>
      </p:pic>
    </p:spTree>
    <p:extLst>
      <p:ext uri="{BB962C8B-B14F-4D97-AF65-F5344CB8AC3E}">
        <p14:creationId xmlns:p14="http://schemas.microsoft.com/office/powerpoint/2010/main" val="848155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DF117-C3B6-EF4F-B69C-24E62DD220AD}"/>
              </a:ext>
            </a:extLst>
          </p:cNvPr>
          <p:cNvSpPr>
            <a:spLocks noGrp="1"/>
          </p:cNvSpPr>
          <p:nvPr>
            <p:ph type="title"/>
          </p:nvPr>
        </p:nvSpPr>
        <p:spPr/>
        <p:txBody>
          <a:bodyPr/>
          <a:lstStyle/>
          <a:p>
            <a:r>
              <a:rPr lang="en-US" dirty="0"/>
              <a:t>Chest wall Geometry</a:t>
            </a:r>
            <a:endParaRPr lang="en-NL" dirty="0"/>
          </a:p>
        </p:txBody>
      </p:sp>
      <p:sp>
        <p:nvSpPr>
          <p:cNvPr id="3" name="Content Placeholder 2">
            <a:extLst>
              <a:ext uri="{FF2B5EF4-FFF2-40B4-BE49-F238E27FC236}">
                <a16:creationId xmlns:a16="http://schemas.microsoft.com/office/drawing/2014/main" id="{638CF317-10F1-8A14-7A42-F48A7FB8781F}"/>
              </a:ext>
            </a:extLst>
          </p:cNvPr>
          <p:cNvSpPr>
            <a:spLocks noGrp="1"/>
          </p:cNvSpPr>
          <p:nvPr>
            <p:ph idx="1"/>
          </p:nvPr>
        </p:nvSpPr>
        <p:spPr>
          <a:xfrm>
            <a:off x="758824" y="1197351"/>
            <a:ext cx="7556501" cy="2922458"/>
          </a:xfrm>
        </p:spPr>
        <p:txBody>
          <a:bodyPr/>
          <a:lstStyle/>
          <a:p>
            <a:pPr marL="342900" indent="-342900">
              <a:buFont typeface="Arial" panose="020B0604020202020204" pitchFamily="34" charset="0"/>
              <a:buChar char="•"/>
            </a:pPr>
            <a:r>
              <a:rPr lang="en-US" dirty="0"/>
              <a:t>Curved posterior support</a:t>
            </a:r>
          </a:p>
          <a:p>
            <a:pPr marL="523875" lvl="2" indent="-342900"/>
            <a:r>
              <a:rPr lang="en-US" dirty="0"/>
              <a:t>Transversal</a:t>
            </a:r>
          </a:p>
          <a:p>
            <a:pPr marL="523875" lvl="2" indent="-342900"/>
            <a:r>
              <a:rPr lang="en-US" dirty="0"/>
              <a:t>Sagittal</a:t>
            </a:r>
          </a:p>
          <a:p>
            <a:pPr lvl="2" indent="0">
              <a:buNone/>
            </a:pPr>
            <a:endParaRPr lang="en-US" dirty="0"/>
          </a:p>
          <a:p>
            <a:pPr marL="342900" indent="-342900">
              <a:buFont typeface="Arial" panose="020B0604020202020204" pitchFamily="34" charset="0"/>
              <a:buChar char="•"/>
            </a:pPr>
            <a:r>
              <a:rPr lang="en-US" dirty="0"/>
              <a:t>Cilinder</a:t>
            </a:r>
          </a:p>
          <a:p>
            <a:pPr marL="523875" lvl="2" indent="-342900"/>
            <a:r>
              <a:rPr lang="en-US" dirty="0"/>
              <a:t>Curve radius</a:t>
            </a:r>
          </a:p>
          <a:p>
            <a:pPr marL="523875" lvl="2" indent="-342900"/>
            <a:r>
              <a:rPr lang="en-US" dirty="0"/>
              <a:t>X-offset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Volume preserving</a:t>
            </a:r>
          </a:p>
          <a:p>
            <a:pPr marL="523875" lvl="2" indent="-342900"/>
            <a:r>
              <a:rPr lang="en-US" dirty="0"/>
              <a:t>585 ml</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+55mm transverse-offset</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p>
          <a:p>
            <a:endParaRPr lang="en-US" dirty="0"/>
          </a:p>
          <a:p>
            <a:endParaRPr lang="en-US" dirty="0"/>
          </a:p>
        </p:txBody>
      </p:sp>
      <p:sp>
        <p:nvSpPr>
          <p:cNvPr id="4" name="Footer Placeholder 3">
            <a:extLst>
              <a:ext uri="{FF2B5EF4-FFF2-40B4-BE49-F238E27FC236}">
                <a16:creationId xmlns:a16="http://schemas.microsoft.com/office/drawing/2014/main" id="{CFBDE639-A7D5-50BE-545B-4C6E67EDD064}"/>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8B87C390-463D-A257-659E-4D714FDD900A}"/>
              </a:ext>
            </a:extLst>
          </p:cNvPr>
          <p:cNvSpPr>
            <a:spLocks noGrp="1"/>
          </p:cNvSpPr>
          <p:nvPr>
            <p:ph type="sldNum" sz="quarter" idx="12"/>
          </p:nvPr>
        </p:nvSpPr>
        <p:spPr/>
        <p:txBody>
          <a:bodyPr/>
          <a:lstStyle/>
          <a:p>
            <a:fld id="{C194BDB0-F4EA-4DD6-8281-CCE2440D0CE0}" type="slidenum">
              <a:rPr lang="en-GB" smtClean="0"/>
              <a:t>10</a:t>
            </a:fld>
            <a:endParaRPr lang="en-GB" dirty="0"/>
          </a:p>
        </p:txBody>
      </p:sp>
      <p:pic>
        <p:nvPicPr>
          <p:cNvPr id="6" name="Picture 5">
            <a:extLst>
              <a:ext uri="{FF2B5EF4-FFF2-40B4-BE49-F238E27FC236}">
                <a16:creationId xmlns:a16="http://schemas.microsoft.com/office/drawing/2014/main" id="{6BEEBA3F-DEF2-4879-E530-5FD476F0FF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58594" y="1397049"/>
            <a:ext cx="3549921" cy="2617680"/>
          </a:xfrm>
          <a:prstGeom prst="rect">
            <a:avLst/>
          </a:prstGeom>
        </p:spPr>
      </p:pic>
      <p:cxnSp>
        <p:nvCxnSpPr>
          <p:cNvPr id="9" name="Straight Arrow Connector 8">
            <a:extLst>
              <a:ext uri="{FF2B5EF4-FFF2-40B4-BE49-F238E27FC236}">
                <a16:creationId xmlns:a16="http://schemas.microsoft.com/office/drawing/2014/main" id="{A17E5545-884B-51E8-1B7F-8050042F6D27}"/>
              </a:ext>
            </a:extLst>
          </p:cNvPr>
          <p:cNvCxnSpPr>
            <a:cxnSpLocks/>
          </p:cNvCxnSpPr>
          <p:nvPr/>
        </p:nvCxnSpPr>
        <p:spPr>
          <a:xfrm>
            <a:off x="5798820" y="3755649"/>
            <a:ext cx="0" cy="1905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9442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A79E0-B809-3C4D-BB3A-029DEE7DDB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9BD7B7-9DDE-2D6A-4462-4D07D23BFA44}"/>
              </a:ext>
            </a:extLst>
          </p:cNvPr>
          <p:cNvSpPr>
            <a:spLocks noGrp="1"/>
          </p:cNvSpPr>
          <p:nvPr>
            <p:ph type="title"/>
          </p:nvPr>
        </p:nvSpPr>
        <p:spPr>
          <a:xfrm>
            <a:off x="758825" y="345498"/>
            <a:ext cx="7556500" cy="539038"/>
          </a:xfrm>
        </p:spPr>
        <p:txBody>
          <a:bodyPr/>
          <a:lstStyle/>
          <a:p>
            <a:r>
              <a:rPr lang="en-US" dirty="0"/>
              <a:t>Chest wall Geometry</a:t>
            </a:r>
            <a:endParaRPr lang="en-NL" dirty="0"/>
          </a:p>
        </p:txBody>
      </p:sp>
      <p:sp>
        <p:nvSpPr>
          <p:cNvPr id="3" name="Content Placeholder 2">
            <a:extLst>
              <a:ext uri="{FF2B5EF4-FFF2-40B4-BE49-F238E27FC236}">
                <a16:creationId xmlns:a16="http://schemas.microsoft.com/office/drawing/2014/main" id="{23D6A0BF-BF62-EBB8-B589-11BC48FF7F75}"/>
              </a:ext>
            </a:extLst>
          </p:cNvPr>
          <p:cNvSpPr>
            <a:spLocks noGrp="1"/>
          </p:cNvSpPr>
          <p:nvPr>
            <p:ph idx="1"/>
          </p:nvPr>
        </p:nvSpPr>
        <p:spPr>
          <a:xfrm>
            <a:off x="828675" y="735996"/>
            <a:ext cx="8254365" cy="2922458"/>
          </a:xfrm>
        </p:spPr>
        <p:txBody>
          <a:bodyPr/>
          <a:lstStyle/>
          <a:p>
            <a:pPr algn="ctr"/>
            <a:r>
              <a:rPr lang="en-US" dirty="0"/>
              <a:t>Superior views:</a:t>
            </a:r>
          </a:p>
          <a:p>
            <a:r>
              <a:rPr lang="en-US" dirty="0"/>
              <a:t>                  Sagittal curve                                         Transversal curve (left breast)                                                      </a:t>
            </a:r>
            <a:br>
              <a:rPr lang="en-US" dirty="0"/>
            </a:br>
            <a:endParaRPr lang="en-NL" dirty="0"/>
          </a:p>
          <a:p>
            <a:endParaRPr lang="en-NL" dirty="0"/>
          </a:p>
        </p:txBody>
      </p:sp>
      <p:sp>
        <p:nvSpPr>
          <p:cNvPr id="4" name="Footer Placeholder 3">
            <a:extLst>
              <a:ext uri="{FF2B5EF4-FFF2-40B4-BE49-F238E27FC236}">
                <a16:creationId xmlns:a16="http://schemas.microsoft.com/office/drawing/2014/main" id="{3A774AB8-79BF-64B5-9919-EB263BF4A70C}"/>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D1CBD56C-8303-C26C-5B08-3CD95E33A217}"/>
              </a:ext>
            </a:extLst>
          </p:cNvPr>
          <p:cNvSpPr>
            <a:spLocks noGrp="1"/>
          </p:cNvSpPr>
          <p:nvPr>
            <p:ph type="sldNum" sz="quarter" idx="12"/>
          </p:nvPr>
        </p:nvSpPr>
        <p:spPr/>
        <p:txBody>
          <a:bodyPr/>
          <a:lstStyle/>
          <a:p>
            <a:fld id="{C194BDB0-F4EA-4DD6-8281-CCE2440D0CE0}" type="slidenum">
              <a:rPr lang="en-GB" smtClean="0"/>
              <a:t>11</a:t>
            </a:fld>
            <a:endParaRPr lang="en-GB" dirty="0"/>
          </a:p>
        </p:txBody>
      </p:sp>
      <p:pic>
        <p:nvPicPr>
          <p:cNvPr id="7" name="Picture 6">
            <a:extLst>
              <a:ext uri="{FF2B5EF4-FFF2-40B4-BE49-F238E27FC236}">
                <a16:creationId xmlns:a16="http://schemas.microsoft.com/office/drawing/2014/main" id="{0C2B11DE-E8F9-299B-C96F-1AEFCA8920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0" y="1328079"/>
            <a:ext cx="4346625" cy="3240321"/>
          </a:xfrm>
          <a:prstGeom prst="rect">
            <a:avLst/>
          </a:prstGeom>
        </p:spPr>
      </p:pic>
      <p:pic>
        <p:nvPicPr>
          <p:cNvPr id="11" name="Picture 10">
            <a:extLst>
              <a:ext uri="{FF2B5EF4-FFF2-40B4-BE49-F238E27FC236}">
                <a16:creationId xmlns:a16="http://schemas.microsoft.com/office/drawing/2014/main" id="{FC2FD00C-F74A-18C4-3FC1-DA7F0D136CE2}"/>
              </a:ext>
            </a:extLst>
          </p:cNvPr>
          <p:cNvPicPr>
            <a:picLocks noChangeAspect="1"/>
          </p:cNvPicPr>
          <p:nvPr/>
        </p:nvPicPr>
        <p:blipFill>
          <a:blip r:embed="rId4">
            <a:extLst>
              <a:ext uri="{28A0092B-C50C-407E-A947-70E740481C1C}">
                <a14:useLocalDpi xmlns:a14="http://schemas.microsoft.com/office/drawing/2010/main" val="0"/>
              </a:ext>
            </a:extLst>
          </a:blip>
          <a:srcRect l="3019" t="15914" r="16525" b="2949"/>
          <a:stretch>
            <a:fillRect/>
          </a:stretch>
        </p:blipFill>
        <p:spPr>
          <a:xfrm>
            <a:off x="758824" y="1328079"/>
            <a:ext cx="3666500" cy="3296710"/>
          </a:xfrm>
          <a:prstGeom prst="rect">
            <a:avLst/>
          </a:prstGeom>
        </p:spPr>
      </p:pic>
    </p:spTree>
    <p:extLst>
      <p:ext uri="{BB962C8B-B14F-4D97-AF65-F5344CB8AC3E}">
        <p14:creationId xmlns:p14="http://schemas.microsoft.com/office/powerpoint/2010/main" val="3029589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B8866-04BB-57F6-8549-6CBB7AB76D71}"/>
              </a:ext>
            </a:extLst>
          </p:cNvPr>
          <p:cNvSpPr>
            <a:spLocks noGrp="1"/>
          </p:cNvSpPr>
          <p:nvPr>
            <p:ph type="title"/>
          </p:nvPr>
        </p:nvSpPr>
        <p:spPr/>
        <p:txBody>
          <a:bodyPr/>
          <a:lstStyle/>
          <a:p>
            <a:r>
              <a:rPr lang="en-US" dirty="0"/>
              <a:t>Glandular Distribution</a:t>
            </a:r>
            <a:endParaRPr lang="en-NL" dirty="0"/>
          </a:p>
        </p:txBody>
      </p:sp>
      <p:pic>
        <p:nvPicPr>
          <p:cNvPr id="12" name="Content Placeholder 11">
            <a:extLst>
              <a:ext uri="{FF2B5EF4-FFF2-40B4-BE49-F238E27FC236}">
                <a16:creationId xmlns:a16="http://schemas.microsoft.com/office/drawing/2014/main" id="{FF875E42-B02D-36FA-5CD0-AEB9AF34D6E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6535" t="4326" b="19625"/>
          <a:stretch>
            <a:fillRect/>
          </a:stretch>
        </p:blipFill>
        <p:spPr>
          <a:xfrm>
            <a:off x="4937759" y="788230"/>
            <a:ext cx="3706681" cy="3593054"/>
          </a:xfrm>
          <a:prstGeom prst="rect">
            <a:avLst/>
          </a:prstGeom>
        </p:spPr>
      </p:pic>
      <p:sp>
        <p:nvSpPr>
          <p:cNvPr id="4" name="Footer Placeholder 3">
            <a:extLst>
              <a:ext uri="{FF2B5EF4-FFF2-40B4-BE49-F238E27FC236}">
                <a16:creationId xmlns:a16="http://schemas.microsoft.com/office/drawing/2014/main" id="{7061A096-943C-C1B2-8D05-234638CF647E}"/>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627C2F01-8387-5AD2-B12C-A3059DDDDCED}"/>
              </a:ext>
            </a:extLst>
          </p:cNvPr>
          <p:cNvSpPr>
            <a:spLocks noGrp="1"/>
          </p:cNvSpPr>
          <p:nvPr>
            <p:ph type="sldNum" sz="quarter" idx="12"/>
          </p:nvPr>
        </p:nvSpPr>
        <p:spPr/>
        <p:txBody>
          <a:bodyPr/>
          <a:lstStyle/>
          <a:p>
            <a:fld id="{C194BDB0-F4EA-4DD6-8281-CCE2440D0CE0}" type="slidenum">
              <a:rPr lang="en-GB" smtClean="0"/>
              <a:t>12</a:t>
            </a:fld>
            <a:endParaRPr lang="en-GB" dirty="0"/>
          </a:p>
        </p:txBody>
      </p:sp>
      <p:sp>
        <p:nvSpPr>
          <p:cNvPr id="16" name="Content Placeholder 2">
            <a:extLst>
              <a:ext uri="{FF2B5EF4-FFF2-40B4-BE49-F238E27FC236}">
                <a16:creationId xmlns:a16="http://schemas.microsoft.com/office/drawing/2014/main" id="{37510441-92F2-D8E3-10BE-919CCC2F8CCD}"/>
              </a:ext>
            </a:extLst>
          </p:cNvPr>
          <p:cNvSpPr txBox="1">
            <a:spLocks/>
          </p:cNvSpPr>
          <p:nvPr/>
        </p:nvSpPr>
        <p:spPr>
          <a:xfrm>
            <a:off x="758824" y="1306642"/>
            <a:ext cx="7556501" cy="2922458"/>
          </a:xfrm>
          <a:prstGeom prst="rect">
            <a:avLst/>
          </a:prstGeom>
        </p:spPr>
        <p:txBody>
          <a:bodyPr vert="horz" lIns="0" tIns="0" rIns="0" bIns="0" rtlCol="0">
            <a:noAutofit/>
          </a:bodyPr>
          <a:lstStyle>
            <a:lvl1pPr marL="0" indent="0" algn="l" defTabSz="685800" rtl="0" eaLnBrk="1" latinLnBrk="0" hangingPunct="1">
              <a:lnSpc>
                <a:spcPct val="100000"/>
              </a:lnSpc>
              <a:spcBef>
                <a:spcPts val="0"/>
              </a:spcBef>
              <a:buFont typeface="Arial" panose="020B0604020202020204" pitchFamily="34" charset="0"/>
              <a:buNone/>
              <a:defRPr sz="1950" kern="1200" baseline="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indent="-342900">
              <a:buFont typeface="Arial" panose="020B0604020202020204" pitchFamily="34" charset="0"/>
              <a:buChar char="•"/>
            </a:pPr>
            <a:r>
              <a:rPr lang="en-US" dirty="0"/>
              <a:t>Realistic glandular region</a:t>
            </a:r>
          </a:p>
          <a:p>
            <a:pPr marL="523875" lvl="2" indent="-342900"/>
            <a:r>
              <a:rPr lang="en-US" dirty="0"/>
              <a:t>12 Lobules</a:t>
            </a:r>
          </a:p>
          <a:p>
            <a:pPr lvl="2" indent="0">
              <a:buNone/>
            </a:pPr>
            <a:endParaRPr lang="en-US" dirty="0"/>
          </a:p>
          <a:p>
            <a:pPr marL="342900" indent="-342900">
              <a:buFont typeface="Arial" panose="020B0604020202020204" pitchFamily="34" charset="0"/>
              <a:buChar char="•"/>
            </a:pPr>
            <a:r>
              <a:rPr lang="en-US" dirty="0" err="1"/>
              <a:t>Chestwall</a:t>
            </a:r>
            <a:r>
              <a:rPr lang="en-US" dirty="0"/>
              <a:t>-aware placement</a:t>
            </a:r>
          </a:p>
          <a:p>
            <a:endParaRPr lang="en-US" dirty="0"/>
          </a:p>
          <a:p>
            <a:pPr marL="342900" indent="-342900">
              <a:buFont typeface="Arial" panose="020B0604020202020204" pitchFamily="34" charset="0"/>
              <a:buChar char="•"/>
            </a:pPr>
            <a:r>
              <a:rPr lang="en-US" dirty="0"/>
              <a:t>Fraction (%)</a:t>
            </a:r>
          </a:p>
          <a:p>
            <a:pPr marL="523875" lvl="2" indent="-342900"/>
            <a:r>
              <a:rPr lang="en-US" dirty="0"/>
              <a:t>High </a:t>
            </a:r>
            <a:r>
              <a:rPr lang="en-US" dirty="0">
                <a:sym typeface="Wingdings" panose="05000000000000000000" pitchFamily="2" charset="2"/>
              </a:rPr>
              <a:t> less displacement</a:t>
            </a:r>
          </a:p>
          <a:p>
            <a:pPr lvl="2" indent="0">
              <a:buNone/>
            </a:pPr>
            <a:endParaRPr lang="en-US" dirty="0"/>
          </a:p>
          <a:p>
            <a:pPr marL="342900" indent="-342900">
              <a:buFont typeface="Arial" panose="020B0604020202020204" pitchFamily="34" charset="0"/>
              <a:buChar char="•"/>
            </a:pPr>
            <a:r>
              <a:rPr lang="en-US" dirty="0"/>
              <a:t>Different spreads</a:t>
            </a:r>
          </a:p>
          <a:p>
            <a:pPr marL="342900" indent="-342900">
              <a:buFont typeface="Arial" panose="020B0604020202020204" pitchFamily="34" charset="0"/>
              <a:buChar char="•"/>
            </a:pPr>
            <a:endParaRPr lang="en-US" dirty="0"/>
          </a:p>
          <a:p>
            <a:endParaRPr lang="en-US" dirty="0"/>
          </a:p>
          <a:p>
            <a:endParaRPr lang="en-US" dirty="0"/>
          </a:p>
          <a:p>
            <a:endParaRPr lang="en-US" dirty="0"/>
          </a:p>
        </p:txBody>
      </p:sp>
    </p:spTree>
    <p:extLst>
      <p:ext uri="{BB962C8B-B14F-4D97-AF65-F5344CB8AC3E}">
        <p14:creationId xmlns:p14="http://schemas.microsoft.com/office/powerpoint/2010/main" val="4231095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44BCB-A75B-7EC7-D1AB-BAC62476D0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E4B7A1-9E53-4CF7-BDE9-A829AC42A3C4}"/>
              </a:ext>
            </a:extLst>
          </p:cNvPr>
          <p:cNvSpPr>
            <a:spLocks noGrp="1"/>
          </p:cNvSpPr>
          <p:nvPr>
            <p:ph type="title"/>
          </p:nvPr>
        </p:nvSpPr>
        <p:spPr>
          <a:xfrm>
            <a:off x="758825" y="351548"/>
            <a:ext cx="7556500" cy="539038"/>
          </a:xfrm>
        </p:spPr>
        <p:txBody>
          <a:bodyPr/>
          <a:lstStyle/>
          <a:p>
            <a:r>
              <a:rPr lang="en-US" dirty="0"/>
              <a:t>Glandular Distribution</a:t>
            </a:r>
            <a:endParaRPr lang="en-NL" dirty="0"/>
          </a:p>
        </p:txBody>
      </p:sp>
      <p:sp>
        <p:nvSpPr>
          <p:cNvPr id="3" name="Content Placeholder 2">
            <a:extLst>
              <a:ext uri="{FF2B5EF4-FFF2-40B4-BE49-F238E27FC236}">
                <a16:creationId xmlns:a16="http://schemas.microsoft.com/office/drawing/2014/main" id="{3BCE1BA4-ABA0-0703-7E5E-F077F0AB65F5}"/>
              </a:ext>
            </a:extLst>
          </p:cNvPr>
          <p:cNvSpPr>
            <a:spLocks noGrp="1"/>
          </p:cNvSpPr>
          <p:nvPr>
            <p:ph idx="1"/>
          </p:nvPr>
        </p:nvSpPr>
        <p:spPr>
          <a:xfrm>
            <a:off x="758824" y="758856"/>
            <a:ext cx="7556501" cy="2922458"/>
          </a:xfrm>
        </p:spPr>
        <p:txBody>
          <a:bodyPr/>
          <a:lstStyle/>
          <a:p>
            <a:pPr algn="ctr"/>
            <a:r>
              <a:rPr lang="en-US" dirty="0"/>
              <a:t>Spreads:</a:t>
            </a:r>
            <a:br>
              <a:rPr lang="en-US" dirty="0"/>
            </a:br>
            <a:r>
              <a:rPr lang="en-US" dirty="0"/>
              <a:t>Compact                               Reference                               Wide</a:t>
            </a:r>
            <a:endParaRPr lang="en-NL" dirty="0"/>
          </a:p>
        </p:txBody>
      </p:sp>
      <p:sp>
        <p:nvSpPr>
          <p:cNvPr id="4" name="Footer Placeholder 3">
            <a:extLst>
              <a:ext uri="{FF2B5EF4-FFF2-40B4-BE49-F238E27FC236}">
                <a16:creationId xmlns:a16="http://schemas.microsoft.com/office/drawing/2014/main" id="{34FD1342-4DF1-B1B5-D25E-C28CA4D154A8}"/>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9CDA492D-B2BF-A129-733C-33C990DFFA16}"/>
              </a:ext>
            </a:extLst>
          </p:cNvPr>
          <p:cNvSpPr>
            <a:spLocks noGrp="1"/>
          </p:cNvSpPr>
          <p:nvPr>
            <p:ph type="sldNum" sz="quarter" idx="12"/>
          </p:nvPr>
        </p:nvSpPr>
        <p:spPr/>
        <p:txBody>
          <a:bodyPr/>
          <a:lstStyle/>
          <a:p>
            <a:fld id="{C194BDB0-F4EA-4DD6-8281-CCE2440D0CE0}" type="slidenum">
              <a:rPr lang="en-GB" smtClean="0"/>
              <a:t>13</a:t>
            </a:fld>
            <a:endParaRPr lang="en-GB" dirty="0"/>
          </a:p>
        </p:txBody>
      </p:sp>
      <p:pic>
        <p:nvPicPr>
          <p:cNvPr id="6" name="Picture 5">
            <a:extLst>
              <a:ext uri="{FF2B5EF4-FFF2-40B4-BE49-F238E27FC236}">
                <a16:creationId xmlns:a16="http://schemas.microsoft.com/office/drawing/2014/main" id="{3FD3C7EB-8ECD-AF7E-E0C0-01254DE022F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2761" y="1401322"/>
            <a:ext cx="2645183" cy="3001147"/>
          </a:xfrm>
          <a:prstGeom prst="rect">
            <a:avLst/>
          </a:prstGeom>
        </p:spPr>
      </p:pic>
      <p:pic>
        <p:nvPicPr>
          <p:cNvPr id="8" name="Picture 7">
            <a:extLst>
              <a:ext uri="{FF2B5EF4-FFF2-40B4-BE49-F238E27FC236}">
                <a16:creationId xmlns:a16="http://schemas.microsoft.com/office/drawing/2014/main" id="{EA898C4E-E336-C3E2-8A2A-C2C90071D7F8}"/>
              </a:ext>
            </a:extLst>
          </p:cNvPr>
          <p:cNvPicPr>
            <a:picLocks noChangeAspect="1"/>
          </p:cNvPicPr>
          <p:nvPr/>
        </p:nvPicPr>
        <p:blipFill>
          <a:blip r:embed="rId3">
            <a:extLst>
              <a:ext uri="{28A0092B-C50C-407E-A947-70E740481C1C}">
                <a14:useLocalDpi xmlns:a14="http://schemas.microsoft.com/office/drawing/2010/main" val="0"/>
              </a:ext>
            </a:extLst>
          </a:blip>
          <a:srcRect l="32711" t="16222" r="7731" b="10444"/>
          <a:stretch>
            <a:fillRect/>
          </a:stretch>
        </p:blipFill>
        <p:spPr>
          <a:xfrm>
            <a:off x="3268643" y="1432573"/>
            <a:ext cx="2733714" cy="3001148"/>
          </a:xfrm>
          <a:prstGeom prst="rect">
            <a:avLst/>
          </a:prstGeom>
        </p:spPr>
      </p:pic>
      <p:pic>
        <p:nvPicPr>
          <p:cNvPr id="9" name="Picture 8">
            <a:extLst>
              <a:ext uri="{FF2B5EF4-FFF2-40B4-BE49-F238E27FC236}">
                <a16:creationId xmlns:a16="http://schemas.microsoft.com/office/drawing/2014/main" id="{0126215E-0399-587C-4F44-8B3833CB8EB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13056" y="1432573"/>
            <a:ext cx="2758820" cy="3001148"/>
          </a:xfrm>
          <a:prstGeom prst="rect">
            <a:avLst/>
          </a:prstGeom>
        </p:spPr>
      </p:pic>
    </p:spTree>
    <p:extLst>
      <p:ext uri="{BB962C8B-B14F-4D97-AF65-F5344CB8AC3E}">
        <p14:creationId xmlns:p14="http://schemas.microsoft.com/office/powerpoint/2010/main" val="1141842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CA72B-698E-450E-2BA3-E0AACE29DC85}"/>
              </a:ext>
            </a:extLst>
          </p:cNvPr>
          <p:cNvSpPr>
            <a:spLocks noGrp="1"/>
          </p:cNvSpPr>
          <p:nvPr>
            <p:ph type="title"/>
          </p:nvPr>
        </p:nvSpPr>
        <p:spPr/>
        <p:txBody>
          <a:bodyPr/>
          <a:lstStyle/>
          <a:p>
            <a:r>
              <a:rPr lang="en-US" dirty="0"/>
              <a:t>Asymmetry and Shape Variations</a:t>
            </a:r>
            <a:endParaRPr lang="en-NL" dirty="0"/>
          </a:p>
        </p:txBody>
      </p:sp>
      <p:sp>
        <p:nvSpPr>
          <p:cNvPr id="3" name="Content Placeholder 2">
            <a:extLst>
              <a:ext uri="{FF2B5EF4-FFF2-40B4-BE49-F238E27FC236}">
                <a16:creationId xmlns:a16="http://schemas.microsoft.com/office/drawing/2014/main" id="{1AE8049A-D7EE-C90C-548B-EBB52D862870}"/>
              </a:ext>
            </a:extLst>
          </p:cNvPr>
          <p:cNvSpPr>
            <a:spLocks noGrp="1"/>
          </p:cNvSpPr>
          <p:nvPr>
            <p:ph idx="1"/>
          </p:nvPr>
        </p:nvSpPr>
        <p:spPr/>
        <p:txBody>
          <a:bodyPr/>
          <a:lstStyle/>
          <a:p>
            <a:pPr marL="342900" indent="-342900">
              <a:buFont typeface="Arial" panose="020B0604020202020204" pitchFamily="34" charset="0"/>
              <a:buChar char="•"/>
            </a:pPr>
            <a:r>
              <a:rPr lang="en-US" dirty="0"/>
              <a:t>Outer-shape variants </a:t>
            </a:r>
          </a:p>
          <a:p>
            <a:pPr marL="342900" indent="-342900">
              <a:buFont typeface="Arial" panose="020B0604020202020204" pitchFamily="34" charset="0"/>
              <a:buChar char="•"/>
            </a:pPr>
            <a:r>
              <a:rPr lang="en-US" dirty="0"/>
              <a:t>Nipple-position variants</a:t>
            </a:r>
          </a:p>
          <a:p>
            <a:pPr marL="342900" indent="-342900">
              <a:buFont typeface="Arial" panose="020B0604020202020204" pitchFamily="34" charset="0"/>
              <a:buChar char="•"/>
            </a:pPr>
            <a:r>
              <a:rPr lang="en-US" dirty="0"/>
              <a:t>Reference model</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Patient-specific shape variation</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NL" dirty="0"/>
          </a:p>
        </p:txBody>
      </p:sp>
      <p:sp>
        <p:nvSpPr>
          <p:cNvPr id="4" name="Footer Placeholder 3">
            <a:extLst>
              <a:ext uri="{FF2B5EF4-FFF2-40B4-BE49-F238E27FC236}">
                <a16:creationId xmlns:a16="http://schemas.microsoft.com/office/drawing/2014/main" id="{634A1799-5D5C-E09C-AFA2-2DE7495CF5E1}"/>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AE77C336-1F71-A063-BFFC-7147D2977834}"/>
              </a:ext>
            </a:extLst>
          </p:cNvPr>
          <p:cNvSpPr>
            <a:spLocks noGrp="1"/>
          </p:cNvSpPr>
          <p:nvPr>
            <p:ph type="sldNum" sz="quarter" idx="12"/>
          </p:nvPr>
        </p:nvSpPr>
        <p:spPr/>
        <p:txBody>
          <a:bodyPr/>
          <a:lstStyle/>
          <a:p>
            <a:fld id="{C194BDB0-F4EA-4DD6-8281-CCE2440D0CE0}" type="slidenum">
              <a:rPr lang="en-GB" smtClean="0"/>
              <a:t>14</a:t>
            </a:fld>
            <a:endParaRPr lang="en-GB" dirty="0"/>
          </a:p>
        </p:txBody>
      </p:sp>
      <p:pic>
        <p:nvPicPr>
          <p:cNvPr id="10" name="Picture 9">
            <a:extLst>
              <a:ext uri="{FF2B5EF4-FFF2-40B4-BE49-F238E27FC236}">
                <a16:creationId xmlns:a16="http://schemas.microsoft.com/office/drawing/2014/main" id="{CA84F009-F48F-945E-49B7-EE776D4C77FE}"/>
              </a:ext>
            </a:extLst>
          </p:cNvPr>
          <p:cNvPicPr>
            <a:picLocks noChangeAspect="1"/>
          </p:cNvPicPr>
          <p:nvPr/>
        </p:nvPicPr>
        <p:blipFill>
          <a:blip r:embed="rId3" cstate="print">
            <a:extLst>
              <a:ext uri="{28A0092B-C50C-407E-A947-70E740481C1C}">
                <a14:useLocalDpi xmlns:a14="http://schemas.microsoft.com/office/drawing/2010/main" val="0"/>
              </a:ext>
            </a:extLst>
          </a:blip>
          <a:srcRect r="7110" b="-430"/>
          <a:stretch>
            <a:fillRect/>
          </a:stretch>
        </p:blipFill>
        <p:spPr>
          <a:xfrm>
            <a:off x="5288965" y="1192360"/>
            <a:ext cx="3252607" cy="3142971"/>
          </a:xfrm>
          <a:prstGeom prst="rect">
            <a:avLst/>
          </a:prstGeom>
        </p:spPr>
      </p:pic>
    </p:spTree>
    <p:extLst>
      <p:ext uri="{BB962C8B-B14F-4D97-AF65-F5344CB8AC3E}">
        <p14:creationId xmlns:p14="http://schemas.microsoft.com/office/powerpoint/2010/main" val="2250074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D5FC0-8E3A-A7C2-BDB5-78C1ACA4C5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7048B9-FCB9-BA25-FAC7-BBF63D2B81D6}"/>
              </a:ext>
            </a:extLst>
          </p:cNvPr>
          <p:cNvSpPr>
            <a:spLocks noGrp="1"/>
          </p:cNvSpPr>
          <p:nvPr>
            <p:ph type="title"/>
          </p:nvPr>
        </p:nvSpPr>
        <p:spPr>
          <a:xfrm>
            <a:off x="758825" y="351548"/>
            <a:ext cx="7556500" cy="539038"/>
          </a:xfrm>
        </p:spPr>
        <p:txBody>
          <a:bodyPr/>
          <a:lstStyle/>
          <a:p>
            <a:r>
              <a:rPr lang="en-US" dirty="0"/>
              <a:t>Asymmetry options</a:t>
            </a:r>
            <a:endParaRPr lang="en-NL" dirty="0"/>
          </a:p>
        </p:txBody>
      </p:sp>
      <p:sp>
        <p:nvSpPr>
          <p:cNvPr id="3" name="Content Placeholder 2">
            <a:extLst>
              <a:ext uri="{FF2B5EF4-FFF2-40B4-BE49-F238E27FC236}">
                <a16:creationId xmlns:a16="http://schemas.microsoft.com/office/drawing/2014/main" id="{3E2766CE-7F58-8B1B-CF65-29D31CD595A9}"/>
              </a:ext>
            </a:extLst>
          </p:cNvPr>
          <p:cNvSpPr>
            <a:spLocks noGrp="1"/>
          </p:cNvSpPr>
          <p:nvPr>
            <p:ph idx="1"/>
          </p:nvPr>
        </p:nvSpPr>
        <p:spPr>
          <a:xfrm>
            <a:off x="758824" y="758856"/>
            <a:ext cx="7556501" cy="2922458"/>
          </a:xfrm>
        </p:spPr>
        <p:txBody>
          <a:bodyPr/>
          <a:lstStyle/>
          <a:p>
            <a:r>
              <a:rPr lang="en-US" dirty="0"/>
              <a:t>				         Examples:</a:t>
            </a:r>
            <a:br>
              <a:rPr lang="en-US" dirty="0"/>
            </a:br>
            <a:r>
              <a:rPr lang="en-US" dirty="0"/>
              <a:t>Width stretch                                                      Nipple changes                    </a:t>
            </a:r>
            <a:endParaRPr lang="en-NL" dirty="0"/>
          </a:p>
        </p:txBody>
      </p:sp>
      <p:sp>
        <p:nvSpPr>
          <p:cNvPr id="4" name="Footer Placeholder 3">
            <a:extLst>
              <a:ext uri="{FF2B5EF4-FFF2-40B4-BE49-F238E27FC236}">
                <a16:creationId xmlns:a16="http://schemas.microsoft.com/office/drawing/2014/main" id="{D343B393-B6C8-4E47-7D78-A0B646AA77BB}"/>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45CF2E34-D3CA-833E-85CC-43A8A3AA7025}"/>
              </a:ext>
            </a:extLst>
          </p:cNvPr>
          <p:cNvSpPr>
            <a:spLocks noGrp="1"/>
          </p:cNvSpPr>
          <p:nvPr>
            <p:ph type="sldNum" sz="quarter" idx="12"/>
          </p:nvPr>
        </p:nvSpPr>
        <p:spPr/>
        <p:txBody>
          <a:bodyPr/>
          <a:lstStyle/>
          <a:p>
            <a:fld id="{C194BDB0-F4EA-4DD6-8281-CCE2440D0CE0}" type="slidenum">
              <a:rPr lang="en-GB" smtClean="0"/>
              <a:t>15</a:t>
            </a:fld>
            <a:endParaRPr lang="en-GB" dirty="0"/>
          </a:p>
        </p:txBody>
      </p:sp>
      <p:pic>
        <p:nvPicPr>
          <p:cNvPr id="7" name="Picture 6">
            <a:extLst>
              <a:ext uri="{FF2B5EF4-FFF2-40B4-BE49-F238E27FC236}">
                <a16:creationId xmlns:a16="http://schemas.microsoft.com/office/drawing/2014/main" id="{FF5FA180-1A7C-C6E7-3338-7D20BD65D3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953" y="1432573"/>
            <a:ext cx="2985758" cy="3001148"/>
          </a:xfrm>
          <a:prstGeom prst="rect">
            <a:avLst/>
          </a:prstGeom>
        </p:spPr>
      </p:pic>
      <p:pic>
        <p:nvPicPr>
          <p:cNvPr id="10" name="Picture 9">
            <a:extLst>
              <a:ext uri="{FF2B5EF4-FFF2-40B4-BE49-F238E27FC236}">
                <a16:creationId xmlns:a16="http://schemas.microsoft.com/office/drawing/2014/main" id="{A5A8CA63-9796-ED1D-79F3-CD1268F5B16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25608" y="1540581"/>
            <a:ext cx="2846047" cy="2686320"/>
          </a:xfrm>
          <a:prstGeom prst="rect">
            <a:avLst/>
          </a:prstGeom>
        </p:spPr>
      </p:pic>
      <p:pic>
        <p:nvPicPr>
          <p:cNvPr id="11" name="Picture 10">
            <a:extLst>
              <a:ext uri="{FF2B5EF4-FFF2-40B4-BE49-F238E27FC236}">
                <a16:creationId xmlns:a16="http://schemas.microsoft.com/office/drawing/2014/main" id="{CF0036CD-1607-F6A9-108E-CEC9252BFC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71655" y="1488216"/>
            <a:ext cx="2846047" cy="2817080"/>
          </a:xfrm>
          <a:prstGeom prst="rect">
            <a:avLst/>
          </a:prstGeom>
        </p:spPr>
      </p:pic>
      <p:cxnSp>
        <p:nvCxnSpPr>
          <p:cNvPr id="14" name="Straight Arrow Connector 13">
            <a:extLst>
              <a:ext uri="{FF2B5EF4-FFF2-40B4-BE49-F238E27FC236}">
                <a16:creationId xmlns:a16="http://schemas.microsoft.com/office/drawing/2014/main" id="{2F79847B-74CE-9AB0-8379-DDFC6D7577F1}"/>
              </a:ext>
            </a:extLst>
          </p:cNvPr>
          <p:cNvCxnSpPr>
            <a:cxnSpLocks/>
          </p:cNvCxnSpPr>
          <p:nvPr/>
        </p:nvCxnSpPr>
        <p:spPr>
          <a:xfrm>
            <a:off x="647700" y="3901440"/>
            <a:ext cx="2141220" cy="0"/>
          </a:xfrm>
          <a:prstGeom prst="straightConnector1">
            <a:avLst/>
          </a:prstGeom>
          <a:ln w="381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1C24E2D-B9F5-5DB3-DADB-4D0E8DA0B36F}"/>
              </a:ext>
            </a:extLst>
          </p:cNvPr>
          <p:cNvCxnSpPr/>
          <p:nvPr/>
        </p:nvCxnSpPr>
        <p:spPr>
          <a:xfrm flipH="1">
            <a:off x="4572000" y="3040380"/>
            <a:ext cx="35814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A2A16BA-8039-DE5A-A557-BB5294093D26}"/>
              </a:ext>
            </a:extLst>
          </p:cNvPr>
          <p:cNvCxnSpPr>
            <a:cxnSpLocks/>
          </p:cNvCxnSpPr>
          <p:nvPr/>
        </p:nvCxnSpPr>
        <p:spPr>
          <a:xfrm flipV="1">
            <a:off x="7863840" y="2804160"/>
            <a:ext cx="0" cy="3048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7248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44691-D5F6-AF30-222C-F8E854BF9A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926CCE-96CC-6E1D-67B1-2A3F07DE2359}"/>
              </a:ext>
            </a:extLst>
          </p:cNvPr>
          <p:cNvSpPr>
            <a:spLocks noGrp="1"/>
          </p:cNvSpPr>
          <p:nvPr>
            <p:ph type="title"/>
          </p:nvPr>
        </p:nvSpPr>
        <p:spPr>
          <a:xfrm>
            <a:off x="557214" y="1988402"/>
            <a:ext cx="4101749" cy="1166696"/>
          </a:xfrm>
        </p:spPr>
        <p:txBody>
          <a:bodyPr anchor="t">
            <a:noAutofit/>
          </a:bodyPr>
          <a:lstStyle/>
          <a:p>
            <a:r>
              <a:rPr lang="en-US" sz="3200" b="1" dirty="0"/>
              <a:t>Mechanical Model Definition</a:t>
            </a:r>
            <a:endParaRPr lang="en-NL" sz="3200" b="1" dirty="0"/>
          </a:p>
        </p:txBody>
      </p:sp>
      <p:sp>
        <p:nvSpPr>
          <p:cNvPr id="4" name="Footer Placeholder 3">
            <a:extLst>
              <a:ext uri="{FF2B5EF4-FFF2-40B4-BE49-F238E27FC236}">
                <a16:creationId xmlns:a16="http://schemas.microsoft.com/office/drawing/2014/main" id="{8274AA30-3F40-E604-4F81-A23C674A8F6A}"/>
              </a:ext>
            </a:extLst>
          </p:cNvPr>
          <p:cNvSpPr>
            <a:spLocks noGrp="1"/>
          </p:cNvSpPr>
          <p:nvPr>
            <p:ph type="ftr" sz="quarter" idx="11"/>
          </p:nvPr>
        </p:nvSpPr>
        <p:spPr>
          <a:xfrm>
            <a:off x="1114426" y="4568400"/>
            <a:ext cx="7042149" cy="576000"/>
          </a:xfrm>
        </p:spPr>
        <p:txBody>
          <a:bodyPr anchor="ctr">
            <a:normAutofit/>
          </a:bodyPr>
          <a:lstStyle/>
          <a:p>
            <a:pPr>
              <a:spcAft>
                <a:spcPts val="600"/>
              </a:spcAft>
            </a:pPr>
            <a:r>
              <a:rPr lang="en-US"/>
              <a:t>COMSOL FEM Breast Model for Early Warning Scan</a:t>
            </a:r>
            <a:endParaRPr lang="en-GB"/>
          </a:p>
        </p:txBody>
      </p:sp>
      <p:sp>
        <p:nvSpPr>
          <p:cNvPr id="5" name="Slide Number Placeholder 4">
            <a:extLst>
              <a:ext uri="{FF2B5EF4-FFF2-40B4-BE49-F238E27FC236}">
                <a16:creationId xmlns:a16="http://schemas.microsoft.com/office/drawing/2014/main" id="{FB9A5239-8D63-8061-C9C4-71DFE20C796A}"/>
              </a:ext>
            </a:extLst>
          </p:cNvPr>
          <p:cNvSpPr>
            <a:spLocks noGrp="1"/>
          </p:cNvSpPr>
          <p:nvPr>
            <p:ph type="sldNum" sz="quarter" idx="12"/>
          </p:nvPr>
        </p:nvSpPr>
        <p:spPr>
          <a:xfrm>
            <a:off x="2" y="4568400"/>
            <a:ext cx="1114424" cy="572286"/>
          </a:xfrm>
        </p:spPr>
        <p:txBody>
          <a:bodyPr anchor="ctr">
            <a:normAutofit/>
          </a:bodyPr>
          <a:lstStyle/>
          <a:p>
            <a:pPr>
              <a:spcAft>
                <a:spcPts val="600"/>
              </a:spcAft>
            </a:pPr>
            <a:fld id="{C194BDB0-F4EA-4DD6-8281-CCE2440D0CE0}" type="slidenum">
              <a:rPr lang="en-GB" smtClean="0"/>
              <a:pPr>
                <a:spcAft>
                  <a:spcPts val="600"/>
                </a:spcAft>
              </a:pPr>
              <a:t>16</a:t>
            </a:fld>
            <a:endParaRPr lang="en-GB"/>
          </a:p>
        </p:txBody>
      </p:sp>
      <p:pic>
        <p:nvPicPr>
          <p:cNvPr id="6" name="Content Placeholder 6">
            <a:extLst>
              <a:ext uri="{FF2B5EF4-FFF2-40B4-BE49-F238E27FC236}">
                <a16:creationId xmlns:a16="http://schemas.microsoft.com/office/drawing/2014/main" id="{2C27B52C-F157-AD38-5931-74A9A4959B2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51541" y="0"/>
            <a:ext cx="4192457" cy="4565760"/>
          </a:xfrm>
          <a:prstGeom prst="rect">
            <a:avLst/>
          </a:prstGeom>
        </p:spPr>
      </p:pic>
    </p:spTree>
    <p:extLst>
      <p:ext uri="{BB962C8B-B14F-4D97-AF65-F5344CB8AC3E}">
        <p14:creationId xmlns:p14="http://schemas.microsoft.com/office/powerpoint/2010/main" val="27496360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41604-32D9-B8AA-2155-DB848FD46CF4}"/>
              </a:ext>
            </a:extLst>
          </p:cNvPr>
          <p:cNvSpPr>
            <a:spLocks noGrp="1"/>
          </p:cNvSpPr>
          <p:nvPr>
            <p:ph type="title"/>
          </p:nvPr>
        </p:nvSpPr>
        <p:spPr/>
        <p:txBody>
          <a:bodyPr/>
          <a:lstStyle/>
          <a:p>
            <a:r>
              <a:rPr lang="en-US" dirty="0"/>
              <a:t>Mesh</a:t>
            </a:r>
            <a:endParaRPr lang="en-NL" dirty="0"/>
          </a:p>
        </p:txBody>
      </p:sp>
      <p:pic>
        <p:nvPicPr>
          <p:cNvPr id="7" name="Content Placeholder 6">
            <a:extLst>
              <a:ext uri="{FF2B5EF4-FFF2-40B4-BE49-F238E27FC236}">
                <a16:creationId xmlns:a16="http://schemas.microsoft.com/office/drawing/2014/main" id="{DF3733E6-3F35-6643-93CF-F9C56842700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684782" y="232163"/>
            <a:ext cx="3700393" cy="4029882"/>
          </a:xfrm>
          <a:prstGeom prst="rect">
            <a:avLst/>
          </a:prstGeom>
        </p:spPr>
      </p:pic>
      <p:sp>
        <p:nvSpPr>
          <p:cNvPr id="4" name="Footer Placeholder 3">
            <a:extLst>
              <a:ext uri="{FF2B5EF4-FFF2-40B4-BE49-F238E27FC236}">
                <a16:creationId xmlns:a16="http://schemas.microsoft.com/office/drawing/2014/main" id="{C3CCB3BB-27F0-BCA9-DEAF-0A95F9ECD4B2}"/>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0DC4A683-5F66-8E86-948F-F9FB730704B6}"/>
              </a:ext>
            </a:extLst>
          </p:cNvPr>
          <p:cNvSpPr>
            <a:spLocks noGrp="1"/>
          </p:cNvSpPr>
          <p:nvPr>
            <p:ph type="sldNum" sz="quarter" idx="12"/>
          </p:nvPr>
        </p:nvSpPr>
        <p:spPr/>
        <p:txBody>
          <a:bodyPr/>
          <a:lstStyle/>
          <a:p>
            <a:fld id="{C194BDB0-F4EA-4DD6-8281-CCE2440D0CE0}" type="slidenum">
              <a:rPr lang="en-GB" smtClean="0"/>
              <a:t>17</a:t>
            </a:fld>
            <a:endParaRPr lang="en-GB" dirty="0"/>
          </a:p>
        </p:txBody>
      </p:sp>
      <p:sp>
        <p:nvSpPr>
          <p:cNvPr id="8" name="Content Placeholder 2">
            <a:extLst>
              <a:ext uri="{FF2B5EF4-FFF2-40B4-BE49-F238E27FC236}">
                <a16:creationId xmlns:a16="http://schemas.microsoft.com/office/drawing/2014/main" id="{B4FB65EA-944D-2D30-F529-3B30E82BED3F}"/>
              </a:ext>
            </a:extLst>
          </p:cNvPr>
          <p:cNvSpPr txBox="1">
            <a:spLocks/>
          </p:cNvSpPr>
          <p:nvPr/>
        </p:nvSpPr>
        <p:spPr>
          <a:xfrm>
            <a:off x="758824" y="1306642"/>
            <a:ext cx="7556501" cy="2922458"/>
          </a:xfrm>
          <a:prstGeom prst="rect">
            <a:avLst/>
          </a:prstGeom>
        </p:spPr>
        <p:txBody>
          <a:bodyPr vert="horz" lIns="0" tIns="0" rIns="0" bIns="0" rtlCol="0">
            <a:noAutofit/>
          </a:bodyPr>
          <a:lstStyle>
            <a:lvl1pPr marL="0" indent="0" algn="l" defTabSz="685800" rtl="0" eaLnBrk="1" latinLnBrk="0" hangingPunct="1">
              <a:lnSpc>
                <a:spcPct val="100000"/>
              </a:lnSpc>
              <a:spcBef>
                <a:spcPts val="0"/>
              </a:spcBef>
              <a:buFont typeface="Arial" panose="020B0604020202020204" pitchFamily="34" charset="0"/>
              <a:buNone/>
              <a:defRPr sz="1950" kern="1200" baseline="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indent="-342900">
              <a:buFont typeface="Arial" panose="020B0604020202020204" pitchFamily="34" charset="0"/>
              <a:buChar char="•"/>
            </a:pPr>
            <a:r>
              <a:rPr lang="en-US" dirty="0"/>
              <a:t>Free tetrahedral mesh</a:t>
            </a:r>
          </a:p>
          <a:p>
            <a:pPr marL="342900" indent="-342900">
              <a:buFont typeface="Arial" panose="020B0604020202020204" pitchFamily="34" charset="0"/>
              <a:buChar char="•"/>
            </a:pPr>
            <a:r>
              <a:rPr lang="en-US" dirty="0"/>
              <a:t>Settings:</a:t>
            </a:r>
          </a:p>
          <a:p>
            <a:pPr marL="523875" lvl="2" indent="-342900"/>
            <a:r>
              <a:rPr lang="en-US" dirty="0"/>
              <a:t>Ls = 0.005</a:t>
            </a:r>
          </a:p>
          <a:p>
            <a:pPr marL="523875" lvl="2" indent="-342900"/>
            <a:r>
              <a:rPr lang="en-US" dirty="0"/>
              <a:t>Density = 140</a:t>
            </a:r>
          </a:p>
          <a:p>
            <a:endParaRPr lang="en-US" dirty="0"/>
          </a:p>
          <a:p>
            <a:pPr marL="342900" indent="-342900">
              <a:buFont typeface="Arial" panose="020B0604020202020204" pitchFamily="34" charset="0"/>
              <a:buChar char="•"/>
            </a:pPr>
            <a:r>
              <a:rPr lang="en-US" dirty="0"/>
              <a:t>Kept constant</a:t>
            </a:r>
          </a:p>
          <a:p>
            <a:pPr marL="523875" lvl="2" indent="-342900"/>
            <a:endParaRPr lang="en-US" dirty="0"/>
          </a:p>
          <a:p>
            <a:pPr marL="523875" lvl="2" indent="-342900"/>
            <a:endParaRPr lang="en-NL" dirty="0"/>
          </a:p>
        </p:txBody>
      </p:sp>
    </p:spTree>
    <p:extLst>
      <p:ext uri="{BB962C8B-B14F-4D97-AF65-F5344CB8AC3E}">
        <p14:creationId xmlns:p14="http://schemas.microsoft.com/office/powerpoint/2010/main" val="630649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C60F2-C31B-1E60-C374-9D06600059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C7F8F7-1FFC-A93B-8D9A-250FF6FDDF0C}"/>
              </a:ext>
            </a:extLst>
          </p:cNvPr>
          <p:cNvSpPr>
            <a:spLocks noGrp="1"/>
          </p:cNvSpPr>
          <p:nvPr>
            <p:ph type="title"/>
          </p:nvPr>
        </p:nvSpPr>
        <p:spPr/>
        <p:txBody>
          <a:bodyPr/>
          <a:lstStyle/>
          <a:p>
            <a:r>
              <a:rPr lang="en-US" dirty="0"/>
              <a:t>Material Definitions </a:t>
            </a:r>
            <a:endParaRPr lang="en-NL" dirty="0"/>
          </a:p>
        </p:txBody>
      </p:sp>
      <p:sp>
        <p:nvSpPr>
          <p:cNvPr id="3" name="Content Placeholder 2">
            <a:extLst>
              <a:ext uri="{FF2B5EF4-FFF2-40B4-BE49-F238E27FC236}">
                <a16:creationId xmlns:a16="http://schemas.microsoft.com/office/drawing/2014/main" id="{1D67702C-AC11-FBD1-EFEC-C25B3D775DFA}"/>
              </a:ext>
            </a:extLst>
          </p:cNvPr>
          <p:cNvSpPr>
            <a:spLocks noGrp="1"/>
          </p:cNvSpPr>
          <p:nvPr>
            <p:ph idx="1"/>
          </p:nvPr>
        </p:nvSpPr>
        <p:spPr/>
        <p:txBody>
          <a:bodyPr/>
          <a:lstStyle/>
          <a:p>
            <a:pPr marL="342900" indent="-342900">
              <a:buFont typeface="Arial" panose="020B0604020202020204" pitchFamily="34" charset="0"/>
              <a:buChar char="•"/>
            </a:pPr>
            <a:r>
              <a:rPr lang="en-NL" dirty="0"/>
              <a:t>Literature-based reference values</a:t>
            </a:r>
          </a:p>
          <a:p>
            <a:pPr marL="342900" indent="-342900">
              <a:buFont typeface="Arial" panose="020B0604020202020204" pitchFamily="34" charset="0"/>
              <a:buChar char="•"/>
            </a:pPr>
            <a:r>
              <a:rPr lang="en-NL" dirty="0"/>
              <a:t>Large variation between studies</a:t>
            </a:r>
          </a:p>
          <a:p>
            <a:pPr marL="342900" indent="-342900">
              <a:buFont typeface="Arial" panose="020B0604020202020204" pitchFamily="34" charset="0"/>
              <a:buChar char="•"/>
            </a:pPr>
            <a:r>
              <a:rPr lang="en-US" dirty="0"/>
              <a:t>S</a:t>
            </a:r>
            <a:r>
              <a:rPr lang="en-NL" dirty="0"/>
              <a:t>ensitivity </a:t>
            </a:r>
            <a:r>
              <a:rPr lang="en-US" dirty="0"/>
              <a:t>cases</a:t>
            </a:r>
          </a:p>
          <a:p>
            <a:pPr marL="342900" indent="-342900">
              <a:buFont typeface="Arial" panose="020B0604020202020204" pitchFamily="34" charset="0"/>
              <a:buChar char="•"/>
            </a:pPr>
            <a:r>
              <a:rPr lang="en-US" dirty="0"/>
              <a:t>Mooney-Rivlin</a:t>
            </a:r>
          </a:p>
          <a:p>
            <a:pPr marL="523875" lvl="2" indent="-342900"/>
            <a:r>
              <a:rPr lang="en-US" dirty="0"/>
              <a:t>Non-linear deformation soft-tissue</a:t>
            </a:r>
            <a:endParaRPr lang="en-NL" dirty="0"/>
          </a:p>
        </p:txBody>
      </p:sp>
      <p:sp>
        <p:nvSpPr>
          <p:cNvPr id="4" name="Footer Placeholder 3">
            <a:extLst>
              <a:ext uri="{FF2B5EF4-FFF2-40B4-BE49-F238E27FC236}">
                <a16:creationId xmlns:a16="http://schemas.microsoft.com/office/drawing/2014/main" id="{CAA2DBAC-9D62-3334-B8C2-B704D74E07D8}"/>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FE87AD1E-17B5-28A9-BB76-F99C9A1AC1AF}"/>
              </a:ext>
            </a:extLst>
          </p:cNvPr>
          <p:cNvSpPr>
            <a:spLocks noGrp="1"/>
          </p:cNvSpPr>
          <p:nvPr>
            <p:ph type="sldNum" sz="quarter" idx="12"/>
          </p:nvPr>
        </p:nvSpPr>
        <p:spPr/>
        <p:txBody>
          <a:bodyPr/>
          <a:lstStyle/>
          <a:p>
            <a:fld id="{C194BDB0-F4EA-4DD6-8281-CCE2440D0CE0}" type="slidenum">
              <a:rPr lang="en-GB" smtClean="0"/>
              <a:t>18</a:t>
            </a:fld>
            <a:endParaRPr lang="en-GB" dirty="0"/>
          </a:p>
        </p:txBody>
      </p:sp>
      <p:pic>
        <p:nvPicPr>
          <p:cNvPr id="8" name="Picture 7">
            <a:extLst>
              <a:ext uri="{FF2B5EF4-FFF2-40B4-BE49-F238E27FC236}">
                <a16:creationId xmlns:a16="http://schemas.microsoft.com/office/drawing/2014/main" id="{B133E492-D8F5-398F-EEBB-639E0DC4AF67}"/>
              </a:ext>
            </a:extLst>
          </p:cNvPr>
          <p:cNvPicPr>
            <a:picLocks noChangeAspect="1"/>
          </p:cNvPicPr>
          <p:nvPr/>
        </p:nvPicPr>
        <p:blipFill>
          <a:blip r:embed="rId3"/>
          <a:stretch>
            <a:fillRect/>
          </a:stretch>
        </p:blipFill>
        <p:spPr>
          <a:xfrm>
            <a:off x="336451" y="3684407"/>
            <a:ext cx="5119470" cy="476229"/>
          </a:xfrm>
          <a:prstGeom prst="rect">
            <a:avLst/>
          </a:prstGeom>
        </p:spPr>
      </p:pic>
      <p:pic>
        <p:nvPicPr>
          <p:cNvPr id="12" name="Picture 11">
            <a:extLst>
              <a:ext uri="{FF2B5EF4-FFF2-40B4-BE49-F238E27FC236}">
                <a16:creationId xmlns:a16="http://schemas.microsoft.com/office/drawing/2014/main" id="{CED7C66B-D5C0-F984-A3B8-B8E632CF568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05290" y="2812982"/>
            <a:ext cx="2510035" cy="1742849"/>
          </a:xfrm>
          <a:prstGeom prst="rect">
            <a:avLst/>
          </a:prstGeom>
        </p:spPr>
      </p:pic>
      <p:pic>
        <p:nvPicPr>
          <p:cNvPr id="14" name="Picture 13">
            <a:extLst>
              <a:ext uri="{FF2B5EF4-FFF2-40B4-BE49-F238E27FC236}">
                <a16:creationId xmlns:a16="http://schemas.microsoft.com/office/drawing/2014/main" id="{C2A22B31-92D3-F550-3AA5-D436C444A47E}"/>
              </a:ext>
            </a:extLst>
          </p:cNvPr>
          <p:cNvPicPr>
            <a:picLocks noChangeAspect="1"/>
          </p:cNvPicPr>
          <p:nvPr/>
        </p:nvPicPr>
        <p:blipFill>
          <a:blip r:embed="rId5"/>
          <a:stretch>
            <a:fillRect/>
          </a:stretch>
        </p:blipFill>
        <p:spPr>
          <a:xfrm>
            <a:off x="4572000" y="264160"/>
            <a:ext cx="4465645" cy="2480358"/>
          </a:xfrm>
          <a:prstGeom prst="rect">
            <a:avLst/>
          </a:prstGeom>
        </p:spPr>
      </p:pic>
    </p:spTree>
    <p:extLst>
      <p:ext uri="{BB962C8B-B14F-4D97-AF65-F5344CB8AC3E}">
        <p14:creationId xmlns:p14="http://schemas.microsoft.com/office/powerpoint/2010/main" val="2514341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1329D-8A25-0D97-AD80-2483BEBC4101}"/>
              </a:ext>
            </a:extLst>
          </p:cNvPr>
          <p:cNvSpPr>
            <a:spLocks noGrp="1"/>
          </p:cNvSpPr>
          <p:nvPr>
            <p:ph type="title"/>
          </p:nvPr>
        </p:nvSpPr>
        <p:spPr/>
        <p:txBody>
          <a:bodyPr/>
          <a:lstStyle/>
          <a:p>
            <a:r>
              <a:rPr lang="en-US" dirty="0"/>
              <a:t>Material Parameter Overview</a:t>
            </a:r>
            <a:endParaRPr lang="en-NL" dirty="0"/>
          </a:p>
        </p:txBody>
      </p:sp>
      <p:graphicFrame>
        <p:nvGraphicFramePr>
          <p:cNvPr id="6" name="Content Placeholder 5">
            <a:extLst>
              <a:ext uri="{FF2B5EF4-FFF2-40B4-BE49-F238E27FC236}">
                <a16:creationId xmlns:a16="http://schemas.microsoft.com/office/drawing/2014/main" id="{8C872D22-2DEB-3470-72F4-C3A190EFA7A6}"/>
              </a:ext>
            </a:extLst>
          </p:cNvPr>
          <p:cNvGraphicFramePr>
            <a:graphicFrameLocks noGrp="1"/>
          </p:cNvGraphicFramePr>
          <p:nvPr>
            <p:ph idx="1"/>
            <p:extLst>
              <p:ext uri="{D42A27DB-BD31-4B8C-83A1-F6EECF244321}">
                <p14:modId xmlns:p14="http://schemas.microsoft.com/office/powerpoint/2010/main" val="1528554965"/>
              </p:ext>
            </p:extLst>
          </p:nvPr>
        </p:nvGraphicFramePr>
        <p:xfrm>
          <a:off x="758825" y="1306513"/>
          <a:ext cx="8095809" cy="2327940"/>
        </p:xfrm>
        <a:graphic>
          <a:graphicData uri="http://schemas.openxmlformats.org/drawingml/2006/table">
            <a:tbl>
              <a:tblPr firstRow="1" bandRow="1">
                <a:tableStyleId>{5C22544A-7EE6-4342-B048-85BDC9FD1C3A}</a:tableStyleId>
              </a:tblPr>
              <a:tblGrid>
                <a:gridCol w="2181145">
                  <a:extLst>
                    <a:ext uri="{9D8B030D-6E8A-4147-A177-3AD203B41FA5}">
                      <a16:colId xmlns:a16="http://schemas.microsoft.com/office/drawing/2014/main" val="2847280913"/>
                    </a:ext>
                  </a:extLst>
                </a:gridCol>
                <a:gridCol w="3761772">
                  <a:extLst>
                    <a:ext uri="{9D8B030D-6E8A-4147-A177-3AD203B41FA5}">
                      <a16:colId xmlns:a16="http://schemas.microsoft.com/office/drawing/2014/main" val="206776952"/>
                    </a:ext>
                  </a:extLst>
                </a:gridCol>
                <a:gridCol w="2152892">
                  <a:extLst>
                    <a:ext uri="{9D8B030D-6E8A-4147-A177-3AD203B41FA5}">
                      <a16:colId xmlns:a16="http://schemas.microsoft.com/office/drawing/2014/main" val="2627081564"/>
                    </a:ext>
                  </a:extLst>
                </a:gridCol>
              </a:tblGrid>
              <a:tr h="465588">
                <a:tc>
                  <a:txBody>
                    <a:bodyPr/>
                    <a:lstStyle/>
                    <a:p>
                      <a:r>
                        <a:rPr lang="en-US" dirty="0"/>
                        <a:t>Component</a:t>
                      </a:r>
                      <a:endParaRPr lang="en-NL" dirty="0"/>
                    </a:p>
                  </a:txBody>
                  <a:tcPr/>
                </a:tc>
                <a:tc>
                  <a:txBody>
                    <a:bodyPr/>
                    <a:lstStyle/>
                    <a:p>
                      <a:r>
                        <a:rPr lang="en-US" dirty="0"/>
                        <a:t>Literature stiffness range</a:t>
                      </a:r>
                      <a:endParaRPr lang="en-NL" dirty="0"/>
                    </a:p>
                  </a:txBody>
                  <a:tcPr/>
                </a:tc>
                <a:tc>
                  <a:txBody>
                    <a:bodyPr/>
                    <a:lstStyle/>
                    <a:p>
                      <a:r>
                        <a:rPr lang="en-US" dirty="0"/>
                        <a:t>Reference values used</a:t>
                      </a:r>
                      <a:endParaRPr lang="en-NL" dirty="0"/>
                    </a:p>
                  </a:txBody>
                  <a:tcPr/>
                </a:tc>
                <a:extLst>
                  <a:ext uri="{0D108BD9-81ED-4DB2-BD59-A6C34878D82A}">
                    <a16:rowId xmlns:a16="http://schemas.microsoft.com/office/drawing/2014/main" val="1527704290"/>
                  </a:ext>
                </a:extLst>
              </a:tr>
              <a:tr h="465588">
                <a:tc>
                  <a:txBody>
                    <a:bodyPr/>
                    <a:lstStyle/>
                    <a:p>
                      <a:r>
                        <a:rPr lang="en-US" dirty="0"/>
                        <a:t>Adipose tissue</a:t>
                      </a:r>
                    </a:p>
                  </a:txBody>
                  <a:tcPr/>
                </a:tc>
                <a:tc>
                  <a:txBody>
                    <a:bodyPr/>
                    <a:lstStyle/>
                    <a:p>
                      <a:r>
                        <a:rPr lang="en-US" dirty="0"/>
                        <a:t>Low-kPa range, strongly method dependent</a:t>
                      </a:r>
                      <a:endParaRPr lang="en-NL" dirty="0"/>
                    </a:p>
                  </a:txBody>
                  <a:tcPr/>
                </a:tc>
                <a:tc>
                  <a:txBody>
                    <a:bodyPr/>
                    <a:lstStyle/>
                    <a:p>
                      <a:r>
                        <a:rPr lang="en-US" dirty="0"/>
                        <a:t>~3.7 kPa</a:t>
                      </a:r>
                      <a:endParaRPr lang="en-NL" dirty="0"/>
                    </a:p>
                  </a:txBody>
                  <a:tcPr/>
                </a:tc>
                <a:extLst>
                  <a:ext uri="{0D108BD9-81ED-4DB2-BD59-A6C34878D82A}">
                    <a16:rowId xmlns:a16="http://schemas.microsoft.com/office/drawing/2014/main" val="2624077169"/>
                  </a:ext>
                </a:extLst>
              </a:tr>
              <a:tr h="465588">
                <a:tc>
                  <a:txBody>
                    <a:bodyPr/>
                    <a:lstStyle/>
                    <a:p>
                      <a:r>
                        <a:rPr lang="en-US" dirty="0"/>
                        <a:t>Fibroglandular tissue</a:t>
                      </a:r>
                      <a:endParaRPr lang="en-NL" dirty="0"/>
                    </a:p>
                  </a:txBody>
                  <a:tcPr/>
                </a:tc>
                <a:tc>
                  <a:txBody>
                    <a:bodyPr/>
                    <a:lstStyle/>
                    <a:p>
                      <a:r>
                        <a:rPr lang="en-US" dirty="0"/>
                        <a:t>Low-to-tens kPa range</a:t>
                      </a:r>
                      <a:endParaRPr lang="en-NL" dirty="0"/>
                    </a:p>
                  </a:txBody>
                  <a:tcPr/>
                </a:tc>
                <a:tc>
                  <a:txBody>
                    <a:bodyPr/>
                    <a:lstStyle/>
                    <a:p>
                      <a:r>
                        <a:rPr lang="en-US" dirty="0"/>
                        <a:t>~10 kPa</a:t>
                      </a:r>
                      <a:endParaRPr lang="en-NL" dirty="0"/>
                    </a:p>
                  </a:txBody>
                  <a:tcPr/>
                </a:tc>
                <a:extLst>
                  <a:ext uri="{0D108BD9-81ED-4DB2-BD59-A6C34878D82A}">
                    <a16:rowId xmlns:a16="http://schemas.microsoft.com/office/drawing/2014/main" val="1592556667"/>
                  </a:ext>
                </a:extLst>
              </a:tr>
              <a:tr h="465588">
                <a:tc>
                  <a:txBody>
                    <a:bodyPr/>
                    <a:lstStyle/>
                    <a:p>
                      <a:r>
                        <a:rPr lang="en-US" dirty="0"/>
                        <a:t>Skin layer</a:t>
                      </a:r>
                      <a:endParaRPr lang="en-NL" dirty="0"/>
                    </a:p>
                  </a:txBody>
                  <a:tcPr/>
                </a:tc>
                <a:tc>
                  <a:txBody>
                    <a:bodyPr/>
                    <a:lstStyle/>
                    <a:p>
                      <a:r>
                        <a:rPr lang="en-US" dirty="0"/>
                        <a:t>Stiffer outer layer, broad reported range</a:t>
                      </a:r>
                      <a:endParaRPr lang="en-NL" dirty="0"/>
                    </a:p>
                  </a:txBody>
                  <a:tcPr/>
                </a:tc>
                <a:tc>
                  <a:txBody>
                    <a:bodyPr/>
                    <a:lstStyle/>
                    <a:p>
                      <a:r>
                        <a:rPr lang="en-US" dirty="0"/>
                        <a:t>~500 kPa</a:t>
                      </a:r>
                      <a:endParaRPr lang="en-NL" dirty="0"/>
                    </a:p>
                  </a:txBody>
                  <a:tcPr/>
                </a:tc>
                <a:extLst>
                  <a:ext uri="{0D108BD9-81ED-4DB2-BD59-A6C34878D82A}">
                    <a16:rowId xmlns:a16="http://schemas.microsoft.com/office/drawing/2014/main" val="2204272080"/>
                  </a:ext>
                </a:extLst>
              </a:tr>
              <a:tr h="465588">
                <a:tc>
                  <a:txBody>
                    <a:bodyPr/>
                    <a:lstStyle/>
                    <a:p>
                      <a:r>
                        <a:rPr lang="en-US" dirty="0"/>
                        <a:t>Tumor </a:t>
                      </a:r>
                      <a:endParaRPr lang="en-NL" dirty="0"/>
                    </a:p>
                  </a:txBody>
                  <a:tcPr/>
                </a:tc>
                <a:tc>
                  <a:txBody>
                    <a:bodyPr/>
                    <a:lstStyle/>
                    <a:p>
                      <a:r>
                        <a:rPr lang="en-US" dirty="0"/>
                        <a:t>Much stiffer than normal tissue</a:t>
                      </a:r>
                      <a:endParaRPr lang="en-NL" dirty="0"/>
                    </a:p>
                  </a:txBody>
                  <a:tcPr/>
                </a:tc>
                <a:tc>
                  <a:txBody>
                    <a:bodyPr/>
                    <a:lstStyle/>
                    <a:p>
                      <a:r>
                        <a:rPr lang="en-US" dirty="0"/>
                        <a:t>~100 kPa</a:t>
                      </a:r>
                      <a:endParaRPr lang="en-NL" dirty="0"/>
                    </a:p>
                  </a:txBody>
                  <a:tcPr/>
                </a:tc>
                <a:extLst>
                  <a:ext uri="{0D108BD9-81ED-4DB2-BD59-A6C34878D82A}">
                    <a16:rowId xmlns:a16="http://schemas.microsoft.com/office/drawing/2014/main" val="1208640321"/>
                  </a:ext>
                </a:extLst>
              </a:tr>
            </a:tbl>
          </a:graphicData>
        </a:graphic>
      </p:graphicFrame>
      <p:sp>
        <p:nvSpPr>
          <p:cNvPr id="4" name="Footer Placeholder 3">
            <a:extLst>
              <a:ext uri="{FF2B5EF4-FFF2-40B4-BE49-F238E27FC236}">
                <a16:creationId xmlns:a16="http://schemas.microsoft.com/office/drawing/2014/main" id="{AF5B7EC0-4F3A-2A23-D180-89D7F3A0C9B3}"/>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9D575655-0670-6506-1592-FA951E04A183}"/>
              </a:ext>
            </a:extLst>
          </p:cNvPr>
          <p:cNvSpPr>
            <a:spLocks noGrp="1"/>
          </p:cNvSpPr>
          <p:nvPr>
            <p:ph type="sldNum" sz="quarter" idx="12"/>
          </p:nvPr>
        </p:nvSpPr>
        <p:spPr/>
        <p:txBody>
          <a:bodyPr/>
          <a:lstStyle/>
          <a:p>
            <a:fld id="{C194BDB0-F4EA-4DD6-8281-CCE2440D0CE0}" type="slidenum">
              <a:rPr lang="en-GB" smtClean="0"/>
              <a:t>19</a:t>
            </a:fld>
            <a:endParaRPr lang="en-GB" dirty="0"/>
          </a:p>
        </p:txBody>
      </p:sp>
    </p:spTree>
    <p:extLst>
      <p:ext uri="{BB962C8B-B14F-4D97-AF65-F5344CB8AC3E}">
        <p14:creationId xmlns:p14="http://schemas.microsoft.com/office/powerpoint/2010/main" val="2380854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BA9B0-CC30-3844-0502-47D0A4A08671}"/>
              </a:ext>
            </a:extLst>
          </p:cNvPr>
          <p:cNvSpPr>
            <a:spLocks noGrp="1"/>
          </p:cNvSpPr>
          <p:nvPr>
            <p:ph type="title"/>
          </p:nvPr>
        </p:nvSpPr>
        <p:spPr/>
        <p:txBody>
          <a:bodyPr/>
          <a:lstStyle/>
          <a:p>
            <a:r>
              <a:rPr lang="en-US" dirty="0"/>
              <a:t>Skin Layer</a:t>
            </a:r>
            <a:endParaRPr lang="en-NL" dirty="0"/>
          </a:p>
        </p:txBody>
      </p:sp>
      <p:sp>
        <p:nvSpPr>
          <p:cNvPr id="3" name="Content Placeholder 2">
            <a:extLst>
              <a:ext uri="{FF2B5EF4-FFF2-40B4-BE49-F238E27FC236}">
                <a16:creationId xmlns:a16="http://schemas.microsoft.com/office/drawing/2014/main" id="{0E2B67ED-79BF-AA62-B6C7-543005BF6473}"/>
              </a:ext>
            </a:extLst>
          </p:cNvPr>
          <p:cNvSpPr>
            <a:spLocks noGrp="1"/>
          </p:cNvSpPr>
          <p:nvPr>
            <p:ph idx="1"/>
          </p:nvPr>
        </p:nvSpPr>
        <p:spPr/>
        <p:txBody>
          <a:bodyPr/>
          <a:lstStyle/>
          <a:p>
            <a:pPr marL="342900" indent="-342900">
              <a:buFont typeface="Arial" panose="020B0604020202020204" pitchFamily="34" charset="0"/>
              <a:buChar char="•"/>
            </a:pPr>
            <a:r>
              <a:rPr lang="en-US" dirty="0"/>
              <a:t>1.5mm Volumetric skin layer</a:t>
            </a:r>
          </a:p>
          <a:p>
            <a:pPr marL="342900" indent="-342900">
              <a:buFont typeface="Arial" panose="020B0604020202020204" pitchFamily="34" charset="0"/>
              <a:buChar char="•"/>
            </a:pPr>
            <a:r>
              <a:rPr lang="en-US" dirty="0"/>
              <a:t>Stiffer outer model component</a:t>
            </a:r>
          </a:p>
          <a:p>
            <a:pPr marL="342900" indent="-342900">
              <a:buFont typeface="Arial" panose="020B0604020202020204" pitchFamily="34" charset="0"/>
              <a:buChar char="•"/>
            </a:pPr>
            <a:r>
              <a:rPr lang="en-US" dirty="0"/>
              <a:t>Strong effect on displacement</a:t>
            </a:r>
            <a:endParaRPr lang="en-NL" dirty="0"/>
          </a:p>
        </p:txBody>
      </p:sp>
      <p:sp>
        <p:nvSpPr>
          <p:cNvPr id="4" name="Footer Placeholder 3">
            <a:extLst>
              <a:ext uri="{FF2B5EF4-FFF2-40B4-BE49-F238E27FC236}">
                <a16:creationId xmlns:a16="http://schemas.microsoft.com/office/drawing/2014/main" id="{98A52EBE-F258-88A6-DF41-CE3BCD3D4C6B}"/>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D548C8C5-A0F4-7E05-8D3F-B3B823D91B8A}"/>
              </a:ext>
            </a:extLst>
          </p:cNvPr>
          <p:cNvSpPr>
            <a:spLocks noGrp="1"/>
          </p:cNvSpPr>
          <p:nvPr>
            <p:ph type="sldNum" sz="quarter" idx="12"/>
          </p:nvPr>
        </p:nvSpPr>
        <p:spPr/>
        <p:txBody>
          <a:bodyPr/>
          <a:lstStyle/>
          <a:p>
            <a:fld id="{C194BDB0-F4EA-4DD6-8281-CCE2440D0CE0}" type="slidenum">
              <a:rPr lang="en-GB" smtClean="0"/>
              <a:t>20</a:t>
            </a:fld>
            <a:endParaRPr lang="en-GB" dirty="0"/>
          </a:p>
        </p:txBody>
      </p:sp>
      <p:pic>
        <p:nvPicPr>
          <p:cNvPr id="7" name="Picture 6">
            <a:extLst>
              <a:ext uri="{FF2B5EF4-FFF2-40B4-BE49-F238E27FC236}">
                <a16:creationId xmlns:a16="http://schemas.microsoft.com/office/drawing/2014/main" id="{38F08905-2DB8-E900-386C-E98A6C2252E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99702" y="967342"/>
            <a:ext cx="4844298" cy="2832051"/>
          </a:xfrm>
          <a:prstGeom prst="rect">
            <a:avLst/>
          </a:prstGeom>
        </p:spPr>
      </p:pic>
      <p:graphicFrame>
        <p:nvGraphicFramePr>
          <p:cNvPr id="8" name="Table 7">
            <a:extLst>
              <a:ext uri="{FF2B5EF4-FFF2-40B4-BE49-F238E27FC236}">
                <a16:creationId xmlns:a16="http://schemas.microsoft.com/office/drawing/2014/main" id="{C8DAD952-693E-59B6-C5F7-525874F10D25}"/>
              </a:ext>
            </a:extLst>
          </p:cNvPr>
          <p:cNvGraphicFramePr>
            <a:graphicFrameLocks noGrp="1"/>
          </p:cNvGraphicFramePr>
          <p:nvPr>
            <p:extLst>
              <p:ext uri="{D42A27DB-BD31-4B8C-83A1-F6EECF244321}">
                <p14:modId xmlns:p14="http://schemas.microsoft.com/office/powerpoint/2010/main" val="4080739224"/>
              </p:ext>
            </p:extLst>
          </p:nvPr>
        </p:nvGraphicFramePr>
        <p:xfrm>
          <a:off x="758824" y="2767871"/>
          <a:ext cx="2847976" cy="1367248"/>
        </p:xfrm>
        <a:graphic>
          <a:graphicData uri="http://schemas.openxmlformats.org/drawingml/2006/table">
            <a:tbl>
              <a:tblPr firstRow="1" bandRow="1">
                <a:tableStyleId>{5C22544A-7EE6-4342-B048-85BDC9FD1C3A}</a:tableStyleId>
              </a:tblPr>
              <a:tblGrid>
                <a:gridCol w="1423988">
                  <a:extLst>
                    <a:ext uri="{9D8B030D-6E8A-4147-A177-3AD203B41FA5}">
                      <a16:colId xmlns:a16="http://schemas.microsoft.com/office/drawing/2014/main" val="2249779484"/>
                    </a:ext>
                  </a:extLst>
                </a:gridCol>
                <a:gridCol w="1423988">
                  <a:extLst>
                    <a:ext uri="{9D8B030D-6E8A-4147-A177-3AD203B41FA5}">
                      <a16:colId xmlns:a16="http://schemas.microsoft.com/office/drawing/2014/main" val="3961417479"/>
                    </a:ext>
                  </a:extLst>
                </a:gridCol>
              </a:tblGrid>
              <a:tr h="341812">
                <a:tc>
                  <a:txBody>
                    <a:bodyPr/>
                    <a:lstStyle/>
                    <a:p>
                      <a:r>
                        <a:rPr lang="en-US" dirty="0"/>
                        <a:t>Types</a:t>
                      </a:r>
                      <a:endParaRPr lang="en-NL" dirty="0"/>
                    </a:p>
                  </a:txBody>
                  <a:tcPr/>
                </a:tc>
                <a:tc>
                  <a:txBody>
                    <a:bodyPr/>
                    <a:lstStyle/>
                    <a:p>
                      <a:r>
                        <a:rPr lang="en-US" dirty="0"/>
                        <a:t>Stiffness</a:t>
                      </a:r>
                      <a:endParaRPr lang="en-NL" dirty="0"/>
                    </a:p>
                  </a:txBody>
                  <a:tcPr/>
                </a:tc>
                <a:extLst>
                  <a:ext uri="{0D108BD9-81ED-4DB2-BD59-A6C34878D82A}">
                    <a16:rowId xmlns:a16="http://schemas.microsoft.com/office/drawing/2014/main" val="594579366"/>
                  </a:ext>
                </a:extLst>
              </a:tr>
              <a:tr h="341812">
                <a:tc>
                  <a:txBody>
                    <a:bodyPr/>
                    <a:lstStyle/>
                    <a:p>
                      <a:r>
                        <a:rPr lang="en-US" dirty="0"/>
                        <a:t>Soft</a:t>
                      </a:r>
                      <a:endParaRPr lang="en-NL" dirty="0"/>
                    </a:p>
                  </a:txBody>
                  <a:tcPr/>
                </a:tc>
                <a:tc>
                  <a:txBody>
                    <a:bodyPr/>
                    <a:lstStyle/>
                    <a:p>
                      <a:r>
                        <a:rPr lang="en-US" dirty="0"/>
                        <a:t>14.3 kPa</a:t>
                      </a:r>
                      <a:endParaRPr lang="en-NL" dirty="0"/>
                    </a:p>
                  </a:txBody>
                  <a:tcPr/>
                </a:tc>
                <a:extLst>
                  <a:ext uri="{0D108BD9-81ED-4DB2-BD59-A6C34878D82A}">
                    <a16:rowId xmlns:a16="http://schemas.microsoft.com/office/drawing/2014/main" val="1251389576"/>
                  </a:ext>
                </a:extLst>
              </a:tr>
              <a:tr h="341812">
                <a:tc>
                  <a:txBody>
                    <a:bodyPr/>
                    <a:lstStyle/>
                    <a:p>
                      <a:r>
                        <a:rPr lang="en-US" dirty="0"/>
                        <a:t>Intermediate</a:t>
                      </a:r>
                      <a:endParaRPr lang="en-NL" dirty="0"/>
                    </a:p>
                  </a:txBody>
                  <a:tcPr/>
                </a:tc>
                <a:tc>
                  <a:txBody>
                    <a:bodyPr/>
                    <a:lstStyle/>
                    <a:p>
                      <a:r>
                        <a:rPr lang="en-US" dirty="0"/>
                        <a:t>88 kPa</a:t>
                      </a:r>
                      <a:endParaRPr lang="en-NL" dirty="0"/>
                    </a:p>
                  </a:txBody>
                  <a:tcPr/>
                </a:tc>
                <a:extLst>
                  <a:ext uri="{0D108BD9-81ED-4DB2-BD59-A6C34878D82A}">
                    <a16:rowId xmlns:a16="http://schemas.microsoft.com/office/drawing/2014/main" val="3167197723"/>
                  </a:ext>
                </a:extLst>
              </a:tr>
              <a:tr h="341812">
                <a:tc>
                  <a:txBody>
                    <a:bodyPr/>
                    <a:lstStyle/>
                    <a:p>
                      <a:r>
                        <a:rPr lang="en-US" dirty="0"/>
                        <a:t>Stiff </a:t>
                      </a:r>
                      <a:endParaRPr lang="en-NL" dirty="0"/>
                    </a:p>
                  </a:txBody>
                  <a:tcPr/>
                </a:tc>
                <a:tc>
                  <a:txBody>
                    <a:bodyPr/>
                    <a:lstStyle/>
                    <a:p>
                      <a:r>
                        <a:rPr lang="en-US" dirty="0"/>
                        <a:t>500 kPa</a:t>
                      </a:r>
                      <a:endParaRPr lang="en-NL" dirty="0"/>
                    </a:p>
                  </a:txBody>
                  <a:tcPr/>
                </a:tc>
                <a:extLst>
                  <a:ext uri="{0D108BD9-81ED-4DB2-BD59-A6C34878D82A}">
                    <a16:rowId xmlns:a16="http://schemas.microsoft.com/office/drawing/2014/main" val="3450689744"/>
                  </a:ext>
                </a:extLst>
              </a:tr>
            </a:tbl>
          </a:graphicData>
        </a:graphic>
      </p:graphicFrame>
    </p:spTree>
    <p:extLst>
      <p:ext uri="{BB962C8B-B14F-4D97-AF65-F5344CB8AC3E}">
        <p14:creationId xmlns:p14="http://schemas.microsoft.com/office/powerpoint/2010/main" val="3859688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5964F-D67E-8BC1-2EA2-E7E03A0463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8A4E39-83C3-5EA3-96FF-A5B91B9CF5E3}"/>
              </a:ext>
            </a:extLst>
          </p:cNvPr>
          <p:cNvSpPr>
            <a:spLocks noGrp="1"/>
          </p:cNvSpPr>
          <p:nvPr>
            <p:ph type="title"/>
          </p:nvPr>
        </p:nvSpPr>
        <p:spPr/>
        <p:txBody>
          <a:bodyPr/>
          <a:lstStyle/>
          <a:p>
            <a:r>
              <a:rPr lang="en-US" dirty="0"/>
              <a:t>Cooper’s Ligaments Support</a:t>
            </a:r>
            <a:endParaRPr lang="en-NL" dirty="0"/>
          </a:p>
        </p:txBody>
      </p:sp>
      <p:sp>
        <p:nvSpPr>
          <p:cNvPr id="3" name="Content Placeholder 2">
            <a:extLst>
              <a:ext uri="{FF2B5EF4-FFF2-40B4-BE49-F238E27FC236}">
                <a16:creationId xmlns:a16="http://schemas.microsoft.com/office/drawing/2014/main" id="{7B5213D5-B324-1659-94DD-20644E912CAB}"/>
              </a:ext>
            </a:extLst>
          </p:cNvPr>
          <p:cNvSpPr>
            <a:spLocks noGrp="1"/>
          </p:cNvSpPr>
          <p:nvPr>
            <p:ph idx="1"/>
          </p:nvPr>
        </p:nvSpPr>
        <p:spPr/>
        <p:txBody>
          <a:bodyPr/>
          <a:lstStyle/>
          <a:p>
            <a:pPr marL="342900" indent="-342900">
              <a:buFont typeface="Arial" panose="020B0604020202020204" pitchFamily="34" charset="0"/>
              <a:buChar char="•"/>
            </a:pPr>
            <a:r>
              <a:rPr lang="en-NL" dirty="0"/>
              <a:t>Fibrous support structures in the breast</a:t>
            </a:r>
            <a:endParaRPr lang="en-US" dirty="0"/>
          </a:p>
          <a:p>
            <a:pPr marL="342900" indent="-342900">
              <a:buFont typeface="Arial" panose="020B0604020202020204" pitchFamily="34" charset="0"/>
              <a:buChar char="•"/>
            </a:pPr>
            <a:r>
              <a:rPr lang="en-US" dirty="0"/>
              <a:t>Simplified support bands</a:t>
            </a:r>
          </a:p>
          <a:p>
            <a:pPr marL="342900" indent="-342900">
              <a:buFont typeface="Arial" panose="020B0604020202020204" pitchFamily="34" charset="0"/>
              <a:buChar char="•"/>
            </a:pPr>
            <a:r>
              <a:rPr lang="en-US" dirty="0"/>
              <a:t>Three support variants</a:t>
            </a:r>
            <a:endParaRPr lang="en-NL" dirty="0"/>
          </a:p>
        </p:txBody>
      </p:sp>
      <p:sp>
        <p:nvSpPr>
          <p:cNvPr id="4" name="Footer Placeholder 3">
            <a:extLst>
              <a:ext uri="{FF2B5EF4-FFF2-40B4-BE49-F238E27FC236}">
                <a16:creationId xmlns:a16="http://schemas.microsoft.com/office/drawing/2014/main" id="{AD94F3F3-E8F9-BEAA-4A2F-8350377934AC}"/>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4A47F565-F8CD-973D-A5F9-714DB635FC2A}"/>
              </a:ext>
            </a:extLst>
          </p:cNvPr>
          <p:cNvSpPr>
            <a:spLocks noGrp="1"/>
          </p:cNvSpPr>
          <p:nvPr>
            <p:ph type="sldNum" sz="quarter" idx="12"/>
          </p:nvPr>
        </p:nvSpPr>
        <p:spPr/>
        <p:txBody>
          <a:bodyPr/>
          <a:lstStyle/>
          <a:p>
            <a:fld id="{C194BDB0-F4EA-4DD6-8281-CCE2440D0CE0}" type="slidenum">
              <a:rPr lang="en-GB" smtClean="0"/>
              <a:t>21</a:t>
            </a:fld>
            <a:endParaRPr lang="en-GB" dirty="0"/>
          </a:p>
        </p:txBody>
      </p:sp>
      <p:pic>
        <p:nvPicPr>
          <p:cNvPr id="7" name="Picture 6" descr="A diagram of a breast&#10;&#10;AI-generated content may be incorrect.">
            <a:extLst>
              <a:ext uri="{FF2B5EF4-FFF2-40B4-BE49-F238E27FC236}">
                <a16:creationId xmlns:a16="http://schemas.microsoft.com/office/drawing/2014/main" id="{D6ABBF37-2488-BB03-1EB3-91753D62298F}"/>
              </a:ext>
            </a:extLst>
          </p:cNvPr>
          <p:cNvPicPr>
            <a:picLocks noChangeAspect="1"/>
          </p:cNvPicPr>
          <p:nvPr/>
        </p:nvPicPr>
        <p:blipFill>
          <a:blip r:embed="rId3"/>
          <a:stretch>
            <a:fillRect/>
          </a:stretch>
        </p:blipFill>
        <p:spPr>
          <a:xfrm>
            <a:off x="4339852" y="1938528"/>
            <a:ext cx="4476049" cy="2686262"/>
          </a:xfrm>
          <a:prstGeom prst="rect">
            <a:avLst/>
          </a:prstGeom>
        </p:spPr>
      </p:pic>
      <p:sp>
        <p:nvSpPr>
          <p:cNvPr id="8" name="Content Placeholder 6">
            <a:extLst>
              <a:ext uri="{FF2B5EF4-FFF2-40B4-BE49-F238E27FC236}">
                <a16:creationId xmlns:a16="http://schemas.microsoft.com/office/drawing/2014/main" id="{7D598FC0-0EDA-28A1-8F7C-D689B55D22F6}"/>
              </a:ext>
            </a:extLst>
          </p:cNvPr>
          <p:cNvSpPr txBox="1">
            <a:spLocks/>
          </p:cNvSpPr>
          <p:nvPr/>
        </p:nvSpPr>
        <p:spPr>
          <a:xfrm>
            <a:off x="7525384" y="1689635"/>
            <a:ext cx="3691256" cy="5616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marL="0" indent="0" algn="l" defTabSz="685800" rtl="0" eaLnBrk="1" latinLnBrk="0" hangingPunct="1">
              <a:lnSpc>
                <a:spcPct val="100000"/>
              </a:lnSpc>
              <a:spcBef>
                <a:spcPts val="0"/>
              </a:spcBef>
              <a:buFont typeface="Arial" panose="020B0604020202020204" pitchFamily="34" charset="0"/>
              <a:buNone/>
              <a:defRPr sz="1950" kern="1200" baseline="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100" dirty="0">
                <a:latin typeface="Arial"/>
                <a:cs typeface="Segoe UI"/>
              </a:rPr>
              <a:t>[6] Chen et al. 2025</a:t>
            </a:r>
            <a:endParaRPr lang="en-US" dirty="0">
              <a:latin typeface="Arial"/>
            </a:endParaRPr>
          </a:p>
          <a:p>
            <a:endParaRPr lang="en-GB" dirty="0">
              <a:cs typeface="Arial"/>
            </a:endParaRPr>
          </a:p>
        </p:txBody>
      </p:sp>
    </p:spTree>
    <p:extLst>
      <p:ext uri="{BB962C8B-B14F-4D97-AF65-F5344CB8AC3E}">
        <p14:creationId xmlns:p14="http://schemas.microsoft.com/office/powerpoint/2010/main" val="1514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09AC665-DFED-E550-B141-AA409FF46A78}"/>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71F7DE02-CD09-21F3-6438-99373CD815CC}"/>
              </a:ext>
            </a:extLst>
          </p:cNvPr>
          <p:cNvSpPr>
            <a:spLocks noGrp="1"/>
          </p:cNvSpPr>
          <p:nvPr>
            <p:ph type="sldNum" sz="quarter" idx="12"/>
          </p:nvPr>
        </p:nvSpPr>
        <p:spPr/>
        <p:txBody>
          <a:bodyPr/>
          <a:lstStyle/>
          <a:p>
            <a:fld id="{C194BDB0-F4EA-4DD6-8281-CCE2440D0CE0}" type="slidenum">
              <a:rPr lang="en-GB" smtClean="0"/>
              <a:t>22</a:t>
            </a:fld>
            <a:endParaRPr lang="en-GB" dirty="0"/>
          </a:p>
        </p:txBody>
      </p:sp>
      <p:pic>
        <p:nvPicPr>
          <p:cNvPr id="21" name="Content Placeholder 20">
            <a:extLst>
              <a:ext uri="{FF2B5EF4-FFF2-40B4-BE49-F238E27FC236}">
                <a16:creationId xmlns:a16="http://schemas.microsoft.com/office/drawing/2014/main" id="{A28B9B86-7F27-9950-98BF-4A4759232B88}"/>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22022" t="12411" r="30831" b="4851"/>
          <a:stretch>
            <a:fillRect/>
          </a:stretch>
        </p:blipFill>
        <p:spPr>
          <a:xfrm>
            <a:off x="557214" y="814583"/>
            <a:ext cx="2244450" cy="3514333"/>
          </a:xfrm>
          <a:prstGeom prst="rect">
            <a:avLst/>
          </a:prstGeom>
        </p:spPr>
      </p:pic>
      <p:pic>
        <p:nvPicPr>
          <p:cNvPr id="23" name="Picture 22">
            <a:extLst>
              <a:ext uri="{FF2B5EF4-FFF2-40B4-BE49-F238E27FC236}">
                <a16:creationId xmlns:a16="http://schemas.microsoft.com/office/drawing/2014/main" id="{5A5DC22B-06F3-72C8-B72D-7BF18EAB4F63}"/>
              </a:ext>
            </a:extLst>
          </p:cNvPr>
          <p:cNvPicPr>
            <a:picLocks noChangeAspect="1"/>
          </p:cNvPicPr>
          <p:nvPr/>
        </p:nvPicPr>
        <p:blipFill>
          <a:blip r:embed="rId4">
            <a:extLst>
              <a:ext uri="{28A0092B-C50C-407E-A947-70E740481C1C}">
                <a14:useLocalDpi xmlns:a14="http://schemas.microsoft.com/office/drawing/2010/main" val="0"/>
              </a:ext>
            </a:extLst>
          </a:blip>
          <a:srcRect l="21542" r="25560"/>
          <a:stretch>
            <a:fillRect/>
          </a:stretch>
        </p:blipFill>
        <p:spPr>
          <a:xfrm>
            <a:off x="3247140" y="814582"/>
            <a:ext cx="2184401" cy="3514333"/>
          </a:xfrm>
          <a:prstGeom prst="rect">
            <a:avLst/>
          </a:prstGeom>
        </p:spPr>
      </p:pic>
      <p:pic>
        <p:nvPicPr>
          <p:cNvPr id="25" name="Picture 24">
            <a:extLst>
              <a:ext uri="{FF2B5EF4-FFF2-40B4-BE49-F238E27FC236}">
                <a16:creationId xmlns:a16="http://schemas.microsoft.com/office/drawing/2014/main" id="{30ABA430-973D-F7ED-B29F-EB022A655458}"/>
              </a:ext>
            </a:extLst>
          </p:cNvPr>
          <p:cNvPicPr>
            <a:picLocks noChangeAspect="1"/>
          </p:cNvPicPr>
          <p:nvPr/>
        </p:nvPicPr>
        <p:blipFill>
          <a:blip r:embed="rId5">
            <a:extLst>
              <a:ext uri="{28A0092B-C50C-407E-A947-70E740481C1C}">
                <a14:useLocalDpi xmlns:a14="http://schemas.microsoft.com/office/drawing/2010/main" val="0"/>
              </a:ext>
            </a:extLst>
          </a:blip>
          <a:srcRect l="19756" t="13399" r="25606" b="5397"/>
          <a:stretch>
            <a:fillRect/>
          </a:stretch>
        </p:blipFill>
        <p:spPr>
          <a:xfrm>
            <a:off x="5900802" y="814582"/>
            <a:ext cx="2685984" cy="3559736"/>
          </a:xfrm>
          <a:prstGeom prst="rect">
            <a:avLst/>
          </a:prstGeom>
        </p:spPr>
      </p:pic>
      <p:sp>
        <p:nvSpPr>
          <p:cNvPr id="27" name="Content Placeholder 2">
            <a:extLst>
              <a:ext uri="{FF2B5EF4-FFF2-40B4-BE49-F238E27FC236}">
                <a16:creationId xmlns:a16="http://schemas.microsoft.com/office/drawing/2014/main" id="{13683C3A-246C-57B1-5933-94041F08EEEF}"/>
              </a:ext>
            </a:extLst>
          </p:cNvPr>
          <p:cNvSpPr txBox="1">
            <a:spLocks/>
          </p:cNvSpPr>
          <p:nvPr/>
        </p:nvSpPr>
        <p:spPr>
          <a:xfrm>
            <a:off x="793749" y="87672"/>
            <a:ext cx="8279131" cy="2922458"/>
          </a:xfrm>
          <a:prstGeom prst="rect">
            <a:avLst/>
          </a:prstGeom>
        </p:spPr>
        <p:txBody>
          <a:bodyPr vert="horz" lIns="0" tIns="0" rIns="0" bIns="0" rtlCol="0">
            <a:noAutofit/>
          </a:bodyPr>
          <a:lstStyle>
            <a:lvl1pPr marL="0" indent="0" algn="l" defTabSz="685800" rtl="0" eaLnBrk="1" latinLnBrk="0" hangingPunct="1">
              <a:lnSpc>
                <a:spcPct val="100000"/>
              </a:lnSpc>
              <a:spcBef>
                <a:spcPts val="0"/>
              </a:spcBef>
              <a:buFont typeface="Arial" panose="020B0604020202020204" pitchFamily="34" charset="0"/>
              <a:buNone/>
              <a:defRPr sz="1950" kern="1200" baseline="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r>
              <a:rPr lang="en-US" dirty="0"/>
              <a:t>3 orientations:</a:t>
            </a:r>
          </a:p>
          <a:p>
            <a:pPr algn="ctr"/>
            <a:r>
              <a:rPr lang="en-US" dirty="0"/>
              <a:t>Nipple-chest			 Skin-glandular 		Skin-glandular dense</a:t>
            </a:r>
            <a:endParaRPr lang="en-NL" dirty="0"/>
          </a:p>
        </p:txBody>
      </p:sp>
    </p:spTree>
    <p:extLst>
      <p:ext uri="{BB962C8B-B14F-4D97-AF65-F5344CB8AC3E}">
        <p14:creationId xmlns:p14="http://schemas.microsoft.com/office/powerpoint/2010/main" val="1818501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55A83-BF63-2250-E340-3B26E5A362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BE7DC5-D7B4-8834-8066-FC25BE993BA9}"/>
              </a:ext>
            </a:extLst>
          </p:cNvPr>
          <p:cNvSpPr>
            <a:spLocks noGrp="1"/>
          </p:cNvSpPr>
          <p:nvPr>
            <p:ph type="title"/>
          </p:nvPr>
        </p:nvSpPr>
        <p:spPr>
          <a:xfrm>
            <a:off x="557214" y="1988402"/>
            <a:ext cx="4101749" cy="1166696"/>
          </a:xfrm>
        </p:spPr>
        <p:txBody>
          <a:bodyPr anchor="t">
            <a:noAutofit/>
          </a:bodyPr>
          <a:lstStyle/>
          <a:p>
            <a:r>
              <a:rPr lang="en-US" sz="3200" b="1" dirty="0"/>
              <a:t>Dynamic Loading and Surface Evaluation</a:t>
            </a:r>
            <a:endParaRPr lang="en-NL" sz="3200" b="1" dirty="0"/>
          </a:p>
        </p:txBody>
      </p:sp>
      <p:sp>
        <p:nvSpPr>
          <p:cNvPr id="4" name="Footer Placeholder 3">
            <a:extLst>
              <a:ext uri="{FF2B5EF4-FFF2-40B4-BE49-F238E27FC236}">
                <a16:creationId xmlns:a16="http://schemas.microsoft.com/office/drawing/2014/main" id="{AAFB749D-C6A3-D4F9-43A3-C7BB824D92F0}"/>
              </a:ext>
            </a:extLst>
          </p:cNvPr>
          <p:cNvSpPr>
            <a:spLocks noGrp="1"/>
          </p:cNvSpPr>
          <p:nvPr>
            <p:ph type="ftr" sz="quarter" idx="11"/>
          </p:nvPr>
        </p:nvSpPr>
        <p:spPr>
          <a:xfrm>
            <a:off x="1114426" y="4568400"/>
            <a:ext cx="7042149" cy="576000"/>
          </a:xfrm>
        </p:spPr>
        <p:txBody>
          <a:bodyPr anchor="ctr">
            <a:normAutofit/>
          </a:bodyPr>
          <a:lstStyle/>
          <a:p>
            <a:pPr>
              <a:spcAft>
                <a:spcPts val="600"/>
              </a:spcAft>
            </a:pPr>
            <a:r>
              <a:rPr lang="en-US"/>
              <a:t>COMSOL FEM Breast Model for Early Warning Scan</a:t>
            </a:r>
            <a:endParaRPr lang="en-GB"/>
          </a:p>
        </p:txBody>
      </p:sp>
      <p:sp>
        <p:nvSpPr>
          <p:cNvPr id="5" name="Slide Number Placeholder 4">
            <a:extLst>
              <a:ext uri="{FF2B5EF4-FFF2-40B4-BE49-F238E27FC236}">
                <a16:creationId xmlns:a16="http://schemas.microsoft.com/office/drawing/2014/main" id="{16D8A797-AEBE-A2D1-6487-D5DB42C32795}"/>
              </a:ext>
            </a:extLst>
          </p:cNvPr>
          <p:cNvSpPr>
            <a:spLocks noGrp="1"/>
          </p:cNvSpPr>
          <p:nvPr>
            <p:ph type="sldNum" sz="quarter" idx="12"/>
          </p:nvPr>
        </p:nvSpPr>
        <p:spPr>
          <a:xfrm>
            <a:off x="2" y="4568400"/>
            <a:ext cx="1114424" cy="572286"/>
          </a:xfrm>
        </p:spPr>
        <p:txBody>
          <a:bodyPr anchor="ctr">
            <a:normAutofit/>
          </a:bodyPr>
          <a:lstStyle/>
          <a:p>
            <a:pPr>
              <a:spcAft>
                <a:spcPts val="600"/>
              </a:spcAft>
            </a:pPr>
            <a:fld id="{C194BDB0-F4EA-4DD6-8281-CCE2440D0CE0}" type="slidenum">
              <a:rPr lang="en-GB" smtClean="0"/>
              <a:pPr>
                <a:spcAft>
                  <a:spcPts val="600"/>
                </a:spcAft>
              </a:pPr>
              <a:t>23</a:t>
            </a:fld>
            <a:endParaRPr lang="en-GB"/>
          </a:p>
        </p:txBody>
      </p:sp>
      <p:pic>
        <p:nvPicPr>
          <p:cNvPr id="7" name="Picture 6">
            <a:extLst>
              <a:ext uri="{FF2B5EF4-FFF2-40B4-BE49-F238E27FC236}">
                <a16:creationId xmlns:a16="http://schemas.microsoft.com/office/drawing/2014/main" id="{201C2216-EEA1-DB34-8677-9DB7BAF2D8E0}"/>
              </a:ext>
            </a:extLst>
          </p:cNvPr>
          <p:cNvPicPr>
            <a:picLocks noChangeAspect="1"/>
          </p:cNvPicPr>
          <p:nvPr/>
        </p:nvPicPr>
        <p:blipFill>
          <a:blip r:embed="rId2">
            <a:extLst>
              <a:ext uri="{28A0092B-C50C-407E-A947-70E740481C1C}">
                <a14:useLocalDpi xmlns:a14="http://schemas.microsoft.com/office/drawing/2010/main" val="0"/>
              </a:ext>
            </a:extLst>
          </a:blip>
          <a:srcRect l="43879" r="6070"/>
          <a:stretch>
            <a:fillRect/>
          </a:stretch>
        </p:blipFill>
        <p:spPr>
          <a:xfrm>
            <a:off x="5042251" y="-1"/>
            <a:ext cx="4101749" cy="4568401"/>
          </a:xfrm>
          <a:prstGeom prst="rect">
            <a:avLst/>
          </a:prstGeom>
        </p:spPr>
      </p:pic>
    </p:spTree>
    <p:extLst>
      <p:ext uri="{BB962C8B-B14F-4D97-AF65-F5344CB8AC3E}">
        <p14:creationId xmlns:p14="http://schemas.microsoft.com/office/powerpoint/2010/main" val="7989159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E55E0-46D9-1475-D457-B46ECBD03E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A1CE6-8864-94DB-F3AD-512A0C278E31}"/>
              </a:ext>
            </a:extLst>
          </p:cNvPr>
          <p:cNvSpPr>
            <a:spLocks noGrp="1"/>
          </p:cNvSpPr>
          <p:nvPr>
            <p:ph type="title"/>
          </p:nvPr>
        </p:nvSpPr>
        <p:spPr/>
        <p:txBody>
          <a:bodyPr/>
          <a:lstStyle/>
          <a:p>
            <a:r>
              <a:rPr lang="en-US" dirty="0"/>
              <a:t>Dynamic Loading</a:t>
            </a:r>
            <a:endParaRPr lang="en-NL" dirty="0"/>
          </a:p>
        </p:txBody>
      </p:sp>
      <p:sp>
        <p:nvSpPr>
          <p:cNvPr id="3" name="Content Placeholder 2">
            <a:extLst>
              <a:ext uri="{FF2B5EF4-FFF2-40B4-BE49-F238E27FC236}">
                <a16:creationId xmlns:a16="http://schemas.microsoft.com/office/drawing/2014/main" id="{8FB91968-0CB4-D27F-6CB0-A535D3B4114E}"/>
              </a:ext>
            </a:extLst>
          </p:cNvPr>
          <p:cNvSpPr>
            <a:spLocks noGrp="1"/>
          </p:cNvSpPr>
          <p:nvPr>
            <p:ph idx="1"/>
          </p:nvPr>
        </p:nvSpPr>
        <p:spPr/>
        <p:txBody>
          <a:bodyPr/>
          <a:lstStyle/>
          <a:p>
            <a:pPr marL="342900" indent="-342900">
              <a:buFont typeface="Arial" panose="020B0604020202020204" pitchFamily="34" charset="0"/>
              <a:buChar char="•"/>
            </a:pPr>
            <a:r>
              <a:rPr lang="en-US" dirty="0"/>
              <a:t>Fixed-support acceleration route</a:t>
            </a:r>
          </a:p>
          <a:p>
            <a:pPr marL="342900" indent="-342900">
              <a:buFont typeface="Arial" panose="020B0604020202020204" pitchFamily="34" charset="0"/>
              <a:buChar char="•"/>
            </a:pPr>
            <a:r>
              <a:rPr lang="en-US" dirty="0"/>
              <a:t>Prescribed support-displacement route</a:t>
            </a:r>
          </a:p>
          <a:p>
            <a:pPr marL="342900" indent="-342900">
              <a:buFont typeface="Arial" panose="020B0604020202020204" pitchFamily="34" charset="0"/>
              <a:buChar char="•"/>
            </a:pPr>
            <a:r>
              <a:rPr lang="en-US" dirty="0"/>
              <a:t>Displacement over time</a:t>
            </a:r>
          </a:p>
          <a:p>
            <a:pPr marL="342900" indent="-342900">
              <a:buFont typeface="Arial" panose="020B0604020202020204" pitchFamily="34" charset="0"/>
              <a:buChar char="•"/>
            </a:pPr>
            <a:endParaRPr lang="en-NL" dirty="0"/>
          </a:p>
        </p:txBody>
      </p:sp>
      <p:sp>
        <p:nvSpPr>
          <p:cNvPr id="4" name="Footer Placeholder 3">
            <a:extLst>
              <a:ext uri="{FF2B5EF4-FFF2-40B4-BE49-F238E27FC236}">
                <a16:creationId xmlns:a16="http://schemas.microsoft.com/office/drawing/2014/main" id="{C428CA88-71BB-9E0A-61F1-D58DCB7D32BA}"/>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FFF9FF2E-5B62-CFC6-889F-CAA94B878C44}"/>
              </a:ext>
            </a:extLst>
          </p:cNvPr>
          <p:cNvSpPr>
            <a:spLocks noGrp="1"/>
          </p:cNvSpPr>
          <p:nvPr>
            <p:ph type="sldNum" sz="quarter" idx="12"/>
          </p:nvPr>
        </p:nvSpPr>
        <p:spPr/>
        <p:txBody>
          <a:bodyPr/>
          <a:lstStyle/>
          <a:p>
            <a:fld id="{C194BDB0-F4EA-4DD6-8281-CCE2440D0CE0}" type="slidenum">
              <a:rPr lang="en-GB" smtClean="0"/>
              <a:t>24</a:t>
            </a:fld>
            <a:endParaRPr lang="en-GB" dirty="0"/>
          </a:p>
        </p:txBody>
      </p:sp>
      <p:pic>
        <p:nvPicPr>
          <p:cNvPr id="6" name="Picture 5">
            <a:extLst>
              <a:ext uri="{FF2B5EF4-FFF2-40B4-BE49-F238E27FC236}">
                <a16:creationId xmlns:a16="http://schemas.microsoft.com/office/drawing/2014/main" id="{22EED04E-05B7-B8C1-9459-3F1082879269}"/>
              </a:ext>
            </a:extLst>
          </p:cNvPr>
          <p:cNvPicPr>
            <a:picLocks noChangeAspect="1"/>
          </p:cNvPicPr>
          <p:nvPr/>
        </p:nvPicPr>
        <p:blipFill>
          <a:blip r:embed="rId3"/>
          <a:srcRect t="7955"/>
          <a:stretch>
            <a:fillRect/>
          </a:stretch>
        </p:blipFill>
        <p:spPr>
          <a:xfrm>
            <a:off x="4444008" y="1994430"/>
            <a:ext cx="4593311" cy="2404320"/>
          </a:xfrm>
          <a:prstGeom prst="rect">
            <a:avLst/>
          </a:prstGeom>
        </p:spPr>
      </p:pic>
    </p:spTree>
    <p:extLst>
      <p:ext uri="{BB962C8B-B14F-4D97-AF65-F5344CB8AC3E}">
        <p14:creationId xmlns:p14="http://schemas.microsoft.com/office/powerpoint/2010/main" val="20340329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773EA-DD71-7F22-207B-F51F63F144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088AFC-1AC1-48E9-A0D4-762CE986E853}"/>
              </a:ext>
            </a:extLst>
          </p:cNvPr>
          <p:cNvSpPr>
            <a:spLocks noGrp="1"/>
          </p:cNvSpPr>
          <p:nvPr>
            <p:ph type="title"/>
          </p:nvPr>
        </p:nvSpPr>
        <p:spPr/>
        <p:txBody>
          <a:bodyPr/>
          <a:lstStyle/>
          <a:p>
            <a:r>
              <a:rPr lang="en-US" dirty="0"/>
              <a:t>Surface Evaluation </a:t>
            </a:r>
            <a:endParaRPr lang="en-NL" dirty="0"/>
          </a:p>
        </p:txBody>
      </p:sp>
      <p:sp>
        <p:nvSpPr>
          <p:cNvPr id="3" name="Content Placeholder 2">
            <a:extLst>
              <a:ext uri="{FF2B5EF4-FFF2-40B4-BE49-F238E27FC236}">
                <a16:creationId xmlns:a16="http://schemas.microsoft.com/office/drawing/2014/main" id="{B2C8E9D8-A75A-8D78-A8FF-86056A023EB3}"/>
              </a:ext>
            </a:extLst>
          </p:cNvPr>
          <p:cNvSpPr>
            <a:spLocks noGrp="1"/>
          </p:cNvSpPr>
          <p:nvPr>
            <p:ph idx="1"/>
          </p:nvPr>
        </p:nvSpPr>
        <p:spPr/>
        <p:txBody>
          <a:bodyPr/>
          <a:lstStyle/>
          <a:p>
            <a:pPr marL="342900" indent="-342900">
              <a:buFont typeface="Arial" panose="020B0604020202020204" pitchFamily="34" charset="0"/>
              <a:buChar char="•"/>
            </a:pPr>
            <a:r>
              <a:rPr lang="en-US" dirty="0"/>
              <a:t>EWS-relevant output: Surface motion</a:t>
            </a:r>
          </a:p>
          <a:p>
            <a:pPr marL="342900" indent="-342900">
              <a:buFont typeface="Arial" panose="020B0604020202020204" pitchFamily="34" charset="0"/>
              <a:buChar char="•"/>
            </a:pPr>
            <a:r>
              <a:rPr lang="en-US" dirty="0"/>
              <a:t>Free outer breast surface </a:t>
            </a:r>
          </a:p>
          <a:p>
            <a:pPr marL="342900" indent="-342900">
              <a:buFont typeface="Arial" panose="020B0604020202020204" pitchFamily="34" charset="0"/>
              <a:buChar char="•"/>
            </a:pPr>
            <a:r>
              <a:rPr lang="en-US" dirty="0"/>
              <a:t>Displacement landmark metrics</a:t>
            </a:r>
          </a:p>
          <a:p>
            <a:pPr marL="342900" indent="-342900">
              <a:buFont typeface="Arial" panose="020B0604020202020204" pitchFamily="34" charset="0"/>
              <a:buChar char="•"/>
            </a:pPr>
            <a:r>
              <a:rPr lang="en-US" dirty="0"/>
              <a:t>Only vertical displacement </a:t>
            </a:r>
            <a:endParaRPr lang="en-NL" dirty="0"/>
          </a:p>
        </p:txBody>
      </p:sp>
      <p:sp>
        <p:nvSpPr>
          <p:cNvPr id="4" name="Footer Placeholder 3">
            <a:extLst>
              <a:ext uri="{FF2B5EF4-FFF2-40B4-BE49-F238E27FC236}">
                <a16:creationId xmlns:a16="http://schemas.microsoft.com/office/drawing/2014/main" id="{D3660190-1DB4-B596-4796-3BD96815CF7C}"/>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C1651FE7-BFCA-D2FD-08C9-F786D9A7C478}"/>
              </a:ext>
            </a:extLst>
          </p:cNvPr>
          <p:cNvSpPr>
            <a:spLocks noGrp="1"/>
          </p:cNvSpPr>
          <p:nvPr>
            <p:ph type="sldNum" sz="quarter" idx="12"/>
          </p:nvPr>
        </p:nvSpPr>
        <p:spPr/>
        <p:txBody>
          <a:bodyPr/>
          <a:lstStyle/>
          <a:p>
            <a:fld id="{C194BDB0-F4EA-4DD6-8281-CCE2440D0CE0}" type="slidenum">
              <a:rPr lang="en-GB" smtClean="0"/>
              <a:t>25</a:t>
            </a:fld>
            <a:endParaRPr lang="en-GB" dirty="0"/>
          </a:p>
        </p:txBody>
      </p:sp>
      <p:pic>
        <p:nvPicPr>
          <p:cNvPr id="6" name="Picture Placeholder 7" descr="A circular object with many lights&#10;&#10;AI-generated content may be incorrect.">
            <a:extLst>
              <a:ext uri="{FF2B5EF4-FFF2-40B4-BE49-F238E27FC236}">
                <a16:creationId xmlns:a16="http://schemas.microsoft.com/office/drawing/2014/main" id="{7876B782-E93D-B8E4-9BB5-F6A9B50EC9C0}"/>
              </a:ext>
            </a:extLst>
          </p:cNvPr>
          <p:cNvPicPr>
            <a:picLocks noChangeAspect="1"/>
          </p:cNvPicPr>
          <p:nvPr/>
        </p:nvPicPr>
        <p:blipFill>
          <a:blip r:embed="rId3"/>
          <a:srcRect l="17712" r="15255" b="2"/>
          <a:stretch>
            <a:fillRect/>
          </a:stretch>
        </p:blipFill>
        <p:spPr>
          <a:xfrm>
            <a:off x="5777660" y="1209040"/>
            <a:ext cx="2952628" cy="2488670"/>
          </a:xfrm>
          <a:prstGeom prst="rect">
            <a:avLst/>
          </a:prstGeom>
          <a:noFill/>
        </p:spPr>
      </p:pic>
    </p:spTree>
    <p:extLst>
      <p:ext uri="{BB962C8B-B14F-4D97-AF65-F5344CB8AC3E}">
        <p14:creationId xmlns:p14="http://schemas.microsoft.com/office/powerpoint/2010/main" val="28758692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4F7BF-FE0B-4988-08F6-9496A3D284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6B2E84-691B-B22C-276E-5B7C337374A5}"/>
              </a:ext>
            </a:extLst>
          </p:cNvPr>
          <p:cNvSpPr>
            <a:spLocks noGrp="1"/>
          </p:cNvSpPr>
          <p:nvPr>
            <p:ph type="title"/>
          </p:nvPr>
        </p:nvSpPr>
        <p:spPr>
          <a:xfrm>
            <a:off x="704197" y="2205631"/>
            <a:ext cx="4030040" cy="732238"/>
          </a:xfrm>
        </p:spPr>
        <p:txBody>
          <a:bodyPr anchor="t">
            <a:noAutofit/>
          </a:bodyPr>
          <a:lstStyle/>
          <a:p>
            <a:r>
              <a:rPr lang="en-US" sz="3200" b="1" dirty="0"/>
              <a:t>Tumor Implementation</a:t>
            </a:r>
            <a:endParaRPr lang="en-NL" sz="3200" b="1" dirty="0"/>
          </a:p>
        </p:txBody>
      </p:sp>
      <p:sp>
        <p:nvSpPr>
          <p:cNvPr id="4" name="Footer Placeholder 3">
            <a:extLst>
              <a:ext uri="{FF2B5EF4-FFF2-40B4-BE49-F238E27FC236}">
                <a16:creationId xmlns:a16="http://schemas.microsoft.com/office/drawing/2014/main" id="{F3BCA446-4595-4EF5-0EBB-5360D4F5E177}"/>
              </a:ext>
            </a:extLst>
          </p:cNvPr>
          <p:cNvSpPr>
            <a:spLocks noGrp="1"/>
          </p:cNvSpPr>
          <p:nvPr>
            <p:ph type="ftr" sz="quarter" idx="11"/>
          </p:nvPr>
        </p:nvSpPr>
        <p:spPr>
          <a:xfrm>
            <a:off x="1114426" y="4568400"/>
            <a:ext cx="7042149" cy="576000"/>
          </a:xfrm>
        </p:spPr>
        <p:txBody>
          <a:bodyPr anchor="ctr">
            <a:normAutofit/>
          </a:bodyPr>
          <a:lstStyle/>
          <a:p>
            <a:pPr>
              <a:spcAft>
                <a:spcPts val="600"/>
              </a:spcAft>
            </a:pPr>
            <a:r>
              <a:rPr lang="en-US"/>
              <a:t>COMSOL FEM Breast Model for Early Warning Scan</a:t>
            </a:r>
            <a:endParaRPr lang="en-GB"/>
          </a:p>
        </p:txBody>
      </p:sp>
      <p:sp>
        <p:nvSpPr>
          <p:cNvPr id="5" name="Slide Number Placeholder 4">
            <a:extLst>
              <a:ext uri="{FF2B5EF4-FFF2-40B4-BE49-F238E27FC236}">
                <a16:creationId xmlns:a16="http://schemas.microsoft.com/office/drawing/2014/main" id="{3A0D815C-7C74-F1EF-B5D8-DEC3FFCDCA71}"/>
              </a:ext>
            </a:extLst>
          </p:cNvPr>
          <p:cNvSpPr>
            <a:spLocks noGrp="1"/>
          </p:cNvSpPr>
          <p:nvPr>
            <p:ph type="sldNum" sz="quarter" idx="12"/>
          </p:nvPr>
        </p:nvSpPr>
        <p:spPr>
          <a:xfrm>
            <a:off x="2" y="4568400"/>
            <a:ext cx="1114424" cy="572286"/>
          </a:xfrm>
        </p:spPr>
        <p:txBody>
          <a:bodyPr anchor="ctr">
            <a:normAutofit/>
          </a:bodyPr>
          <a:lstStyle/>
          <a:p>
            <a:pPr>
              <a:spcAft>
                <a:spcPts val="600"/>
              </a:spcAft>
            </a:pPr>
            <a:fld id="{C194BDB0-F4EA-4DD6-8281-CCE2440D0CE0}" type="slidenum">
              <a:rPr lang="en-GB" smtClean="0"/>
              <a:pPr>
                <a:spcAft>
                  <a:spcPts val="600"/>
                </a:spcAft>
              </a:pPr>
              <a:t>26</a:t>
            </a:fld>
            <a:endParaRPr lang="en-GB"/>
          </a:p>
        </p:txBody>
      </p:sp>
      <p:pic>
        <p:nvPicPr>
          <p:cNvPr id="3" name="Picture 2" descr="Breast Cancer: Symptoms, Types, Causes &amp; Treatment">
            <a:extLst>
              <a:ext uri="{FF2B5EF4-FFF2-40B4-BE49-F238E27FC236}">
                <a16:creationId xmlns:a16="http://schemas.microsoft.com/office/drawing/2014/main" id="{14688F00-753C-1BA8-C4DD-9D09034EA978}"/>
              </a:ext>
            </a:extLst>
          </p:cNvPr>
          <p:cNvPicPr>
            <a:picLocks noChangeAspect="1"/>
          </p:cNvPicPr>
          <p:nvPr/>
        </p:nvPicPr>
        <p:blipFill>
          <a:blip r:embed="rId2"/>
          <a:stretch>
            <a:fillRect/>
          </a:stretch>
        </p:blipFill>
        <p:spPr>
          <a:xfrm>
            <a:off x="5113960" y="0"/>
            <a:ext cx="4030040" cy="4567238"/>
          </a:xfrm>
          <a:prstGeom prst="rect">
            <a:avLst/>
          </a:prstGeom>
          <a:noFill/>
        </p:spPr>
      </p:pic>
    </p:spTree>
    <p:extLst>
      <p:ext uri="{BB962C8B-B14F-4D97-AF65-F5344CB8AC3E}">
        <p14:creationId xmlns:p14="http://schemas.microsoft.com/office/powerpoint/2010/main" val="1082967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4E788-FD07-8A6A-FAD7-0C9C299FB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2A267A-D4D5-9335-5C6F-9058C35FF8E1}"/>
              </a:ext>
            </a:extLst>
          </p:cNvPr>
          <p:cNvSpPr>
            <a:spLocks noGrp="1"/>
          </p:cNvSpPr>
          <p:nvPr>
            <p:ph type="title"/>
          </p:nvPr>
        </p:nvSpPr>
        <p:spPr/>
        <p:txBody>
          <a:bodyPr/>
          <a:lstStyle/>
          <a:p>
            <a:r>
              <a:rPr lang="en-US" dirty="0"/>
              <a:t>Tumor Implementation</a:t>
            </a:r>
            <a:endParaRPr lang="en-NL" dirty="0"/>
          </a:p>
        </p:txBody>
      </p:sp>
      <p:sp>
        <p:nvSpPr>
          <p:cNvPr id="4" name="Footer Placeholder 3">
            <a:extLst>
              <a:ext uri="{FF2B5EF4-FFF2-40B4-BE49-F238E27FC236}">
                <a16:creationId xmlns:a16="http://schemas.microsoft.com/office/drawing/2014/main" id="{3AB825F4-23B6-0590-DF9E-D9A90439D85E}"/>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51FBD15E-2A98-5D78-8266-64E0BF70A09F}"/>
              </a:ext>
            </a:extLst>
          </p:cNvPr>
          <p:cNvSpPr>
            <a:spLocks noGrp="1"/>
          </p:cNvSpPr>
          <p:nvPr>
            <p:ph type="sldNum" sz="quarter" idx="12"/>
          </p:nvPr>
        </p:nvSpPr>
        <p:spPr/>
        <p:txBody>
          <a:bodyPr/>
          <a:lstStyle/>
          <a:p>
            <a:fld id="{C194BDB0-F4EA-4DD6-8281-CCE2440D0CE0}" type="slidenum">
              <a:rPr lang="en-GB" smtClean="0"/>
              <a:t>27</a:t>
            </a:fld>
            <a:endParaRPr lang="en-GB" dirty="0"/>
          </a:p>
        </p:txBody>
      </p:sp>
      <p:pic>
        <p:nvPicPr>
          <p:cNvPr id="9" name="Picture 8">
            <a:extLst>
              <a:ext uri="{FF2B5EF4-FFF2-40B4-BE49-F238E27FC236}">
                <a16:creationId xmlns:a16="http://schemas.microsoft.com/office/drawing/2014/main" id="{2B21EE98-A4D4-06AD-E497-F28F8C6F2D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1605" y="4588510"/>
            <a:ext cx="1664970" cy="554990"/>
          </a:xfrm>
          <a:prstGeom prst="rect">
            <a:avLst/>
          </a:prstGeom>
        </p:spPr>
      </p:pic>
      <p:pic>
        <p:nvPicPr>
          <p:cNvPr id="7" name="Content Placeholder 6">
            <a:extLst>
              <a:ext uri="{FF2B5EF4-FFF2-40B4-BE49-F238E27FC236}">
                <a16:creationId xmlns:a16="http://schemas.microsoft.com/office/drawing/2014/main" id="{5D94903A-A235-2741-8931-09F9F9C3FE70}"/>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4572000" y="4606236"/>
            <a:ext cx="1990725" cy="519537"/>
          </a:xfrm>
          <a:prstGeom prst="rect">
            <a:avLst/>
          </a:prstGeom>
        </p:spPr>
      </p:pic>
      <p:sp>
        <p:nvSpPr>
          <p:cNvPr id="3" name="Tijdelijke aanduiding voor inhoud 2">
            <a:extLst>
              <a:ext uri="{FF2B5EF4-FFF2-40B4-BE49-F238E27FC236}">
                <a16:creationId xmlns:a16="http://schemas.microsoft.com/office/drawing/2014/main" id="{5DAB9F88-6464-B4B2-6F3C-39093DDE69E0}"/>
              </a:ext>
            </a:extLst>
          </p:cNvPr>
          <p:cNvSpPr txBox="1">
            <a:spLocks/>
          </p:cNvSpPr>
          <p:nvPr/>
        </p:nvSpPr>
        <p:spPr>
          <a:xfrm>
            <a:off x="758824" y="1306642"/>
            <a:ext cx="7556501" cy="2922458"/>
          </a:xfrm>
          <a:prstGeom prst="rect">
            <a:avLst/>
          </a:prstGeom>
        </p:spPr>
        <p:txBody>
          <a:bodyPr vert="horz" lIns="0" tIns="0" rIns="0" bIns="0" rtlCol="0">
            <a:noAutofit/>
          </a:bodyPr>
          <a:lstStyle>
            <a:lvl1pPr marL="0" indent="0" algn="l" defTabSz="685800" rtl="0" eaLnBrk="1" latinLnBrk="0" hangingPunct="1">
              <a:lnSpc>
                <a:spcPct val="100000"/>
              </a:lnSpc>
              <a:spcBef>
                <a:spcPts val="0"/>
              </a:spcBef>
              <a:buFont typeface="Arial" panose="020B0604020202020204" pitchFamily="34" charset="0"/>
              <a:buNone/>
              <a:defRPr sz="1950" kern="1200" baseline="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2"/>
            <a:r>
              <a:rPr lang="en-GB" sz="1950" dirty="0"/>
              <a:t>Spherical tumor mask</a:t>
            </a:r>
          </a:p>
          <a:p>
            <a:pPr lvl="2"/>
            <a:r>
              <a:rPr lang="en-GB" sz="1950" dirty="0"/>
              <a:t>Local stiffness contrast ~100kPa</a:t>
            </a:r>
          </a:p>
          <a:p>
            <a:pPr lvl="2"/>
            <a:r>
              <a:rPr lang="en-GB" sz="1950" dirty="0"/>
              <a:t>Multiple sizes and locations</a:t>
            </a:r>
          </a:p>
          <a:p>
            <a:pPr lvl="2"/>
            <a:r>
              <a:rPr lang="en-GB" sz="1950" dirty="0"/>
              <a:t>Build-level placement check</a:t>
            </a:r>
          </a:p>
        </p:txBody>
      </p:sp>
      <p:pic>
        <p:nvPicPr>
          <p:cNvPr id="19" name="Picture 18">
            <a:extLst>
              <a:ext uri="{FF2B5EF4-FFF2-40B4-BE49-F238E27FC236}">
                <a16:creationId xmlns:a16="http://schemas.microsoft.com/office/drawing/2014/main" id="{89F5FD87-6751-C431-46C1-262A7E67884C}"/>
              </a:ext>
            </a:extLst>
          </p:cNvPr>
          <p:cNvPicPr>
            <a:picLocks noChangeAspect="1"/>
          </p:cNvPicPr>
          <p:nvPr/>
        </p:nvPicPr>
        <p:blipFill>
          <a:blip r:embed="rId5">
            <a:extLst>
              <a:ext uri="{28A0092B-C50C-407E-A947-70E740481C1C}">
                <a14:useLocalDpi xmlns:a14="http://schemas.microsoft.com/office/drawing/2010/main" val="0"/>
              </a:ext>
            </a:extLst>
          </a:blip>
          <a:srcRect l="14331" t="-1" b="1499"/>
          <a:stretch>
            <a:fillRect/>
          </a:stretch>
        </p:blipFill>
        <p:spPr>
          <a:xfrm>
            <a:off x="5366766" y="1057749"/>
            <a:ext cx="3036824" cy="3113210"/>
          </a:xfrm>
          <a:prstGeom prst="rect">
            <a:avLst/>
          </a:prstGeom>
        </p:spPr>
      </p:pic>
    </p:spTree>
    <p:extLst>
      <p:ext uri="{BB962C8B-B14F-4D97-AF65-F5344CB8AC3E}">
        <p14:creationId xmlns:p14="http://schemas.microsoft.com/office/powerpoint/2010/main" val="3288508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28F7C-C887-BEBA-A3E8-79202CD61352}"/>
              </a:ext>
            </a:extLst>
          </p:cNvPr>
          <p:cNvSpPr>
            <a:spLocks noGrp="1"/>
          </p:cNvSpPr>
          <p:nvPr>
            <p:ph type="title"/>
          </p:nvPr>
        </p:nvSpPr>
        <p:spPr>
          <a:xfrm>
            <a:off x="-187849" y="442304"/>
            <a:ext cx="9762154" cy="1093591"/>
          </a:xfrm>
        </p:spPr>
        <p:txBody>
          <a:bodyPr/>
          <a:lstStyle/>
          <a:p>
            <a:pPr algn="ctr"/>
            <a:r>
              <a:rPr lang="en-US" sz="1600" b="0" dirty="0"/>
              <a:t>Examples:</a:t>
            </a:r>
            <a:br>
              <a:rPr lang="en-US" sz="1600" b="0" dirty="0"/>
            </a:br>
            <a:r>
              <a:rPr lang="en-US" sz="1600" b="0" dirty="0"/>
              <a:t>Big (r=10mm) – Central	                    Small (r=3mm) – Subareolar	            Medium (r=6mm) – Upper-outer </a:t>
            </a:r>
            <a:endParaRPr lang="en-NL" sz="1600" b="0" dirty="0"/>
          </a:p>
        </p:txBody>
      </p:sp>
      <p:sp>
        <p:nvSpPr>
          <p:cNvPr id="4" name="Footer Placeholder 3">
            <a:extLst>
              <a:ext uri="{FF2B5EF4-FFF2-40B4-BE49-F238E27FC236}">
                <a16:creationId xmlns:a16="http://schemas.microsoft.com/office/drawing/2014/main" id="{88A2C2E5-D116-71E0-4420-871C07C16753}"/>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CAA89A9F-3C6D-2FC7-E0C8-CF198DCB362A}"/>
              </a:ext>
            </a:extLst>
          </p:cNvPr>
          <p:cNvSpPr>
            <a:spLocks noGrp="1"/>
          </p:cNvSpPr>
          <p:nvPr>
            <p:ph type="sldNum" sz="quarter" idx="12"/>
          </p:nvPr>
        </p:nvSpPr>
        <p:spPr/>
        <p:txBody>
          <a:bodyPr/>
          <a:lstStyle/>
          <a:p>
            <a:fld id="{C194BDB0-F4EA-4DD6-8281-CCE2440D0CE0}" type="slidenum">
              <a:rPr lang="en-GB" smtClean="0"/>
              <a:t>28</a:t>
            </a:fld>
            <a:endParaRPr lang="en-GB" dirty="0"/>
          </a:p>
        </p:txBody>
      </p:sp>
      <p:pic>
        <p:nvPicPr>
          <p:cNvPr id="17" name="Content Placeholder 16">
            <a:extLst>
              <a:ext uri="{FF2B5EF4-FFF2-40B4-BE49-F238E27FC236}">
                <a16:creationId xmlns:a16="http://schemas.microsoft.com/office/drawing/2014/main" id="{FBBB1799-A430-1770-EAA2-11A835CA8EC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147837" y="1287528"/>
            <a:ext cx="2718372" cy="2982444"/>
          </a:xfrm>
          <a:prstGeom prst="rect">
            <a:avLst/>
          </a:prstGeom>
        </p:spPr>
      </p:pic>
      <p:pic>
        <p:nvPicPr>
          <p:cNvPr id="14" name="Picture 13">
            <a:extLst>
              <a:ext uri="{FF2B5EF4-FFF2-40B4-BE49-F238E27FC236}">
                <a16:creationId xmlns:a16="http://schemas.microsoft.com/office/drawing/2014/main" id="{B07C2BD6-20B3-4F8E-8742-8A39656F5A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2828" y="1482985"/>
            <a:ext cx="2988493" cy="2660179"/>
          </a:xfrm>
          <a:prstGeom prst="rect">
            <a:avLst/>
          </a:prstGeom>
        </p:spPr>
      </p:pic>
      <p:pic>
        <p:nvPicPr>
          <p:cNvPr id="15" name="Picture 14">
            <a:extLst>
              <a:ext uri="{FF2B5EF4-FFF2-40B4-BE49-F238E27FC236}">
                <a16:creationId xmlns:a16="http://schemas.microsoft.com/office/drawing/2014/main" id="{2395B20F-28A4-EB54-E9DE-43C3A507829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3317" y="1417539"/>
            <a:ext cx="2327460" cy="2921321"/>
          </a:xfrm>
          <a:prstGeom prst="rect">
            <a:avLst/>
          </a:prstGeom>
        </p:spPr>
      </p:pic>
    </p:spTree>
    <p:extLst>
      <p:ext uri="{BB962C8B-B14F-4D97-AF65-F5344CB8AC3E}">
        <p14:creationId xmlns:p14="http://schemas.microsoft.com/office/powerpoint/2010/main" val="3016035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1ABF7-508E-C70A-AA43-252E3FCDF2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C7C50D-7B0A-BFFA-01FC-B5A087382AB2}"/>
              </a:ext>
            </a:extLst>
          </p:cNvPr>
          <p:cNvSpPr>
            <a:spLocks noGrp="1"/>
          </p:cNvSpPr>
          <p:nvPr>
            <p:ph type="title"/>
          </p:nvPr>
        </p:nvSpPr>
        <p:spPr/>
        <p:txBody>
          <a:bodyPr/>
          <a:lstStyle/>
          <a:p>
            <a:r>
              <a:rPr lang="en-US" dirty="0"/>
              <a:t>Current Limitations and Future Work</a:t>
            </a:r>
            <a:endParaRPr lang="en-NL" dirty="0"/>
          </a:p>
        </p:txBody>
      </p:sp>
      <p:sp>
        <p:nvSpPr>
          <p:cNvPr id="4" name="Footer Placeholder 3">
            <a:extLst>
              <a:ext uri="{FF2B5EF4-FFF2-40B4-BE49-F238E27FC236}">
                <a16:creationId xmlns:a16="http://schemas.microsoft.com/office/drawing/2014/main" id="{49DF3432-5946-E73F-CFA9-C404234CAE01}"/>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C51C194D-6302-0FA7-45DC-FFC7737054CD}"/>
              </a:ext>
            </a:extLst>
          </p:cNvPr>
          <p:cNvSpPr>
            <a:spLocks noGrp="1"/>
          </p:cNvSpPr>
          <p:nvPr>
            <p:ph type="sldNum" sz="quarter" idx="12"/>
          </p:nvPr>
        </p:nvSpPr>
        <p:spPr/>
        <p:txBody>
          <a:bodyPr/>
          <a:lstStyle/>
          <a:p>
            <a:fld id="{C194BDB0-F4EA-4DD6-8281-CCE2440D0CE0}" type="slidenum">
              <a:rPr lang="en-GB" smtClean="0"/>
              <a:t>29</a:t>
            </a:fld>
            <a:endParaRPr lang="en-GB" dirty="0"/>
          </a:p>
        </p:txBody>
      </p:sp>
      <p:pic>
        <p:nvPicPr>
          <p:cNvPr id="9" name="Picture 8">
            <a:extLst>
              <a:ext uri="{FF2B5EF4-FFF2-40B4-BE49-F238E27FC236}">
                <a16:creationId xmlns:a16="http://schemas.microsoft.com/office/drawing/2014/main" id="{9FD614DD-C5DB-B32F-DA3D-938BF23497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1605" y="4588510"/>
            <a:ext cx="1664970" cy="554990"/>
          </a:xfrm>
          <a:prstGeom prst="rect">
            <a:avLst/>
          </a:prstGeom>
        </p:spPr>
      </p:pic>
      <p:pic>
        <p:nvPicPr>
          <p:cNvPr id="7" name="Content Placeholder 6">
            <a:extLst>
              <a:ext uri="{FF2B5EF4-FFF2-40B4-BE49-F238E27FC236}">
                <a16:creationId xmlns:a16="http://schemas.microsoft.com/office/drawing/2014/main" id="{61113FAE-5291-6E5D-BC8B-CD2A51777899}"/>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4572000" y="4606236"/>
            <a:ext cx="1990725" cy="519537"/>
          </a:xfrm>
          <a:prstGeom prst="rect">
            <a:avLst/>
          </a:prstGeom>
        </p:spPr>
      </p:pic>
      <p:sp>
        <p:nvSpPr>
          <p:cNvPr id="3" name="Tijdelijke aanduiding voor inhoud 2">
            <a:extLst>
              <a:ext uri="{FF2B5EF4-FFF2-40B4-BE49-F238E27FC236}">
                <a16:creationId xmlns:a16="http://schemas.microsoft.com/office/drawing/2014/main" id="{16CC90C1-4A7F-0FD3-7321-19C42DEECB0E}"/>
              </a:ext>
            </a:extLst>
          </p:cNvPr>
          <p:cNvSpPr txBox="1">
            <a:spLocks/>
          </p:cNvSpPr>
          <p:nvPr/>
        </p:nvSpPr>
        <p:spPr>
          <a:xfrm>
            <a:off x="758824" y="1306642"/>
            <a:ext cx="7556501" cy="2922458"/>
          </a:xfrm>
          <a:prstGeom prst="rect">
            <a:avLst/>
          </a:prstGeom>
        </p:spPr>
        <p:txBody>
          <a:bodyPr vert="horz" lIns="0" tIns="0" rIns="0" bIns="0" rtlCol="0">
            <a:noAutofit/>
          </a:bodyPr>
          <a:lstStyle>
            <a:lvl1pPr marL="0" indent="0" algn="l" defTabSz="685800" rtl="0" eaLnBrk="1" latinLnBrk="0" hangingPunct="1">
              <a:lnSpc>
                <a:spcPct val="100000"/>
              </a:lnSpc>
              <a:spcBef>
                <a:spcPts val="0"/>
              </a:spcBef>
              <a:buFont typeface="Arial" panose="020B0604020202020204" pitchFamily="34" charset="0"/>
              <a:buNone/>
              <a:defRPr sz="1950" kern="1200" baseline="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2"/>
            <a:r>
              <a:rPr lang="en-GB" sz="1950" dirty="0"/>
              <a:t>Limited local computation capacity</a:t>
            </a:r>
          </a:p>
          <a:p>
            <a:pPr lvl="3"/>
            <a:r>
              <a:rPr lang="en-GB" sz="1950" dirty="0"/>
              <a:t>Faster environment needed</a:t>
            </a:r>
          </a:p>
          <a:p>
            <a:pPr lvl="3"/>
            <a:r>
              <a:rPr lang="en-GB" sz="1950" dirty="0"/>
              <a:t>Larger / higher complex sweeps</a:t>
            </a:r>
          </a:p>
          <a:p>
            <a:pPr lvl="3"/>
            <a:endParaRPr lang="en-GB" sz="1950" dirty="0"/>
          </a:p>
          <a:p>
            <a:pPr lvl="2"/>
            <a:r>
              <a:rPr lang="en-GB" sz="1950" dirty="0"/>
              <a:t>Tumor cases need to be tested</a:t>
            </a:r>
          </a:p>
          <a:p>
            <a:pPr lvl="2"/>
            <a:r>
              <a:rPr lang="en-GB" sz="1950" dirty="0"/>
              <a:t>Dynamic loading not yet fully validated</a:t>
            </a:r>
          </a:p>
          <a:p>
            <a:pPr lvl="3"/>
            <a:r>
              <a:rPr lang="en-GB" sz="1950" dirty="0"/>
              <a:t>Comparison EWS like surface motion data</a:t>
            </a:r>
          </a:p>
        </p:txBody>
      </p:sp>
    </p:spTree>
    <p:extLst>
      <p:ext uri="{BB962C8B-B14F-4D97-AF65-F5344CB8AC3E}">
        <p14:creationId xmlns:p14="http://schemas.microsoft.com/office/powerpoint/2010/main" val="1791822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ADDA4-C2CA-A88E-4670-B6C7A124A2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BA95C-86C3-4952-A1B5-A9902C2C5D4C}"/>
              </a:ext>
            </a:extLst>
          </p:cNvPr>
          <p:cNvSpPr>
            <a:spLocks noGrp="1"/>
          </p:cNvSpPr>
          <p:nvPr>
            <p:ph type="title"/>
          </p:nvPr>
        </p:nvSpPr>
        <p:spPr/>
        <p:txBody>
          <a:bodyPr/>
          <a:lstStyle/>
          <a:p>
            <a:r>
              <a:rPr lang="en-US" dirty="0"/>
              <a:t>Conclusion</a:t>
            </a:r>
            <a:endParaRPr lang="en-NL" dirty="0"/>
          </a:p>
        </p:txBody>
      </p:sp>
      <p:sp>
        <p:nvSpPr>
          <p:cNvPr id="4" name="Footer Placeholder 3">
            <a:extLst>
              <a:ext uri="{FF2B5EF4-FFF2-40B4-BE49-F238E27FC236}">
                <a16:creationId xmlns:a16="http://schemas.microsoft.com/office/drawing/2014/main" id="{7835DC95-C529-0250-68C5-DBC76FF03A1F}"/>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3AE1E97E-EEB0-D11D-0E82-F093FFB27F38}"/>
              </a:ext>
            </a:extLst>
          </p:cNvPr>
          <p:cNvSpPr>
            <a:spLocks noGrp="1"/>
          </p:cNvSpPr>
          <p:nvPr>
            <p:ph type="sldNum" sz="quarter" idx="12"/>
          </p:nvPr>
        </p:nvSpPr>
        <p:spPr/>
        <p:txBody>
          <a:bodyPr/>
          <a:lstStyle/>
          <a:p>
            <a:fld id="{C194BDB0-F4EA-4DD6-8281-CCE2440D0CE0}" type="slidenum">
              <a:rPr lang="en-GB" smtClean="0"/>
              <a:t>30</a:t>
            </a:fld>
            <a:endParaRPr lang="en-GB" dirty="0"/>
          </a:p>
        </p:txBody>
      </p:sp>
      <p:pic>
        <p:nvPicPr>
          <p:cNvPr id="9" name="Picture 8">
            <a:extLst>
              <a:ext uri="{FF2B5EF4-FFF2-40B4-BE49-F238E27FC236}">
                <a16:creationId xmlns:a16="http://schemas.microsoft.com/office/drawing/2014/main" id="{948C7F82-1068-49AB-B9CD-07FB6D0AC3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1605" y="4588510"/>
            <a:ext cx="1664970" cy="554990"/>
          </a:xfrm>
          <a:prstGeom prst="rect">
            <a:avLst/>
          </a:prstGeom>
        </p:spPr>
      </p:pic>
      <p:pic>
        <p:nvPicPr>
          <p:cNvPr id="7" name="Content Placeholder 6">
            <a:extLst>
              <a:ext uri="{FF2B5EF4-FFF2-40B4-BE49-F238E27FC236}">
                <a16:creationId xmlns:a16="http://schemas.microsoft.com/office/drawing/2014/main" id="{449C9FC3-4D46-555F-4A33-1CF7102494EE}"/>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4572000" y="4606236"/>
            <a:ext cx="1990725" cy="519537"/>
          </a:xfrm>
          <a:prstGeom prst="rect">
            <a:avLst/>
          </a:prstGeom>
        </p:spPr>
      </p:pic>
      <p:sp>
        <p:nvSpPr>
          <p:cNvPr id="3" name="Tijdelijke aanduiding voor inhoud 2">
            <a:extLst>
              <a:ext uri="{FF2B5EF4-FFF2-40B4-BE49-F238E27FC236}">
                <a16:creationId xmlns:a16="http://schemas.microsoft.com/office/drawing/2014/main" id="{27DFB689-79E1-EB95-12A7-6E9368E19A2E}"/>
              </a:ext>
            </a:extLst>
          </p:cNvPr>
          <p:cNvSpPr txBox="1">
            <a:spLocks/>
          </p:cNvSpPr>
          <p:nvPr/>
        </p:nvSpPr>
        <p:spPr>
          <a:xfrm>
            <a:off x="758824" y="1306642"/>
            <a:ext cx="7556501" cy="2922458"/>
          </a:xfrm>
          <a:prstGeom prst="rect">
            <a:avLst/>
          </a:prstGeom>
        </p:spPr>
        <p:txBody>
          <a:bodyPr vert="horz" lIns="0" tIns="0" rIns="0" bIns="0" rtlCol="0">
            <a:noAutofit/>
          </a:bodyPr>
          <a:lstStyle>
            <a:lvl1pPr marL="0" indent="0" algn="l" defTabSz="685800" rtl="0" eaLnBrk="1" latinLnBrk="0" hangingPunct="1">
              <a:lnSpc>
                <a:spcPct val="100000"/>
              </a:lnSpc>
              <a:spcBef>
                <a:spcPts val="0"/>
              </a:spcBef>
              <a:buFont typeface="Arial" panose="020B0604020202020204" pitchFamily="34" charset="0"/>
              <a:buNone/>
              <a:defRPr sz="1950" kern="1200" baseline="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2"/>
            <a:r>
              <a:rPr lang="en-GB" sz="1950" dirty="0"/>
              <a:t>Reproducible COMSOL FEM workflow developed</a:t>
            </a:r>
          </a:p>
          <a:p>
            <a:pPr lvl="2"/>
            <a:r>
              <a:rPr lang="en-GB" sz="1950" dirty="0"/>
              <a:t>Skin and Material settings dominated response</a:t>
            </a:r>
          </a:p>
          <a:p>
            <a:pPr lvl="2"/>
            <a:r>
              <a:rPr lang="en-GB" sz="1950" dirty="0"/>
              <a:t>Model ready for future research</a:t>
            </a:r>
          </a:p>
        </p:txBody>
      </p:sp>
    </p:spTree>
    <p:extLst>
      <p:ext uri="{BB962C8B-B14F-4D97-AF65-F5344CB8AC3E}">
        <p14:creationId xmlns:p14="http://schemas.microsoft.com/office/powerpoint/2010/main" val="2120346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77CA8-020D-8C8E-66AD-B26EAC525A03}"/>
              </a:ext>
            </a:extLst>
          </p:cNvPr>
          <p:cNvSpPr>
            <a:spLocks noGrp="1"/>
          </p:cNvSpPr>
          <p:nvPr>
            <p:ph type="title"/>
          </p:nvPr>
        </p:nvSpPr>
        <p:spPr/>
        <p:txBody>
          <a:bodyPr/>
          <a:lstStyle/>
          <a:p>
            <a:r>
              <a:rPr lang="en-US" dirty="0"/>
              <a:t>References</a:t>
            </a:r>
            <a:endParaRPr lang="en-NL" dirty="0"/>
          </a:p>
        </p:txBody>
      </p:sp>
      <p:sp>
        <p:nvSpPr>
          <p:cNvPr id="3" name="Content Placeholder 2">
            <a:extLst>
              <a:ext uri="{FF2B5EF4-FFF2-40B4-BE49-F238E27FC236}">
                <a16:creationId xmlns:a16="http://schemas.microsoft.com/office/drawing/2014/main" id="{15D08038-9EF3-212F-E964-14D8E68CE302}"/>
              </a:ext>
            </a:extLst>
          </p:cNvPr>
          <p:cNvSpPr>
            <a:spLocks noGrp="1"/>
          </p:cNvSpPr>
          <p:nvPr>
            <p:ph idx="1"/>
          </p:nvPr>
        </p:nvSpPr>
        <p:spPr>
          <a:xfrm>
            <a:off x="758824" y="1110521"/>
            <a:ext cx="7556501" cy="2922458"/>
          </a:xfrm>
        </p:spPr>
        <p:txBody>
          <a:bodyPr/>
          <a:lstStyle/>
          <a:p>
            <a:r>
              <a:rPr lang="en-US" sz="1400" dirty="0"/>
              <a:t>[1] World Health Organization, “Breast cancer,” 2025. [Online]. Available: </a:t>
            </a:r>
            <a:r>
              <a:rPr lang="en-US" sz="1400" dirty="0">
                <a:hlinkClick r:id="rId3"/>
              </a:rPr>
              <a:t>https://www.who.int/news-room/fact-sheets/detail/breast-cancer</a:t>
            </a:r>
            <a:endParaRPr lang="en-US" sz="1400" dirty="0"/>
          </a:p>
          <a:p>
            <a:r>
              <a:rPr lang="en-US" sz="1400" dirty="0"/>
              <a:t>[2]</a:t>
            </a:r>
            <a:r>
              <a:rPr lang="en-NL" sz="1400" dirty="0"/>
              <a:t> Conner, K. (2026, June 15). </a:t>
            </a:r>
            <a:r>
              <a:rPr lang="en-NL" sz="1400" i="1" dirty="0"/>
              <a:t>Dense Breasts</a:t>
            </a:r>
            <a:r>
              <a:rPr lang="en-NL" sz="1400" dirty="0"/>
              <a:t>. </a:t>
            </a:r>
            <a:r>
              <a:rPr lang="en-NL" sz="1400" dirty="0">
                <a:hlinkClick r:id="rId4"/>
              </a:rPr>
              <a:t>https://www.breastcancer.org/risk/risk-factors/dens</a:t>
            </a:r>
            <a:r>
              <a:rPr lang="en-US" sz="1400" dirty="0">
                <a:hlinkClick r:id="rId4"/>
              </a:rPr>
              <a:t>e-</a:t>
            </a:r>
            <a:r>
              <a:rPr lang="en-NL" sz="1400" dirty="0">
                <a:hlinkClick r:id="rId4"/>
              </a:rPr>
              <a:t>breasts</a:t>
            </a:r>
            <a:endParaRPr lang="en-US" sz="1400" dirty="0"/>
          </a:p>
          <a:p>
            <a:r>
              <a:rPr lang="en-US" sz="1400" dirty="0"/>
              <a:t>[3]</a:t>
            </a:r>
            <a:r>
              <a:rPr lang="en-NL" sz="1400" dirty="0"/>
              <a:t> MSc, L. P. S. M. (2019, December 13). </a:t>
            </a:r>
            <a:r>
              <a:rPr lang="en-NL" sz="1400" i="1" dirty="0"/>
              <a:t>What is Mammography?</a:t>
            </a:r>
            <a:r>
              <a:rPr lang="en-NL" sz="1400" dirty="0"/>
              <a:t> </a:t>
            </a:r>
            <a:r>
              <a:rPr lang="en-NL" sz="1400" dirty="0" err="1"/>
              <a:t>inviTRA</a:t>
            </a:r>
            <a:r>
              <a:rPr lang="en-NL" sz="1400" dirty="0"/>
              <a:t>. </a:t>
            </a:r>
            <a:r>
              <a:rPr lang="en-NL" sz="1400" dirty="0">
                <a:hlinkClick r:id="rId5"/>
              </a:rPr>
              <a:t>https://www.invitra.com/en/breast-cancer/mamography/</a:t>
            </a:r>
            <a:endParaRPr lang="en-US" sz="1400" dirty="0"/>
          </a:p>
          <a:p>
            <a:r>
              <a:rPr lang="en-US" sz="1400" dirty="0"/>
              <a:t>[4] Early Warning Scan, “The early warning scan project,” 2025, accessed: 2026-06-05. [Online]. Available: </a:t>
            </a:r>
            <a:r>
              <a:rPr lang="en-US" sz="1400" dirty="0">
                <a:hlinkClick r:id="rId6"/>
              </a:rPr>
              <a:t>https://www.earlywarningscan.nl/</a:t>
            </a:r>
            <a:endParaRPr lang="en-US" sz="1400" dirty="0"/>
          </a:p>
          <a:p>
            <a:r>
              <a:rPr lang="en-US" sz="1400" dirty="0"/>
              <a:t>[5] </a:t>
            </a:r>
            <a:r>
              <a:rPr lang="en-NL" sz="1400" dirty="0" err="1"/>
              <a:t>TeachMeAnatomy</a:t>
            </a:r>
            <a:r>
              <a:rPr lang="en-NL" sz="1400" dirty="0"/>
              <a:t>. (2025, November 6). </a:t>
            </a:r>
            <a:r>
              <a:rPr lang="en-NL" sz="1400" i="1" dirty="0"/>
              <a:t>The breasts – Structure</a:t>
            </a:r>
            <a:r>
              <a:rPr lang="en-US" sz="1400" i="1" dirty="0"/>
              <a:t> </a:t>
            </a:r>
            <a:r>
              <a:rPr lang="en-NL" sz="1400" i="1" dirty="0"/>
              <a:t>vasculature</a:t>
            </a:r>
            <a:r>
              <a:rPr lang="en-US" sz="1400" i="1" dirty="0"/>
              <a:t> </a:t>
            </a:r>
            <a:r>
              <a:rPr lang="en-NL" sz="1400" i="1" dirty="0" err="1"/>
              <a:t>TeachMeAnatomy</a:t>
            </a:r>
            <a:r>
              <a:rPr lang="en-NL" sz="1400" dirty="0"/>
              <a:t>. </a:t>
            </a:r>
            <a:r>
              <a:rPr lang="en-NL" sz="1400" dirty="0">
                <a:hlinkClick r:id="rId7"/>
              </a:rPr>
              <a:t>https://teachmeanatomy.info/thorax/organs/breasts/</a:t>
            </a:r>
            <a:endParaRPr lang="en-US" sz="1400" dirty="0"/>
          </a:p>
          <a:p>
            <a:r>
              <a:rPr lang="en-US" sz="1400" dirty="0"/>
              <a:t>[6]</a:t>
            </a:r>
            <a:r>
              <a:rPr lang="en-GB" sz="1400" dirty="0">
                <a:latin typeface="Arial"/>
                <a:cs typeface="Segoe UI"/>
              </a:rPr>
              <a:t> Chen et al., </a:t>
            </a:r>
            <a:r>
              <a:rPr lang="en-GB" sz="1400" i="1" dirty="0">
                <a:latin typeface="Arial"/>
                <a:cs typeface="Segoe UI"/>
              </a:rPr>
              <a:t>Sci Rep</a:t>
            </a:r>
            <a:r>
              <a:rPr lang="en-GB" sz="1400" dirty="0">
                <a:latin typeface="Arial"/>
                <a:cs typeface="Segoe UI"/>
              </a:rPr>
              <a:t>, 2025. DOI: </a:t>
            </a:r>
            <a:r>
              <a:rPr lang="en-GB" sz="1400" dirty="0">
                <a:latin typeface="Arial"/>
                <a:cs typeface="Segoe UI"/>
                <a:hlinkClick r:id="rId8"/>
              </a:rPr>
              <a:t>https://doi.org/10.1038/s41598-024-83598-8</a:t>
            </a:r>
            <a:endParaRPr lang="en-US" sz="1400" dirty="0">
              <a:latin typeface="Arial"/>
            </a:endParaRPr>
          </a:p>
          <a:p>
            <a:endParaRPr lang="en-NL" sz="1400" dirty="0"/>
          </a:p>
        </p:txBody>
      </p:sp>
      <p:sp>
        <p:nvSpPr>
          <p:cNvPr id="4" name="Footer Placeholder 3">
            <a:extLst>
              <a:ext uri="{FF2B5EF4-FFF2-40B4-BE49-F238E27FC236}">
                <a16:creationId xmlns:a16="http://schemas.microsoft.com/office/drawing/2014/main" id="{3B520F05-073E-F74A-B019-3672911BC112}"/>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F698AB22-E706-3869-5EF3-1A534142885B}"/>
              </a:ext>
            </a:extLst>
          </p:cNvPr>
          <p:cNvSpPr>
            <a:spLocks noGrp="1"/>
          </p:cNvSpPr>
          <p:nvPr>
            <p:ph type="sldNum" sz="quarter" idx="12"/>
          </p:nvPr>
        </p:nvSpPr>
        <p:spPr/>
        <p:txBody>
          <a:bodyPr/>
          <a:lstStyle/>
          <a:p>
            <a:fld id="{C194BDB0-F4EA-4DD6-8281-CCE2440D0CE0}" type="slidenum">
              <a:rPr lang="en-GB" smtClean="0"/>
              <a:t>31</a:t>
            </a:fld>
            <a:endParaRPr lang="en-GB" dirty="0"/>
          </a:p>
        </p:txBody>
      </p:sp>
    </p:spTree>
    <p:extLst>
      <p:ext uri="{BB962C8B-B14F-4D97-AF65-F5344CB8AC3E}">
        <p14:creationId xmlns:p14="http://schemas.microsoft.com/office/powerpoint/2010/main" val="795919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2172A1F-87FC-E0B7-1279-8DBBFAB628B4}"/>
            </a:ext>
          </a:extLst>
        </p:cNvPr>
        <p:cNvGrpSpPr/>
        <p:nvPr/>
      </p:nvGrpSpPr>
      <p:grpSpPr>
        <a:xfrm>
          <a:off x="0" y="0"/>
          <a:ext cx="0" cy="0"/>
          <a:chOff x="0" y="0"/>
          <a:chExt cx="0" cy="0"/>
        </a:xfrm>
      </p:grpSpPr>
      <p:sp>
        <p:nvSpPr>
          <p:cNvPr id="10" name="Titel 9">
            <a:extLst>
              <a:ext uri="{FF2B5EF4-FFF2-40B4-BE49-F238E27FC236}">
                <a16:creationId xmlns:a16="http://schemas.microsoft.com/office/drawing/2014/main" id="{7598D43D-72B4-BCD7-176E-FF29112F18DD}"/>
              </a:ext>
            </a:extLst>
          </p:cNvPr>
          <p:cNvSpPr>
            <a:spLocks noGrp="1"/>
          </p:cNvSpPr>
          <p:nvPr>
            <p:ph type="ctrTitle"/>
          </p:nvPr>
        </p:nvSpPr>
        <p:spPr>
          <a:xfrm>
            <a:off x="-1" y="1835549"/>
            <a:ext cx="10627361" cy="792000"/>
          </a:xfrm>
        </p:spPr>
        <p:txBody>
          <a:bodyPr/>
          <a:lstStyle/>
          <a:p>
            <a:r>
              <a:rPr lang="en-US" dirty="0"/>
              <a:t>Development of a COMSOL Finite Element Breast Model for Deformation-Based Early Warning Scan Imaging</a:t>
            </a:r>
            <a:endParaRPr lang="en-GB" dirty="0"/>
          </a:p>
        </p:txBody>
      </p:sp>
      <p:sp>
        <p:nvSpPr>
          <p:cNvPr id="15" name="Ondertitel 14">
            <a:extLst>
              <a:ext uri="{FF2B5EF4-FFF2-40B4-BE49-F238E27FC236}">
                <a16:creationId xmlns:a16="http://schemas.microsoft.com/office/drawing/2014/main" id="{E5D5A0AF-1A6C-EA3E-D755-F1416D2B7B2D}"/>
              </a:ext>
            </a:extLst>
          </p:cNvPr>
          <p:cNvSpPr>
            <a:spLocks noGrp="1"/>
          </p:cNvSpPr>
          <p:nvPr>
            <p:ph type="subTitle" idx="1"/>
          </p:nvPr>
        </p:nvSpPr>
        <p:spPr/>
        <p:txBody>
          <a:bodyPr/>
          <a:lstStyle/>
          <a:p>
            <a:r>
              <a:rPr lang="en-GB" dirty="0"/>
              <a:t>30-06-2026 </a:t>
            </a:r>
          </a:p>
        </p:txBody>
      </p:sp>
      <p:sp>
        <p:nvSpPr>
          <p:cNvPr id="16" name="Tijdelijke aanduiding voor tekst 15">
            <a:extLst>
              <a:ext uri="{FF2B5EF4-FFF2-40B4-BE49-F238E27FC236}">
                <a16:creationId xmlns:a16="http://schemas.microsoft.com/office/drawing/2014/main" id="{4F1EAE48-2F5B-ABB0-AA47-54C1C9826B3C}"/>
              </a:ext>
            </a:extLst>
          </p:cNvPr>
          <p:cNvSpPr>
            <a:spLocks noGrp="1"/>
          </p:cNvSpPr>
          <p:nvPr>
            <p:ph type="body" sz="quarter" idx="13"/>
          </p:nvPr>
        </p:nvSpPr>
        <p:spPr/>
        <p:txBody>
          <a:bodyPr/>
          <a:lstStyle/>
          <a:p>
            <a:r>
              <a:rPr lang="en-GB" dirty="0"/>
              <a:t>Daan Kuijpers | </a:t>
            </a:r>
            <a:r>
              <a:rPr lang="en-GB" dirty="0" err="1"/>
              <a:t>Intership</a:t>
            </a:r>
            <a:r>
              <a:rPr lang="en-GB" dirty="0"/>
              <a:t> project | Catharina Hospital | April – July 2026 </a:t>
            </a:r>
          </a:p>
        </p:txBody>
      </p:sp>
      <p:sp>
        <p:nvSpPr>
          <p:cNvPr id="17" name="Tijdelijke aanduiding voor tekst 16">
            <a:extLst>
              <a:ext uri="{FF2B5EF4-FFF2-40B4-BE49-F238E27FC236}">
                <a16:creationId xmlns:a16="http://schemas.microsoft.com/office/drawing/2014/main" id="{8E20F904-1766-1810-B5EB-7513D4703AD1}"/>
              </a:ext>
            </a:extLst>
          </p:cNvPr>
          <p:cNvSpPr>
            <a:spLocks noGrp="1"/>
          </p:cNvSpPr>
          <p:nvPr>
            <p:ph type="body" sz="quarter" idx="14"/>
          </p:nvPr>
        </p:nvSpPr>
        <p:spPr>
          <a:xfrm>
            <a:off x="-534573" y="4567237"/>
            <a:ext cx="7875173" cy="576263"/>
          </a:xfrm>
        </p:spPr>
        <p:txBody>
          <a:bodyPr/>
          <a:lstStyle/>
          <a:p>
            <a:r>
              <a:rPr lang="en-GB" dirty="0"/>
              <a:t>COMSOL FEM Breast Model for Early Warning scan</a:t>
            </a:r>
          </a:p>
        </p:txBody>
      </p:sp>
      <p:pic>
        <p:nvPicPr>
          <p:cNvPr id="3" name="Picture 2">
            <a:extLst>
              <a:ext uri="{FF2B5EF4-FFF2-40B4-BE49-F238E27FC236}">
                <a16:creationId xmlns:a16="http://schemas.microsoft.com/office/drawing/2014/main" id="{B88AB88B-76CF-8438-F6D2-D931A9D55C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63661" y="4596289"/>
            <a:ext cx="1985450" cy="518160"/>
          </a:xfrm>
          <a:prstGeom prst="rect">
            <a:avLst/>
          </a:prstGeom>
        </p:spPr>
      </p:pic>
      <p:pic>
        <p:nvPicPr>
          <p:cNvPr id="5" name="Picture 4">
            <a:extLst>
              <a:ext uri="{FF2B5EF4-FFF2-40B4-BE49-F238E27FC236}">
                <a16:creationId xmlns:a16="http://schemas.microsoft.com/office/drawing/2014/main" id="{F802D8AD-1A2D-6ECB-0EF6-390B7894F81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30460" y="4567236"/>
            <a:ext cx="1728792" cy="576264"/>
          </a:xfrm>
          <a:prstGeom prst="rect">
            <a:avLst/>
          </a:prstGeom>
        </p:spPr>
      </p:pic>
    </p:spTree>
    <p:extLst>
      <p:ext uri="{BB962C8B-B14F-4D97-AF65-F5344CB8AC3E}">
        <p14:creationId xmlns:p14="http://schemas.microsoft.com/office/powerpoint/2010/main" val="1712795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C57F1-CAC9-FC54-A0DD-F9B64DB151C4}"/>
              </a:ext>
            </a:extLst>
          </p:cNvPr>
          <p:cNvSpPr>
            <a:spLocks noGrp="1"/>
          </p:cNvSpPr>
          <p:nvPr>
            <p:ph type="title"/>
          </p:nvPr>
        </p:nvSpPr>
        <p:spPr/>
        <p:txBody>
          <a:bodyPr/>
          <a:lstStyle/>
          <a:p>
            <a:r>
              <a:rPr lang="en-US" dirty="0"/>
              <a:t>Additional slides</a:t>
            </a:r>
            <a:endParaRPr lang="en-NL" dirty="0"/>
          </a:p>
        </p:txBody>
      </p:sp>
      <p:sp>
        <p:nvSpPr>
          <p:cNvPr id="3" name="Content Placeholder 2">
            <a:extLst>
              <a:ext uri="{FF2B5EF4-FFF2-40B4-BE49-F238E27FC236}">
                <a16:creationId xmlns:a16="http://schemas.microsoft.com/office/drawing/2014/main" id="{579FE1AD-40A2-AF04-731A-D7165383BA8C}"/>
              </a:ext>
            </a:extLst>
          </p:cNvPr>
          <p:cNvSpPr>
            <a:spLocks noGrp="1"/>
          </p:cNvSpPr>
          <p:nvPr>
            <p:ph idx="1"/>
          </p:nvPr>
        </p:nvSpPr>
        <p:spPr/>
        <p:txBody>
          <a:bodyPr/>
          <a:lstStyle/>
          <a:p>
            <a:endParaRPr lang="en-NL" dirty="0"/>
          </a:p>
        </p:txBody>
      </p:sp>
      <p:sp>
        <p:nvSpPr>
          <p:cNvPr id="4" name="Footer Placeholder 3">
            <a:extLst>
              <a:ext uri="{FF2B5EF4-FFF2-40B4-BE49-F238E27FC236}">
                <a16:creationId xmlns:a16="http://schemas.microsoft.com/office/drawing/2014/main" id="{0E4A1D62-6B21-7E8D-297F-A7853AD7D78D}"/>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95712317-1788-9A71-0561-AF2BC21A8058}"/>
              </a:ext>
            </a:extLst>
          </p:cNvPr>
          <p:cNvSpPr>
            <a:spLocks noGrp="1"/>
          </p:cNvSpPr>
          <p:nvPr>
            <p:ph type="sldNum" sz="quarter" idx="12"/>
          </p:nvPr>
        </p:nvSpPr>
        <p:spPr/>
        <p:txBody>
          <a:bodyPr/>
          <a:lstStyle/>
          <a:p>
            <a:fld id="{C194BDB0-F4EA-4DD6-8281-CCE2440D0CE0}" type="slidenum">
              <a:rPr lang="en-GB" smtClean="0"/>
              <a:t>33</a:t>
            </a:fld>
            <a:endParaRPr lang="en-GB" dirty="0"/>
          </a:p>
        </p:txBody>
      </p:sp>
      <p:pic>
        <p:nvPicPr>
          <p:cNvPr id="6" name="Picture 5">
            <a:extLst>
              <a:ext uri="{FF2B5EF4-FFF2-40B4-BE49-F238E27FC236}">
                <a16:creationId xmlns:a16="http://schemas.microsoft.com/office/drawing/2014/main" id="{0D4C5DEB-66E3-0450-B4F8-7E8BD88EC514}"/>
              </a:ext>
            </a:extLst>
          </p:cNvPr>
          <p:cNvPicPr>
            <a:picLocks noChangeAspect="1"/>
          </p:cNvPicPr>
          <p:nvPr/>
        </p:nvPicPr>
        <p:blipFill>
          <a:blip r:embed="rId3"/>
          <a:stretch>
            <a:fillRect/>
          </a:stretch>
        </p:blipFill>
        <p:spPr>
          <a:xfrm>
            <a:off x="1960072" y="1057749"/>
            <a:ext cx="5007078" cy="3243580"/>
          </a:xfrm>
          <a:prstGeom prst="rect">
            <a:avLst/>
          </a:prstGeom>
        </p:spPr>
      </p:pic>
    </p:spTree>
    <p:extLst>
      <p:ext uri="{BB962C8B-B14F-4D97-AF65-F5344CB8AC3E}">
        <p14:creationId xmlns:p14="http://schemas.microsoft.com/office/powerpoint/2010/main" val="65431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2678B-937C-957E-E6A1-857B64570885}"/>
              </a:ext>
            </a:extLst>
          </p:cNvPr>
          <p:cNvSpPr>
            <a:spLocks noGrp="1"/>
          </p:cNvSpPr>
          <p:nvPr>
            <p:ph type="title"/>
          </p:nvPr>
        </p:nvSpPr>
        <p:spPr/>
        <p:txBody>
          <a:bodyPr/>
          <a:lstStyle/>
          <a:p>
            <a:endParaRPr lang="en-NL"/>
          </a:p>
        </p:txBody>
      </p:sp>
      <p:pic>
        <p:nvPicPr>
          <p:cNvPr id="7" name="Content Placeholder 6">
            <a:extLst>
              <a:ext uri="{FF2B5EF4-FFF2-40B4-BE49-F238E27FC236}">
                <a16:creationId xmlns:a16="http://schemas.microsoft.com/office/drawing/2014/main" id="{56A3315A-4080-807C-E90B-46D214C40DF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81564" y="892143"/>
            <a:ext cx="5380872" cy="3077354"/>
          </a:xfrm>
          <a:prstGeom prst="rect">
            <a:avLst/>
          </a:prstGeom>
        </p:spPr>
      </p:pic>
      <p:sp>
        <p:nvSpPr>
          <p:cNvPr id="4" name="Footer Placeholder 3">
            <a:extLst>
              <a:ext uri="{FF2B5EF4-FFF2-40B4-BE49-F238E27FC236}">
                <a16:creationId xmlns:a16="http://schemas.microsoft.com/office/drawing/2014/main" id="{D069FD18-D1CF-632B-C051-F12D25917905}"/>
              </a:ext>
            </a:extLst>
          </p:cNvPr>
          <p:cNvSpPr>
            <a:spLocks noGrp="1"/>
          </p:cNvSpPr>
          <p:nvPr>
            <p:ph type="ftr" sz="quarter" idx="11"/>
          </p:nvPr>
        </p:nvSpPr>
        <p:spPr/>
        <p:txBody>
          <a:bodyPr/>
          <a:lstStyle/>
          <a:p>
            <a:r>
              <a:rPr lang="en-US"/>
              <a:t>COMSOL FEM Breast Model for Early Warning Scan</a:t>
            </a:r>
            <a:endParaRPr lang="en-GB" dirty="0"/>
          </a:p>
        </p:txBody>
      </p:sp>
      <p:sp>
        <p:nvSpPr>
          <p:cNvPr id="5" name="Slide Number Placeholder 4">
            <a:extLst>
              <a:ext uri="{FF2B5EF4-FFF2-40B4-BE49-F238E27FC236}">
                <a16:creationId xmlns:a16="http://schemas.microsoft.com/office/drawing/2014/main" id="{9139DC8B-8F2F-37BB-3F82-E4EF6D7D6A27}"/>
              </a:ext>
            </a:extLst>
          </p:cNvPr>
          <p:cNvSpPr>
            <a:spLocks noGrp="1"/>
          </p:cNvSpPr>
          <p:nvPr>
            <p:ph type="sldNum" sz="quarter" idx="12"/>
          </p:nvPr>
        </p:nvSpPr>
        <p:spPr/>
        <p:txBody>
          <a:bodyPr/>
          <a:lstStyle/>
          <a:p>
            <a:fld id="{C194BDB0-F4EA-4DD6-8281-CCE2440D0CE0}" type="slidenum">
              <a:rPr lang="en-GB" smtClean="0"/>
              <a:t>34</a:t>
            </a:fld>
            <a:endParaRPr lang="en-GB" dirty="0"/>
          </a:p>
        </p:txBody>
      </p:sp>
    </p:spTree>
    <p:extLst>
      <p:ext uri="{BB962C8B-B14F-4D97-AF65-F5344CB8AC3E}">
        <p14:creationId xmlns:p14="http://schemas.microsoft.com/office/powerpoint/2010/main" val="1793181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Kantoorthema">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TUe_Calibri">
      <a:majorFont>
        <a:latin typeface="Calibri"/>
        <a:ea typeface=""/>
        <a:cs typeface=""/>
      </a:majorFont>
      <a:minorFont>
        <a:latin typeface="Calibri"/>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_16x9.potx"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6860</TotalTime>
  <Words>2654</Words>
  <Application>Microsoft Office PowerPoint</Application>
  <PresentationFormat>On-screen Show (16:9)</PresentationFormat>
  <Paragraphs>347</Paragraphs>
  <Slides>34</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Wingdings</vt:lpstr>
      <vt:lpstr>Kantoorthema</vt:lpstr>
      <vt:lpstr>Development of a COMSOL Finite Element Breast Model for Deformation-Based Early Warning Scan Imaging</vt:lpstr>
      <vt:lpstr>Why Breast Screening Matters</vt:lpstr>
      <vt:lpstr>Limitations of Mammography</vt:lpstr>
      <vt:lpstr>The Early Warning Scan</vt:lpstr>
      <vt:lpstr>Previous work</vt:lpstr>
      <vt:lpstr>Project Aim and Scope</vt:lpstr>
      <vt:lpstr>COMSOL pipeline</vt:lpstr>
      <vt:lpstr>PowerPoint Presentation</vt:lpstr>
      <vt:lpstr>Anatomical Breast Model Improvements</vt:lpstr>
      <vt:lpstr>Chest wall Geometry</vt:lpstr>
      <vt:lpstr>Chest wall Geometry</vt:lpstr>
      <vt:lpstr>Glandular Distribution</vt:lpstr>
      <vt:lpstr>Glandular Distribution</vt:lpstr>
      <vt:lpstr>Asymmetry and Shape Variations</vt:lpstr>
      <vt:lpstr>Asymmetry options</vt:lpstr>
      <vt:lpstr>Mechanical Model Definition</vt:lpstr>
      <vt:lpstr>Mesh</vt:lpstr>
      <vt:lpstr>Material Definitions </vt:lpstr>
      <vt:lpstr>Material Parameter Overview</vt:lpstr>
      <vt:lpstr>Skin Layer</vt:lpstr>
      <vt:lpstr>Cooper’s Ligaments Support</vt:lpstr>
      <vt:lpstr>PowerPoint Presentation</vt:lpstr>
      <vt:lpstr>Dynamic Loading and Surface Evaluation</vt:lpstr>
      <vt:lpstr>Dynamic Loading</vt:lpstr>
      <vt:lpstr>Surface Evaluation </vt:lpstr>
      <vt:lpstr>Tumor Implementation</vt:lpstr>
      <vt:lpstr>Tumor Implementation</vt:lpstr>
      <vt:lpstr>Examples: Big (r=10mm) – Central                     Small (r=3mm) – Subareolar             Medium (r=6mm) – Upper-outer </vt:lpstr>
      <vt:lpstr>Current Limitations and Future Work</vt:lpstr>
      <vt:lpstr>Conclusion</vt:lpstr>
      <vt:lpstr>References</vt:lpstr>
      <vt:lpstr>Development of a COMSOL Finite Element Breast Model for Deformation-Based Early Warning Scan Imaging</vt:lpstr>
      <vt:lpstr>Additional slides</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Kuijpers, Daan</cp:lastModifiedBy>
  <cp:revision>52</cp:revision>
  <dcterms:created xsi:type="dcterms:W3CDTF">2019-11-27T15:26:32Z</dcterms:created>
  <dcterms:modified xsi:type="dcterms:W3CDTF">2026-06-30T07:08:30Z</dcterms:modified>
</cp:coreProperties>
</file>