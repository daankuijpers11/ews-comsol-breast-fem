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>
            <a:extLst>
              <a:ext uri="{FF2B5EF4-FFF2-40B4-BE49-F238E27FC236}">
                <a16:creationId xmlns:a16="http://schemas.microsoft.com/office/drawing/2014/main" id="{119F8780-E523-432A-9969-0BC87A36CE57}"/>
              </a:ext>
            </a:extLst>
          </p:cNvPr>
          <p:cNvSpPr>
            <a:spLocks noGrp="1"/>
          </p:cNvSpPr>
          <p:nvPr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3483D-7976-4E76-AED1-8E9BA76B39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buNone/>
              <a:defRPr sz="2200">
                <a:solidFill>
                  <a:schemeClr val="bg1"/>
                </a:solidFill>
              </a:defRPr>
            </a:lvl1pPr>
          </a:lstStyle>
          <a:p>
            <a:r>
              <a:t>Example of a title at the top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09E54-DE57-4616-8215-42352CCED3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SUBTITLE OR DATE</a:t>
            </a: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6E59781C-5102-4279-8B91-3204FCD0273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Name, Function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8D0D23C3-A8A7-4F55-8176-C2C65D730B0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Department, Sub department or Capacity Group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>
            <a:extLst>
              <a:ext uri="{FF2B5EF4-FFF2-40B4-BE49-F238E27FC236}">
                <a16:creationId xmlns:a16="http://schemas.microsoft.com/office/drawing/2014/main" id="{4C2023BC-45E3-45AF-BCC2-C40A010E7F6E}"/>
              </a:ext>
            </a:extLst>
          </p:cNvPr>
          <p:cNvSpPr>
            <a:spLocks noGrp="1"/>
          </p:cNvSpPr>
          <p:nvPr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0A951-CA4B-443B-B52B-0CC170405E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buNone/>
              <a:defRPr sz="2200">
                <a:solidFill>
                  <a:schemeClr val="bg1"/>
                </a:solidFill>
              </a:defRPr>
            </a:lvl1pPr>
          </a:lstStyle>
          <a:p>
            <a:r>
              <a:t>Example of a title in the middle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264FB-9301-4424-B810-290DE52B6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SUBTITLE OR DATE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67BF683-B74A-4308-A2A5-A00C15DF451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Name, Function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6806AAF6-B681-4420-BE13-DE879D764F3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Department, Sub department or Capacity Group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>
            <a:extLst>
              <a:ext uri="{FF2B5EF4-FFF2-40B4-BE49-F238E27FC236}">
                <a16:creationId xmlns:a16="http://schemas.microsoft.com/office/drawing/2014/main" id="{1ECC45CD-0080-4603-9E4F-F95DA457C546}"/>
              </a:ext>
            </a:extLst>
          </p:cNvPr>
          <p:cNvSpPr>
            <a:spLocks noGrp="1"/>
          </p:cNvSpPr>
          <p:nvPr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EE2AE-5AD1-4E96-849F-B52EB61979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buNone/>
              <a:defRPr sz="2200">
                <a:solidFill>
                  <a:schemeClr val="bg1"/>
                </a:solidFill>
              </a:defRPr>
            </a:lvl1pPr>
          </a:lstStyle>
          <a:p>
            <a:r>
              <a:t>Example of a title at the bottom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8413D-FE59-4604-872E-B2133E92DD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SUBTITLE OR DATE</a:t>
            </a:r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6CAB0EA-7E9C-44AB-B0A5-8DDDCF2E98A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Name, Function</a:t>
            </a:r>
          </a:p>
        </p:txBody>
      </p:sp>
      <p:sp>
        <p:nvSpPr>
          <p:cNvPr id="4" name="Tijdelijke aanduiding voor tekst 8">
            <a:extLst>
              <a:ext uri="{FF2B5EF4-FFF2-40B4-BE49-F238E27FC236}">
                <a16:creationId xmlns:a16="http://schemas.microsoft.com/office/drawing/2014/main" id="{DB314BFE-9302-4CA7-A32B-22E4E3112D7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756000" anchor="ctr"/>
          <a:lstStyle>
            <a:lvl1pPr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Department, Sub department or Capacity Group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1408-5B96-4E43-9442-37EA1B07A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This is an example of a 27 pt headline with 27 pt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56C3-0580-4C31-A528-A51CFD057C1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510FF-2BFF-43E0-AD04-1D4CB303F87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ED91E-3617-4578-9142-839EBE8A99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F616-F91F-498F-AA10-125BB3D611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5E2F-82D7-4204-99C3-B93392748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This is an example of 19,5 pt text with single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F2B8-8481-4056-A4C4-44D46274C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C11FB-E0EF-465F-B20E-93A28F112DC2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30600-8CC6-4302-A1CE-5E735C73ACD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F96A0-EA2D-4FC0-89C9-AB304AA042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B8C37-E983-48EB-9F36-6FF5F6B893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79400C5-185D-41A7-841B-C2D7829C0C3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sz="195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>
              <a:buNone/>
            </a:pPr>
            <a:r>
              <a:t>Click to enter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5320-51AB-481C-9253-D0E5B1324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This is an example of 19,5 pt text with single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4FFC2-8C87-4B9D-B5B2-586D269183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48195-261C-4705-A30F-1FA24E3D11A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A4C40-5D2C-4BFE-9FB1-2794872B64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77E32-CCB0-4D17-81D7-7185B97A4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CDEC9F2E-D172-4C77-9B1C-C3C41C6472A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insert image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4C8C-59B7-4CD8-A473-C3515D7A2D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This is an example of 19,5 pt text with single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ECC7-C059-4F41-9CE7-0FF763E829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C30B2-6490-48C9-90BD-8620FA2B464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A82D9-E4B7-428A-8A6B-B985A3ECA4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2F6B1-D720-4520-B836-B688BF9CAD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4E714FB7-E5A5-4CFD-BC7E-309E0888B887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insert image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E5A3-9221-455D-A93F-CFA6109C51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t>This is an example of a 27 pt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57AA3-5616-42FA-B4F8-8B112FD508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8EE7F-D4D3-455C-8813-C8833832CE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5B76-A11A-4C55-8390-77EE0A7130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8DD26FE2-1646-4FA4-8F68-537A7DEF455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icon to insert 16x9 image or movie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FF47E5E0-BE16-4218-82CE-01C920037F5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buNone/>
              <a:defRPr sz="1100" i="1"/>
            </a:lvl1pPr>
          </a:lstStyle>
          <a:p>
            <a:pPr>
              <a:buNone/>
            </a:pPr>
            <a:r>
              <a:t>Click to insert Caption under image or movie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CACC-6AFC-41A5-82F0-FEFF6179C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A 27pt headline on a slide with three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8BBC-65FC-4C71-9310-04BA8B7326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buNone/>
              <a:defRPr sz="1650"/>
            </a:lvl1pPr>
          </a:lstStyle>
          <a:p>
            <a:pPr>
              <a:buNone/>
            </a:pPr>
            <a:r>
              <a:t>Click to enter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DEB7B-5ACD-4140-8563-36B5491C6AA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543D5-1BEE-4971-A0B3-F8801656DC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B9A4-61F5-4D72-BFC2-C0DFD8FD9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6CF5C6-1A13-47D1-A596-110394449D9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buNone/>
              <a:defRPr sz="1650"/>
            </a:lvl1pPr>
          </a:lstStyle>
          <a:p>
            <a:pPr>
              <a:buNone/>
            </a:pPr>
            <a:r>
              <a:t>Click to enter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7F795F-15C3-4534-8B78-AF0D79E9B36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buNone/>
              <a:defRPr sz="1650"/>
            </a:lvl1pPr>
          </a:lstStyle>
          <a:p>
            <a:pPr>
              <a:buNone/>
            </a:pPr>
            <a:r>
              <a:t>Click to enter text</a:t>
            </a: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A3564E30-7E28-44A0-ADA2-5543128109A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insert image</a:t>
            </a:r>
          </a:p>
        </p:txBody>
      </p:sp>
      <p:sp>
        <p:nvSpPr>
          <p:cNvPr id="11" name="Tijdelijke aanduiding voor afbeelding 9">
            <a:extLst>
              <a:ext uri="{FF2B5EF4-FFF2-40B4-BE49-F238E27FC236}">
                <a16:creationId xmlns:a16="http://schemas.microsoft.com/office/drawing/2014/main" id="{369D36C0-BFD4-4B93-8880-7E4FFD172A1C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insert image</a:t>
            </a:r>
          </a:p>
          <a:p>
            <a:endParaRPr/>
          </a:p>
        </p:txBody>
      </p:sp>
      <p:sp>
        <p:nvSpPr>
          <p:cNvPr id="12" name="Tijdelijke aanduiding voor afbeelding 9">
            <a:extLst>
              <a:ext uri="{FF2B5EF4-FFF2-40B4-BE49-F238E27FC236}">
                <a16:creationId xmlns:a16="http://schemas.microsoft.com/office/drawing/2014/main" id="{5562D58E-B756-4EE5-86BC-67CDCC32FB4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insert image</a:t>
            </a:r>
          </a:p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98DB-73BE-467A-8CB0-B95D9AC0C8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This is an example of 19,5 pt text with single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E9130-F74A-41A9-B408-A6C30E7692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A5650-F5C3-45ED-A15F-E88721E615C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D6530-49BB-40D8-A300-BBCD37A5CE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D4BCB-C7C0-493B-85F8-FAAA37D427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C3D64FA1-8CCD-43EC-860A-7DC2419292F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insert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7520-6222-4962-A082-46BCD696F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This is an example of 19,5 pt text with single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D757-FBEF-4814-A6FC-E9CE32B7EC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65F4F-9B0C-4777-AEC2-3EBB503188B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687D6-4C85-459C-9D9A-3F414B7B84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4B694-B718-46F8-9B2B-184ED697B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4DFF4C83-BC85-46A6-92CB-352A0E1F0D24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t>Click to insert image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6F3E-FF67-444D-BE5C-5320A2623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This is an example of a white headline on a full screen, dark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72418-730A-4EB5-A891-B9406253DFD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C1DA4-19D7-4F02-9A68-E930758674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617A8-D110-4B74-9607-35A71CECD7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ABE7-15C2-41E8-BFE9-02FBBF846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This is an example of a black headline on a full screen, light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4047-D788-4A90-B53B-6D9DE1D2370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B47E-E746-4627-A687-F768D892E1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0C41C-4F9D-42B7-ADD0-91C7CD8478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B4931-105A-4147-91F1-C35BE9958B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This is an example of a black headline on a white background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CAEC-1E69-4D89-A287-718FDF8EB11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368B7-E90B-4386-AD13-36E5593577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5A76-8369-495B-B6DE-2EDE7DEEF5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7" name="Rechte verbindingslijn 6">
            <a:extLst>
              <a:ext uri="{FF2B5EF4-FFF2-40B4-BE49-F238E27FC236}">
                <a16:creationId xmlns:a16="http://schemas.microsoft.com/office/drawing/2014/main" id="{F1294B26-C690-4D6A-9160-BC7C0545131A}"/>
              </a:ext>
            </a:extLst>
          </p:cNvPr>
          <p:cNvSpPr>
            <a:spLocks noGrp="1"/>
          </p:cNvSpPr>
          <p:nvPr/>
        </p:nv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F14B892-243B-40CA-89E6-ED1A015E6E9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insert image</a:t>
            </a:r>
          </a:p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D09F-AC1D-4F42-9540-ED2109E85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This is an example of a 27 pt headline with 27 pt line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7B07-F426-4C1A-A9E1-86C10235B7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CA7F4-2EFE-4BFD-984A-E655AB8593B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18FCA-AFA0-4A6C-9B4C-191F21AEF0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A3929-3BD0-420C-804D-A93763DFFB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251A-A5A1-4BF0-9F56-AE46EA065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Sample slide with table 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13F5-A61B-4A49-B41C-3BA1B69B7B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enter text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BFB86-595F-470C-BFE2-57B2D818405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D9A10-F21B-4DC7-AD34-A33A503BCB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C101F-DE75-48A7-BCF9-5B52F1A908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8" name="Tijdelijke aanduiding voor tabel 7">
            <a:extLst>
              <a:ext uri="{FF2B5EF4-FFF2-40B4-BE49-F238E27FC236}">
                <a16:creationId xmlns:a16="http://schemas.microsoft.com/office/drawing/2014/main" id="{920E32DC-5667-4DC7-A116-CB0442D5135F}"/>
              </a:ext>
            </a:extLst>
          </p:cNvPr>
          <p:cNvSpPr>
            <a:spLocks noGrp="1"/>
          </p:cNvSpPr>
          <p:nvPr>
            <p:ph type="tbl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insert table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8C49-F788-419A-8795-10F1D141A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buNone/>
              <a:defRPr sz="1950" b="0"/>
            </a:lvl1pPr>
          </a:lstStyle>
          <a:p>
            <a:r>
              <a:t>Example chart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C236-963A-4A8D-8B0B-116CC8F1932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6EC91-9703-44EA-98B1-5015262871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Title of the presentation - by tab Insert -&gt; Header text and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05FB-3903-4697-A594-DEE049E4D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9" name="Tijdelijke aanduiding voor grafiek 8">
            <a:extLst>
              <a:ext uri="{FF2B5EF4-FFF2-40B4-BE49-F238E27FC236}">
                <a16:creationId xmlns:a16="http://schemas.microsoft.com/office/drawing/2014/main" id="{C92EB65B-8B81-4600-94DB-D6E7058A5212}"/>
              </a:ext>
            </a:extLst>
          </p:cNvPr>
          <p:cNvSpPr>
            <a:spLocks noGrp="1"/>
          </p:cNvSpPr>
          <p:nvPr>
            <p:ph type="chart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insert chart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DD71-84FF-4065-86B8-58FC24FC096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anchor="ctr"/>
          <a:lstStyle>
            <a:lvl1pPr algn="l">
              <a:buNone/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t>‹#›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4D9B1-D3A6-431E-B96B-45A6C2B7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This is an example of a 27 pt headline with 27 pt line spacing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C8B66-E322-405B-ABF6-4B9274ADF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>
              <a:buNone/>
            </a:pPr>
            <a:r>
              <a:t>Klik om de modelstijlen te bewerken</a:t>
            </a:r>
          </a:p>
          <a:p>
            <a:pPr>
              <a:buNone/>
            </a:pPr>
            <a:r>
              <a:t>Tweede niveau</a:t>
            </a:r>
          </a:p>
          <a:p>
            <a:pPr>
              <a:buNone/>
            </a:pPr>
            <a:r>
              <a:t>Derde niveau</a:t>
            </a:r>
          </a:p>
          <a:p>
            <a:pPr>
              <a:buNone/>
            </a:pPr>
            <a:r>
              <a:t>Vierde niveau</a:t>
            </a:r>
          </a:p>
          <a:p>
            <a:pPr>
              <a:buNone/>
            </a:pPr>
            <a:r>
              <a:t>Vijfde niveau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3BAA0-3AE9-43C5-A354-B49D757A1C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anchor="ctr"/>
          <a:lstStyle>
            <a:lvl1pPr algn="l">
              <a:buNone/>
              <a:defRPr sz="1100" b="0">
                <a:solidFill>
                  <a:schemeClr val="tx1"/>
                </a:solidFill>
              </a:defRPr>
            </a:lvl1pPr>
          </a:lstStyle>
          <a:p>
            <a:r>
              <a:t>Title of the presentation - by tab Insert -&gt; Header text and Footer text</a:t>
            </a:r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>
        <a:lnSpc>
          <a:spcPts val="2700"/>
        </a:lnSpc>
        <a:spcBef>
          <a:spcPts val="0"/>
        </a:spcBef>
        <a:buNone/>
        <a:defRPr sz="27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>
        <a:lnSpc>
          <a:spcPct val="100000"/>
        </a:lnSpc>
        <a:spcBef>
          <a:spcPts val="0"/>
        </a:spcBef>
        <a:buNone/>
        <a:defRPr sz="195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>
        <a:lnSpc>
          <a:spcPct val="100000"/>
        </a:lnSpc>
        <a:spcBef>
          <a:spcPts val="0"/>
        </a:spcBef>
        <a:buNone/>
        <a:defRPr sz="1650">
          <a:solidFill>
            <a:schemeClr val="tx1"/>
          </a:solidFill>
          <a:latin typeface="+mn-lt"/>
          <a:ea typeface="+mn-lt"/>
          <a:cs typeface="+mn-lt"/>
        </a:defRPr>
      </a:lvl2pPr>
      <a:lvl3pPr marL="180975" indent="-180975" algn="l">
        <a:lnSpc>
          <a:spcPct val="100000"/>
        </a:lnSpc>
        <a:spcBef>
          <a:spcPts val="0"/>
        </a:spcBef>
        <a:buChar char="•"/>
        <a:defRPr sz="1650">
          <a:solidFill>
            <a:schemeClr val="tx1"/>
          </a:solidFill>
          <a:latin typeface="+mn-lt"/>
          <a:ea typeface="+mn-lt"/>
          <a:cs typeface="+mn-lt"/>
        </a:defRPr>
      </a:lvl3pPr>
      <a:lvl4pPr marL="360000" indent="-180975" algn="l">
        <a:lnSpc>
          <a:spcPct val="100000"/>
        </a:lnSpc>
        <a:spcBef>
          <a:spcPts val="0"/>
        </a:spcBef>
        <a:buChar char="•"/>
        <a:defRPr sz="1650">
          <a:solidFill>
            <a:schemeClr val="tx1"/>
          </a:solidFill>
          <a:latin typeface="+mn-lt"/>
          <a:ea typeface="+mn-lt"/>
          <a:cs typeface="+mn-lt"/>
        </a:defRPr>
      </a:lvl4pPr>
      <a:lvl5pPr marL="539750" indent="-177800" algn="l">
        <a:lnSpc>
          <a:spcPct val="100000"/>
        </a:lnSpc>
        <a:spcBef>
          <a:spcPts val="0"/>
        </a:spcBef>
        <a:buChar char="•"/>
        <a:defRPr sz="165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61" y="4596289"/>
            <a:ext cx="1985450" cy="518160"/>
          </a:xfrm>
          <a:prstGeom prst="rect">
            <a:avLst/>
          </a:prstGeom>
        </p:spPr>
      </p:pic>
      <p:pic>
        <p:nvPicPr>
          <p:cNvPr id="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460" y="4567236"/>
            <a:ext cx="1728792" cy="576264"/>
          </a:xfrm>
          <a:prstGeom prst="rect">
            <a:avLst/>
          </a:prstGeom>
        </p:spPr>
      </p:pic>
      <p:sp>
        <p:nvSpPr>
          <p:cNvPr id="20" name="footer_text">
            <a:extLst>
              <a:ext uri="{FF2B5EF4-FFF2-40B4-BE49-F238E27FC236}">
                <a16:creationId xmlns:a16="http://schemas.microsoft.com/office/drawing/2014/main" id="{37C7DD86-4812-498C-A214-D7423331F862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 dirty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21" name="slide_number">
            <a:extLst>
              <a:ext uri="{FF2B5EF4-FFF2-40B4-BE49-F238E27FC236}">
                <a16:creationId xmlns:a16="http://schemas.microsoft.com/office/drawing/2014/main" id="{9D43BEF0-DA75-4E30-9735-D22E710B4B8C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</a:t>
            </a:r>
          </a:p>
        </p:txBody>
      </p:sp>
      <p:sp>
        <p:nvSpPr>
          <p:cNvPr id="22" name="title_readability_panel">
            <a:extLst>
              <a:ext uri="{FF2B5EF4-FFF2-40B4-BE49-F238E27FC236}">
                <a16:creationId xmlns:a16="http://schemas.microsoft.com/office/drawing/2014/main" id="{A37B9411-E909-4BD1-A9AA-5DCFE12051A4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7524750" cy="2238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3" name="title_main">
            <a:extLst>
              <a:ext uri="{FF2B5EF4-FFF2-40B4-BE49-F238E27FC236}">
                <a16:creationId xmlns:a16="http://schemas.microsoft.com/office/drawing/2014/main" id="{5F260ED8-0A43-4A37-8BE7-C6E6D023E137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810500" cy="6667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550" b="1">
                <a:solidFill>
                  <a:srgbClr val="1F2933"/>
                </a:solidFill>
              </a:rPr>
              <a:t>COMSOL FEM Breast Model for Early Warning Scan</a:t>
            </a:r>
          </a:p>
        </p:txBody>
      </p:sp>
      <p:sp>
        <p:nvSpPr>
          <p:cNvPr id="24" name="title_sub">
            <a:extLst>
              <a:ext uri="{FF2B5EF4-FFF2-40B4-BE49-F238E27FC236}">
                <a16:creationId xmlns:a16="http://schemas.microsoft.com/office/drawing/2014/main" id="{42736F53-63A0-4519-BAEF-D54648FD98A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7429500" cy="42862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350" b="0">
                <a:solidFill>
                  <a:srgbClr val="006D7C"/>
                </a:solidFill>
              </a:rPr>
              <a:t>Parametric model-development pipeline for biomechanical breast screening research</a:t>
            </a:r>
          </a:p>
        </p:txBody>
      </p:sp>
      <p:sp>
        <p:nvSpPr>
          <p:cNvPr id="25" name="title_presenter">
            <a:extLst>
              <a:ext uri="{FF2B5EF4-FFF2-40B4-BE49-F238E27FC236}">
                <a16:creationId xmlns:a16="http://schemas.microsoft.com/office/drawing/2014/main" id="{55C47402-5350-44E3-A6D5-233B3F522711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7239000" cy="3048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050" b="0" dirty="0">
                <a:solidFill>
                  <a:srgbClr val="52606D"/>
                </a:solidFill>
              </a:rPr>
              <a:t>Daan Kuijpers | Internship project | Catharina Hospital / TU/e | June 2026</a:t>
            </a:r>
          </a:p>
        </p:txBody>
      </p:sp>
      <p:sp>
        <p:nvSpPr>
          <p:cNvPr id="26" name="title_rule">
            <a:extLst>
              <a:ext uri="{FF2B5EF4-FFF2-40B4-BE49-F238E27FC236}">
                <a16:creationId xmlns:a16="http://schemas.microsoft.com/office/drawing/2014/main" id="{78CFB97D-BCD3-4718-AEB9-E3989DE25587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809750" cy="28575"/>
          </a:xfrm>
          <a:prstGeom prst="rect">
            <a:avLst/>
          </a:prstGeom>
          <a:ln>
            <a:solidFill>
              <a:srgbClr val="006D7C"/>
            </a:solidFill>
          </a:ln>
        </p:spPr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567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71530563-8487-4318-B28C-757CD2C0BBA3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26765B2B-F300-4DE6-ADE7-B91EA1E579FB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2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62213C92-BD36-4319-AD31-FCD8C6BDB005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Why Breast Cancer Screening Still Needs Improvement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53559801-BBC5-42EF-97F1-E27C66F760EE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Early detection matters, but current screening does not serve every patient group equally well.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3C1D4F05-870C-42CE-8AD5-AD6B9BF38DBC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 dirty="0">
                <a:solidFill>
                  <a:srgbClr val="1F2933"/>
                </a:solidFill>
              </a:rPr>
              <a:t>- Breast cancer remains one of the most common cancers in women.</a:t>
            </a:r>
          </a:p>
          <a:p>
            <a:r>
              <a:rPr sz="1275" b="0" dirty="0">
                <a:solidFill>
                  <a:srgbClr val="1F2933"/>
                </a:solidFill>
              </a:rPr>
              <a:t>- Screening aims to detect disease before symptoms become clinically visible.</a:t>
            </a:r>
          </a:p>
          <a:p>
            <a:r>
              <a:rPr sz="1275" b="0" dirty="0">
                <a:solidFill>
                  <a:srgbClr val="1F2933"/>
                </a:solidFill>
              </a:rPr>
              <a:t>- Performance and patient burden depend strongly on the screening modality.</a:t>
            </a:r>
          </a:p>
          <a:p>
            <a:r>
              <a:rPr sz="1275" b="0" dirty="0">
                <a:solidFill>
                  <a:srgbClr val="1F2933"/>
                </a:solidFill>
              </a:rPr>
              <a:t>- This motivates complementary, non-invasive measurement concepts.</a:t>
            </a:r>
            <a:endParaRPr lang="en-US" sz="1275" b="0" dirty="0">
              <a:solidFill>
                <a:srgbClr val="1F2933"/>
              </a:solidFill>
            </a:endParaRPr>
          </a:p>
          <a:p>
            <a:endParaRPr lang="en-US" sz="1275" dirty="0">
              <a:solidFill>
                <a:srgbClr val="1F2933"/>
              </a:solidFill>
            </a:endParaRPr>
          </a:p>
          <a:p>
            <a:r>
              <a:rPr lang="en-US" sz="800" dirty="0">
                <a:solidFill>
                  <a:srgbClr val="52606D"/>
                </a:solidFill>
              </a:rPr>
              <a:t>COMSOL FEM Breast Model for Early Warning Scan</a:t>
            </a:r>
          </a:p>
          <a:p>
            <a:endParaRPr sz="1275" b="0" dirty="0">
              <a:solidFill>
                <a:srgbClr val="1F29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EF36F390-04B1-40EC-8617-2E55A099F714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09616BAF-467F-47BE-9667-AF9D502B9E70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3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FFDB7FFC-54A5-4807-82E7-51CC08ADAF53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Limitations of Mammography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229AD9F0-C8F7-4AD2-A93A-C65197C60E8D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 dirty="0">
                <a:solidFill>
                  <a:srgbClr val="006D7C"/>
                </a:solidFill>
              </a:rPr>
              <a:t>Mammography is clinically established, but it has practical and biological limitations.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66F805E4-FFAE-4614-818A-A6E4DE70A714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 dirty="0">
                <a:solidFill>
                  <a:srgbClr val="1F2933"/>
                </a:solidFill>
              </a:rPr>
              <a:t>- Uses ionizing radiation, so screening frequency and age range are constrained.</a:t>
            </a:r>
          </a:p>
          <a:p>
            <a:r>
              <a:rPr sz="1275" b="0" dirty="0">
                <a:solidFill>
                  <a:srgbClr val="1F2933"/>
                </a:solidFill>
              </a:rPr>
              <a:t>- Requires breast compression, which can be uncomfortable.</a:t>
            </a:r>
          </a:p>
          <a:p>
            <a:r>
              <a:rPr sz="1275" b="0" dirty="0">
                <a:solidFill>
                  <a:srgbClr val="1F2933"/>
                </a:solidFill>
              </a:rPr>
              <a:t>- Dense breast tissue can reduce contrast and sensitivity.</a:t>
            </a:r>
          </a:p>
          <a:p>
            <a:r>
              <a:rPr sz="1275" b="0" dirty="0">
                <a:solidFill>
                  <a:srgbClr val="1F2933"/>
                </a:solidFill>
              </a:rPr>
              <a:t>- Younger women are often not included in routine screening programs.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6525F3EE-6C60-4C39-A837-557ECDB54656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2B706CB3-1274-4556-B66C-48758AF677B4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4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5C68A761-A02E-451A-85B5-D581370E6D23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Early Warning Scan Concept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E212433E-E516-418F-8762-423934B9A119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 dirty="0">
                <a:solidFill>
                  <a:srgbClr val="006D7C"/>
                </a:solidFill>
              </a:rPr>
              <a:t>EWS studies the breast as a moving biomechanical system rather than a static X-ray image.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C11B5B8C-E032-4695-AF06-7CF46AC49874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 dirty="0">
                <a:solidFill>
                  <a:srgbClr val="1F2933"/>
                </a:solidFill>
              </a:rPr>
              <a:t>- </a:t>
            </a:r>
            <a:r>
              <a:rPr sz="1275" b="0" dirty="0" err="1">
                <a:solidFill>
                  <a:srgbClr val="1F2933"/>
                </a:solidFill>
              </a:rPr>
              <a:t>Markerless</a:t>
            </a:r>
            <a:r>
              <a:rPr sz="1275" b="0" dirty="0">
                <a:solidFill>
                  <a:srgbClr val="1F2933"/>
                </a:solidFill>
              </a:rPr>
              <a:t> optical system with cameras and projectors around the patient.</a:t>
            </a:r>
          </a:p>
          <a:p>
            <a:r>
              <a:rPr sz="1275" b="0" dirty="0">
                <a:solidFill>
                  <a:srgbClr val="1F2933"/>
                </a:solidFill>
              </a:rPr>
              <a:t>- Measures breast surface shape and motion without radiation or compression.</a:t>
            </a:r>
          </a:p>
          <a:p>
            <a:r>
              <a:rPr sz="1275" b="0" dirty="0">
                <a:solidFill>
                  <a:srgbClr val="1F2933"/>
                </a:solidFill>
              </a:rPr>
              <a:t>- Designed to detect biomechanical differences caused by internal tissue changes.</a:t>
            </a:r>
          </a:p>
          <a:p>
            <a:r>
              <a:rPr sz="1275" b="0" dirty="0">
                <a:solidFill>
                  <a:srgbClr val="1F2933"/>
                </a:solidFill>
              </a:rPr>
              <a:t>- FEM is used to understand which internal changes could be visible at the surface.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2A1D8A28-10C0-499B-A18E-C8D29C9B56BA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BC46C1E8-5C51-4EE6-8C00-369F78050CA1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5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CE12C9FC-D906-420D-A347-3E4B788A215C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Core Hypothesis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694F26D2-C13B-488C-B1FD-ADF02036A079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 dirty="0">
                <a:solidFill>
                  <a:srgbClr val="006D7C"/>
                </a:solidFill>
              </a:rPr>
              <a:t>A stiffer internal lesion may alter the dynamic surface response of the breast.</a:t>
            </a:r>
          </a:p>
        </p:txBody>
      </p:sp>
      <p:sp>
        <p:nvSpPr>
          <p:cNvPr id="12" name="flow_box_0">
            <a:extLst>
              <a:ext uri="{FF2B5EF4-FFF2-40B4-BE49-F238E27FC236}">
                <a16:creationId xmlns:a16="http://schemas.microsoft.com/office/drawing/2014/main" id="{00221693-8712-4BFC-B685-394876F0E366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1762125" cy="838200"/>
          </a:xfrm>
          <a:prstGeom prst="rect">
            <a:avLst/>
          </a:prstGeom>
          <a:ln>
            <a:solidFill>
              <a:srgbClr val="006D7C"/>
            </a:solidFill>
          </a:ln>
        </p:spPr>
        <p:txBody>
          <a:bodyPr/>
          <a:lstStyle/>
          <a:p>
            <a:r>
              <a:rPr sz="1125" b="0">
                <a:solidFill>
                  <a:srgbClr val="1F2933"/>
                </a:solidFill>
              </a:rPr>
              <a:t>Internal lesion</a:t>
            </a:r>
          </a:p>
        </p:txBody>
      </p:sp>
      <p:sp>
        <p:nvSpPr>
          <p:cNvPr id="13" name="flow_arrow_0">
            <a:extLst>
              <a:ext uri="{FF2B5EF4-FFF2-40B4-BE49-F238E27FC236}">
                <a16:creationId xmlns:a16="http://schemas.microsoft.com/office/drawing/2014/main" id="{F9F9AAA4-E7C9-42C1-B6DD-8B50554147FA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2667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825" b="1">
                <a:solidFill>
                  <a:srgbClr val="006D7C"/>
                </a:solidFill>
              </a:rPr>
              <a:t>to</a:t>
            </a:r>
          </a:p>
        </p:txBody>
      </p:sp>
      <p:sp>
        <p:nvSpPr>
          <p:cNvPr id="14" name="flow_box_1">
            <a:extLst>
              <a:ext uri="{FF2B5EF4-FFF2-40B4-BE49-F238E27FC236}">
                <a16:creationId xmlns:a16="http://schemas.microsoft.com/office/drawing/2014/main" id="{4064B71E-F4E0-4463-B73E-68339C35EEF9}"/>
              </a:ext>
            </a:extLst>
          </p:cNvPr>
          <p:cNvSpPr>
            <a:spLocks noGrp="1"/>
          </p:cNvSpPr>
          <p:nvPr/>
        </p:nvSpPr>
        <p:spPr>
          <a:xfrm>
            <a:off x="2667000" y="1809750"/>
            <a:ext cx="1762125" cy="838200"/>
          </a:xfrm>
          <a:prstGeom prst="rect">
            <a:avLst/>
          </a:prstGeom>
          <a:ln>
            <a:solidFill>
              <a:srgbClr val="006D7C"/>
            </a:solidFill>
          </a:ln>
        </p:spPr>
        <p:txBody>
          <a:bodyPr/>
          <a:lstStyle/>
          <a:p>
            <a:r>
              <a:rPr sz="1125" b="0">
                <a:solidFill>
                  <a:srgbClr val="1F2933"/>
                </a:solidFill>
              </a:rPr>
              <a:t>Local stiffness contrast</a:t>
            </a:r>
          </a:p>
        </p:txBody>
      </p:sp>
      <p:sp>
        <p:nvSpPr>
          <p:cNvPr id="15" name="flow_arrow_1">
            <a:extLst>
              <a:ext uri="{FF2B5EF4-FFF2-40B4-BE49-F238E27FC236}">
                <a16:creationId xmlns:a16="http://schemas.microsoft.com/office/drawing/2014/main" id="{83A32C48-8B25-47FC-9621-7255457E41EB}"/>
              </a:ext>
            </a:extLst>
          </p:cNvPr>
          <p:cNvSpPr>
            <a:spLocks noGrp="1"/>
          </p:cNvSpPr>
          <p:nvPr/>
        </p:nvSpPr>
        <p:spPr>
          <a:xfrm>
            <a:off x="4562475" y="2114550"/>
            <a:ext cx="2667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825" b="1">
                <a:solidFill>
                  <a:srgbClr val="006D7C"/>
                </a:solidFill>
              </a:rPr>
              <a:t>to</a:t>
            </a:r>
          </a:p>
        </p:txBody>
      </p:sp>
      <p:sp>
        <p:nvSpPr>
          <p:cNvPr id="16" name="flow_box_2">
            <a:extLst>
              <a:ext uri="{FF2B5EF4-FFF2-40B4-BE49-F238E27FC236}">
                <a16:creationId xmlns:a16="http://schemas.microsoft.com/office/drawing/2014/main" id="{CFCC2C76-648C-4479-BF45-4AFE1B604FEB}"/>
              </a:ext>
            </a:extLst>
          </p:cNvPr>
          <p:cNvSpPr>
            <a:spLocks noGrp="1"/>
          </p:cNvSpPr>
          <p:nvPr/>
        </p:nvSpPr>
        <p:spPr>
          <a:xfrm>
            <a:off x="4810125" y="1809750"/>
            <a:ext cx="1762125" cy="838200"/>
          </a:xfrm>
          <a:prstGeom prst="rect">
            <a:avLst/>
          </a:prstGeom>
          <a:ln>
            <a:solidFill>
              <a:srgbClr val="006D7C"/>
            </a:solidFill>
          </a:ln>
        </p:spPr>
        <p:txBody>
          <a:bodyPr/>
          <a:lstStyle/>
          <a:p>
            <a:r>
              <a:rPr sz="1125" b="0">
                <a:solidFill>
                  <a:srgbClr val="1F2933"/>
                </a:solidFill>
              </a:rPr>
              <a:t>Changed displacement / stress field</a:t>
            </a:r>
          </a:p>
        </p:txBody>
      </p:sp>
      <p:sp>
        <p:nvSpPr>
          <p:cNvPr id="17" name="flow_arrow_2">
            <a:extLst>
              <a:ext uri="{FF2B5EF4-FFF2-40B4-BE49-F238E27FC236}">
                <a16:creationId xmlns:a16="http://schemas.microsoft.com/office/drawing/2014/main" id="{853D53DA-1EB0-4119-B705-A236EA0EC54F}"/>
              </a:ext>
            </a:extLst>
          </p:cNvPr>
          <p:cNvSpPr>
            <a:spLocks noGrp="1"/>
          </p:cNvSpPr>
          <p:nvPr/>
        </p:nvSpPr>
        <p:spPr>
          <a:xfrm>
            <a:off x="6705600" y="2114550"/>
            <a:ext cx="2667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825" b="1">
                <a:solidFill>
                  <a:srgbClr val="006D7C"/>
                </a:solidFill>
              </a:rPr>
              <a:t>to</a:t>
            </a:r>
          </a:p>
        </p:txBody>
      </p:sp>
      <p:sp>
        <p:nvSpPr>
          <p:cNvPr id="18" name="flow_box_3">
            <a:extLst>
              <a:ext uri="{FF2B5EF4-FFF2-40B4-BE49-F238E27FC236}">
                <a16:creationId xmlns:a16="http://schemas.microsoft.com/office/drawing/2014/main" id="{37919D2C-CD52-4BED-85BA-609EF9134910}"/>
              </a:ext>
            </a:extLst>
          </p:cNvPr>
          <p:cNvSpPr>
            <a:spLocks noGrp="1"/>
          </p:cNvSpPr>
          <p:nvPr/>
        </p:nvSpPr>
        <p:spPr>
          <a:xfrm>
            <a:off x="6953250" y="1809750"/>
            <a:ext cx="1762125" cy="838200"/>
          </a:xfrm>
          <a:prstGeom prst="rect">
            <a:avLst/>
          </a:prstGeom>
          <a:ln>
            <a:solidFill>
              <a:srgbClr val="006D7C"/>
            </a:solidFill>
          </a:ln>
        </p:spPr>
        <p:txBody>
          <a:bodyPr/>
          <a:lstStyle/>
          <a:p>
            <a:r>
              <a:rPr sz="1125" b="1">
                <a:solidFill>
                  <a:srgbClr val="1F2933"/>
                </a:solidFill>
              </a:rPr>
              <a:t>Measurable surface motion</a:t>
            </a:r>
          </a:p>
        </p:txBody>
      </p:sp>
      <p:sp>
        <p:nvSpPr>
          <p:cNvPr id="19" name="flow_note">
            <a:extLst>
              <a:ext uri="{FF2B5EF4-FFF2-40B4-BE49-F238E27FC236}">
                <a16:creationId xmlns:a16="http://schemas.microsoft.com/office/drawing/2014/main" id="{8B0B5C34-5162-49A1-BCE1-AFFB2CD76359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7429500" cy="333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00" b="0">
                <a:solidFill>
                  <a:srgbClr val="52606D"/>
                </a:solidFill>
              </a:rPr>
              <a:t>Model output: displacement, stress and surface-motion metrics over time.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0697B934-3739-4DE5-B3E2-A0C6BEAE05F5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A8E1A769-8097-4D08-847B-81AD55102627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6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68065359-CD6C-4EFB-91ED-634BF80FE04F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Where My Project Fits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AA5B7909-5878-45B2-9DBA-E290956949C0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My work contributes the synthetic FEM-data route before motion quantification and AI can be evaluated.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5AEAEE35-7258-4D9F-9194-5505AC7BB1F6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WP3: create controlled synthetic FEM cases.</a:t>
            </a:r>
          </a:p>
          <a:p>
            <a:r>
              <a:rPr sz="1275" b="0">
                <a:solidFill>
                  <a:srgbClr val="1F2933"/>
                </a:solidFill>
              </a:rPr>
              <a:t>- Bridge to WP4: surface-motion features and AI input.</a:t>
            </a:r>
          </a:p>
          <a:p>
            <a:r>
              <a:rPr sz="1275" b="0">
                <a:solidFill>
                  <a:srgbClr val="1F2933"/>
                </a:solidFill>
              </a:rPr>
              <a:t>- Translate anatomy and material choices into reproducible COMSOL runs.</a:t>
            </a:r>
          </a:p>
          <a:p>
            <a:r>
              <a:rPr sz="1275" b="0">
                <a:solidFill>
                  <a:srgbClr val="1F2933"/>
                </a:solidFill>
              </a:rPr>
              <a:t>- Quantify which model components affect displacement and stress.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964C2E67-7320-4BBE-9FB2-5EF326FAEE47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55825221-F318-40CC-92C8-25E7EE8B26BD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7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A0E61979-B02A-4ABA-9F43-034E1E6B089E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Project Goal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96503FE3-AFF1-4F49-9F31-82CA137C0AAD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 dirty="0">
                <a:solidFill>
                  <a:srgbClr val="006D7C"/>
                </a:solidFill>
              </a:rPr>
              <a:t>Build a defensible parametric COMSOL pipeline, not yet a patient-specific detector.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2B2AEA06-10EB-4706-A6DC-26BFCCBAAE63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 dirty="0">
                <a:solidFill>
                  <a:srgbClr val="1F2933"/>
                </a:solidFill>
              </a:rPr>
              <a:t>- Parametrize </a:t>
            </a:r>
            <a:r>
              <a:rPr sz="1275" b="0" dirty="0" err="1">
                <a:solidFill>
                  <a:srgbClr val="1F2933"/>
                </a:solidFill>
              </a:rPr>
              <a:t>chestwall</a:t>
            </a:r>
            <a:r>
              <a:rPr sz="1275" b="0" dirty="0">
                <a:solidFill>
                  <a:srgbClr val="1F2933"/>
                </a:solidFill>
              </a:rPr>
              <a:t> geometry, glandular structure, asymmetry, support, skin and tumor masks.</a:t>
            </a:r>
          </a:p>
          <a:p>
            <a:r>
              <a:rPr sz="1275" b="0" dirty="0">
                <a:solidFill>
                  <a:srgbClr val="1F2933"/>
                </a:solidFill>
              </a:rPr>
              <a:t>- Use a controlled dynamic excitation to compare model variants.</a:t>
            </a:r>
          </a:p>
          <a:p>
            <a:r>
              <a:rPr sz="1275" b="0" dirty="0">
                <a:solidFill>
                  <a:srgbClr val="1F2933"/>
                </a:solidFill>
              </a:rPr>
              <a:t>- Separate report-ready baselines from diagnostic sensitivity tests.</a:t>
            </a:r>
          </a:p>
          <a:p>
            <a:r>
              <a:rPr sz="1275" b="0" dirty="0">
                <a:solidFill>
                  <a:srgbClr val="1F2933"/>
                </a:solidFill>
              </a:rPr>
              <a:t>- Prepare the model for later patient-specific geometry and EWS-data coupling.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715BAF9A-D1E0-48F3-B6BE-0118B4543C9F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858B30C0-46B9-4492-8F83-503CC3F42631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8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19EC86B6-48C2-4176-8696-AD2CB4894466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Automated COMSOL Pipeline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02B485CF-84B9-46B7-9233-9DC159668037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Each case is defined by a TOML file and generated into a reproducible COMSOL model.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6750" y="1925833"/>
            <a:ext cx="7810500" cy="233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B678C465-BAC4-4978-BB4D-98B2AE51A131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95E11585-5235-493A-8C03-E9E9F556BFF5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9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5ADEAD23-8589-40C6-886D-090BC04CC2D3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Controlled Model-Development Route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7D59DC32-1BE7-49B3-8337-37ACB32C7707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stages isolate one modelling decision at a time.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26028" y="1428750"/>
            <a:ext cx="4691944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FEC94356-7A30-4BD8-AD60-C9811C35E830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33416072-E597-4C2E-80B8-BC564B6EBDF7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FA952049-11AE-44A2-BE1D-4EDAA9F32483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1: Dynamic Motion Baseline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4BF7940B-939F-44E1-8D8D-7D565C0C50AC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 dirty="0">
                <a:solidFill>
                  <a:srgbClr val="006D7C"/>
                </a:solidFill>
              </a:rPr>
              <a:t>Stage 1 validates the fixed-support acceleration pulse before anatomical complexity is added.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B53E0504-E21E-4A3B-86D8-4ACDAEAAE1EA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476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- 0.25g fixed-support pulse over 0.60 s.</a:t>
            </a:r>
          </a:p>
          <a:p>
            <a:r>
              <a:rPr sz="1275" b="0">
                <a:solidFill>
                  <a:srgbClr val="1F2933"/>
                </a:solidFill>
              </a:rPr>
              <a:t>- Useful as a motion sanity baseline.</a:t>
            </a:r>
          </a:p>
          <a:p>
            <a:r>
              <a:rPr sz="1275" b="0">
                <a:solidFill>
                  <a:srgbClr val="1F2933"/>
                </a:solidFill>
              </a:rPr>
              <a:t>- Not a fair anatomical comparator to later volume-preserving stages.</a:t>
            </a:r>
          </a:p>
          <a:p>
            <a:r>
              <a:rPr sz="1275" b="0">
                <a:solidFill>
                  <a:srgbClr val="1F2933"/>
                </a:solidFill>
              </a:rPr>
              <a:t>- Large displacement in Stage 1 mainly reflects the simpler geometry and larger breast volume.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33875" y="1594409"/>
            <a:ext cx="4191000" cy="238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8D9A8FAB-FF83-4297-BC67-7BB1762D6710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5443D3D1-1A23-43CC-BEA4-7643D3517490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A876740F-403D-4F09-AF41-95B5C6DC2078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2: Chestwall Geometry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2F10F674-6C3E-47C9-8B14-EF8F57385B43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selected xoffset055 chestwall creates the first fair anatomical baseline.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F3DA3604-FC92-459D-AA88-9B410E0A2E29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3095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Transverse chestwall curvature with volume preservation.</a:t>
            </a:r>
          </a:p>
          <a:p>
            <a:r>
              <a:rPr sz="1275" b="0">
                <a:solidFill>
                  <a:srgbClr val="1F2933"/>
                </a:solidFill>
              </a:rPr>
              <a:t>- Nipple and glandular positions are auto-aligned.</a:t>
            </a:r>
          </a:p>
          <a:p>
            <a:r>
              <a:rPr sz="1275" b="0">
                <a:solidFill>
                  <a:srgbClr val="1F2933"/>
                </a:solidFill>
              </a:rPr>
              <a:t>- Chestwall curvature is treated as patient-dependent sensitivity.</a:t>
            </a:r>
          </a:p>
          <a:p>
            <a:r>
              <a:rPr sz="1275" b="0">
                <a:solidFill>
                  <a:srgbClr val="1F2933"/>
                </a:solidFill>
              </a:rPr>
              <a:t>- This stage becomes the anatomical base for later variants.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00500" y="1589952"/>
            <a:ext cx="2095500" cy="18683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34125" y="1920746"/>
            <a:ext cx="2095500" cy="1206758"/>
          </a:xfrm>
          <a:prstGeom prst="rect">
            <a:avLst/>
          </a:prstGeom>
        </p:spPr>
      </p:pic>
      <p:sp>
        <p:nvSpPr>
          <p:cNvPr id="15" name="custom_shape">
            <a:extLst>
              <a:ext uri="{FF2B5EF4-FFF2-40B4-BE49-F238E27FC236}">
                <a16:creationId xmlns:a16="http://schemas.microsoft.com/office/drawing/2014/main" id="{98F2BD8F-E08F-4498-AF1C-065D48F5F3B1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Lateral view</a:t>
            </a:r>
          </a:p>
        </p:txBody>
      </p:sp>
      <p:sp>
        <p:nvSpPr>
          <p:cNvPr id="16" name="custom_shape">
            <a:extLst>
              <a:ext uri="{FF2B5EF4-FFF2-40B4-BE49-F238E27FC236}">
                <a16:creationId xmlns:a16="http://schemas.microsoft.com/office/drawing/2014/main" id="{43D1E294-063D-4DCD-9449-CC3614FB2256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Superior view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215DD12D-5246-42DE-AB23-33D2053DC411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8607DF82-01CC-4226-BF46-490ACD9440E5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CF99AFD2-1AF5-45DE-A203-5B135DC920BE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3: Realistic Glandular Distribution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8AC142CB-0049-4CE8-BC28-85C0B7A93900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glandular region is represented as a chestwall-aware lobule spread.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0E986ACA-2763-4C30-8CFB-B93D0F1DA142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3095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Reference glandular fraction is approximately 24.3%.</a:t>
            </a:r>
          </a:p>
          <a:p>
            <a:r>
              <a:rPr sz="1275" b="0">
                <a:solidFill>
                  <a:srgbClr val="1F2933"/>
                </a:solidFill>
              </a:rPr>
              <a:t>- More anatomically meaningful than a simple fraction sweep.</a:t>
            </a:r>
          </a:p>
          <a:p>
            <a:r>
              <a:rPr sz="1275" b="0">
                <a:solidFill>
                  <a:srgbClr val="1F2933"/>
                </a:solidFill>
              </a:rPr>
              <a:t>- Compact/reference/wide variants can test spatial distribution.</a:t>
            </a:r>
          </a:p>
          <a:p>
            <a:r>
              <a:rPr sz="1275" b="0">
                <a:solidFill>
                  <a:srgbClr val="1F2933"/>
                </a:solidFill>
              </a:rPr>
              <a:t>- The reference case continues into Stage 4 and Stage 5 controls.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00500" y="1589952"/>
            <a:ext cx="2095500" cy="18683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34125" y="1589952"/>
            <a:ext cx="2095500" cy="1868346"/>
          </a:xfrm>
          <a:prstGeom prst="rect">
            <a:avLst/>
          </a:prstGeom>
        </p:spPr>
      </p:pic>
      <p:sp>
        <p:nvSpPr>
          <p:cNvPr id="15" name="custom_shape">
            <a:extLst>
              <a:ext uri="{FF2B5EF4-FFF2-40B4-BE49-F238E27FC236}">
                <a16:creationId xmlns:a16="http://schemas.microsoft.com/office/drawing/2014/main" id="{713E6E64-05BD-4A56-A117-FF19745BA328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Reference glandular spread</a:t>
            </a:r>
          </a:p>
        </p:txBody>
      </p:sp>
      <p:sp>
        <p:nvSpPr>
          <p:cNvPr id="16" name="custom_shape">
            <a:extLst>
              <a:ext uri="{FF2B5EF4-FFF2-40B4-BE49-F238E27FC236}">
                <a16:creationId xmlns:a16="http://schemas.microsoft.com/office/drawing/2014/main" id="{2DF46B9F-8A34-4983-B9BA-2F167E35F625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Sagittal slice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C05977A2-424D-40D6-9AAD-D59FA9EECA56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21DD5150-CAC6-410D-87DB-1FF8916352AC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F9B039DA-6E1E-4C2F-B87B-4045D48E640A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4: Asymmetry and Nipple Sensitivity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7DDB2686-6F81-49E2-82C4-BFFAC5E9EBE4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Stage 4 provides a framework for profile and landmark sensitivity.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0CD17711-25D3-4CEB-B93D-00EDE3995186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3095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Reference case remains a no-asymmetry control.</a:t>
            </a:r>
          </a:p>
          <a:p>
            <a:r>
              <a:rPr sz="1275" b="0">
                <a:solidFill>
                  <a:srgbClr val="1F2933"/>
                </a:solidFill>
              </a:rPr>
              <a:t>- Profile asymmetry and nipple-shift variants are geometry-tested.</a:t>
            </a:r>
          </a:p>
          <a:p>
            <a:r>
              <a:rPr sz="1275" b="0">
                <a:solidFill>
                  <a:srgbClr val="1F2933"/>
                </a:solidFill>
              </a:rPr>
              <a:t>- Current quantitative results are diagnostic rather than final.</a:t>
            </a:r>
          </a:p>
          <a:p>
            <a:r>
              <a:rPr sz="1275" b="0">
                <a:solidFill>
                  <a:srgbClr val="1F2933"/>
                </a:solidFill>
              </a:rPr>
              <a:t>- Useful for later patient-specific shape variation.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00500" y="1589952"/>
            <a:ext cx="2095500" cy="18683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34125" y="1589952"/>
            <a:ext cx="2095500" cy="1868346"/>
          </a:xfrm>
          <a:prstGeom prst="rect">
            <a:avLst/>
          </a:prstGeom>
        </p:spPr>
      </p:pic>
      <p:sp>
        <p:nvSpPr>
          <p:cNvPr id="15" name="custom_shape">
            <a:extLst>
              <a:ext uri="{FF2B5EF4-FFF2-40B4-BE49-F238E27FC236}">
                <a16:creationId xmlns:a16="http://schemas.microsoft.com/office/drawing/2014/main" id="{83CA056C-2BB1-459B-9825-4EAD95CDA3C3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Profile sensitivity</a:t>
            </a:r>
          </a:p>
        </p:txBody>
      </p:sp>
      <p:sp>
        <p:nvSpPr>
          <p:cNvPr id="16" name="custom_shape">
            <a:extLst>
              <a:ext uri="{FF2B5EF4-FFF2-40B4-BE49-F238E27FC236}">
                <a16:creationId xmlns:a16="http://schemas.microsoft.com/office/drawing/2014/main" id="{64ED84A5-4F2A-4C67-9FAE-0DEB9EF9F684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Nipple-shift sensitivity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7CCB71BB-AFF2-4EBD-9B14-DFB6EA0B9835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D2A55927-C66A-4FE1-AA1F-7025FBB3FD07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B7184C63-C21F-4B01-A239-42782E74E619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5: Support and Skin Development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7C3989D7-922A-409F-92DB-81C12D8BB4AD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Support and skin dominate the realism of the dynamic response.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60A97CE1-E773-4DCC-A681-2117AE787DAC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476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No-Cooper case is the current stable control.</a:t>
            </a:r>
          </a:p>
          <a:p>
            <a:r>
              <a:rPr sz="1275" b="0">
                <a:solidFill>
                  <a:srgbClr val="1F2933"/>
                </a:solidFill>
              </a:rPr>
              <a:t>- Cooper-ligament scaffolds are implemented but not yet robust enough for final solves.</a:t>
            </a:r>
          </a:p>
          <a:p>
            <a:r>
              <a:rPr sz="1275" b="0">
                <a:solidFill>
                  <a:srgbClr val="1F2933"/>
                </a:solidFill>
              </a:rPr>
              <a:t>- Shell/scaffold skin caused unrealistic surface buckling.</a:t>
            </a:r>
          </a:p>
          <a:p>
            <a:r>
              <a:rPr sz="1275" b="0">
                <a:solidFill>
                  <a:srgbClr val="1F2933"/>
                </a:solidFill>
              </a:rPr>
              <a:t>- Volumetric skin is the preferred route for further calibration.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33875" y="1923283"/>
            <a:ext cx="4191000" cy="172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5CCB6D90-87B3-4D3A-89BE-9A12C516A5C5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1CE983E9-7BDA-4348-B1E2-B9A708D131B9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B5B0352E-30A1-4E3C-B245-20BCAE067B5A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5 Scout Results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2DE3556A-7F30-4C9E-849B-D58BE71311D7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volumetric skin improves anatomy but strongly damps displacement amplitude.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010739D8-9253-45B3-9FDD-C8BA606980CF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476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No-skin 1.25g: higher peak displacement.</a:t>
            </a:r>
          </a:p>
          <a:p>
            <a:r>
              <a:rPr sz="1275" b="0">
                <a:solidFill>
                  <a:srgbClr val="1F2933"/>
                </a:solidFill>
              </a:rPr>
              <a:t>- Volumetric skin 1.25g: lower displacement but visually stable motion.</a:t>
            </a:r>
          </a:p>
          <a:p>
            <a:r>
              <a:rPr sz="1275" b="0">
                <a:solidFill>
                  <a:srgbClr val="1F2933"/>
                </a:solidFill>
              </a:rPr>
              <a:t>- Stress hotspots occur mainly near chestwall/support interfaces.</a:t>
            </a:r>
          </a:p>
          <a:p>
            <a:r>
              <a:rPr sz="1275" b="0">
                <a:solidFill>
                  <a:srgbClr val="1F2933"/>
                </a:solidFill>
              </a:rPr>
              <a:t>- Soft-interior volumetric skin is the next calibration scout.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33875" y="1528763"/>
            <a:ext cx="419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0F093629-18E4-4295-8737-B25940F773C3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8126DB89-81D0-4512-B70F-039B229A6FEA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37DAC8E4-DA6D-4C51-A804-0C2DBF30B6EC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5 Motion Comparison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1AFFE24C-D6FF-4CC7-B374-6DD27CEE996D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motion pattern is comparable, but the skin layer changes the amplitude.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4B932B93-9A70-4C12-B661-6E92EF12F941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476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Manual Derived Values were used as a reliable fallback for solve-only scouts.</a:t>
            </a:r>
          </a:p>
          <a:p>
            <a:r>
              <a:rPr sz="1275" b="0">
                <a:solidFill>
                  <a:srgbClr val="1F2933"/>
                </a:solidFill>
              </a:rPr>
              <a:t>- Peak-time and time-series metrics are sufficient for amplitude screening.</a:t>
            </a:r>
          </a:p>
          <a:p>
            <a:r>
              <a:rPr sz="1275" b="0">
                <a:solidFill>
                  <a:srgbClr val="1F2933"/>
                </a:solidFill>
              </a:rPr>
              <a:t>- Animations are useful for visual QA but should not replace quantitative metrics.</a:t>
            </a:r>
          </a:p>
          <a:p>
            <a:r>
              <a:rPr sz="1275" b="0">
                <a:solidFill>
                  <a:srgbClr val="1F2933"/>
                </a:solidFill>
              </a:rPr>
              <a:t>- Automated postprocessing is still being debugged for heavy result files.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33875" y="1528763"/>
            <a:ext cx="419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75A13094-4497-4B36-94DA-360E78D76DDB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A42A1D51-9C49-4272-B912-869FEDF06A5D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B762521E-B0BE-4A2F-BECB-FAF9F44B5679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Stage 6: Tumor Implementation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31B78CE7-2D5C-4D5E-9774-9994455D08F0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Stage 6 introduces tumors as controlled stiffness-mask sensitivities.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B9F4945D-AA18-4E75-994C-B223F19CC348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3095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Analytic spherical tumor mask inside the breast volume.</a:t>
            </a:r>
          </a:p>
          <a:p>
            <a:r>
              <a:rPr sz="1275" b="0">
                <a:solidFill>
                  <a:srgbClr val="1F2933"/>
                </a:solidFill>
              </a:rPr>
              <a:t>- Not a separate clinical segmentation yet.</a:t>
            </a:r>
          </a:p>
          <a:p>
            <a:r>
              <a:rPr sz="1275" b="0">
                <a:solidFill>
                  <a:srgbClr val="1F2933"/>
                </a:solidFill>
              </a:rPr>
              <a:t>- Variants test size, position and stiffness.</a:t>
            </a:r>
          </a:p>
          <a:p>
            <a:r>
              <a:rPr sz="1275" b="0">
                <a:solidFill>
                  <a:srgbClr val="1F2933"/>
                </a:solidFill>
              </a:rPr>
              <a:t>- Upper-outer and surface-proximal locations are prioritized for future solves.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00500" y="1589952"/>
            <a:ext cx="2095500" cy="18683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34125" y="1589952"/>
            <a:ext cx="2095500" cy="1868346"/>
          </a:xfrm>
          <a:prstGeom prst="rect">
            <a:avLst/>
          </a:prstGeom>
        </p:spPr>
      </p:pic>
      <p:sp>
        <p:nvSpPr>
          <p:cNvPr id="15" name="custom_shape">
            <a:extLst>
              <a:ext uri="{FF2B5EF4-FFF2-40B4-BE49-F238E27FC236}">
                <a16:creationId xmlns:a16="http://schemas.microsoft.com/office/drawing/2014/main" id="{AAA01837-03E3-4D05-B1BC-CCC70F1E4655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Upper-outer candidate</a:t>
            </a:r>
          </a:p>
        </p:txBody>
      </p:sp>
      <p:sp>
        <p:nvSpPr>
          <p:cNvPr id="16" name="custom_shape">
            <a:extLst>
              <a:ext uri="{FF2B5EF4-FFF2-40B4-BE49-F238E27FC236}">
                <a16:creationId xmlns:a16="http://schemas.microsoft.com/office/drawing/2014/main" id="{5FD592CA-CCE5-402E-AB86-3A9112FCD552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2095500" cy="1905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750" b="0">
                <a:solidFill>
                  <a:srgbClr val="52606D"/>
                </a:solidFill>
              </a:rPr>
              <a:t>Medium central candidate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78DF5BCD-0126-4149-A523-96606E1F769A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75F3278F-5BC6-4DDA-9F94-2BBBE98C8CD4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A695C74E-3CB7-4C1B-80F9-0EE43540FC87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Pending Full Model Comparison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2BC41D5A-3EFB-4CD5-883A-C6F6C695AA26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next quantitative result should be a matched no-tumor versus tumor comparison on the chosen baseline.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A3DB2521-8632-4E6A-839C-852761A73165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3476625" cy="23812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First choose the final Stage 5 baseline: volumetric skin with calibrated interior stiffness.</a:t>
            </a:r>
          </a:p>
          <a:p>
            <a:r>
              <a:rPr sz="1275" b="0">
                <a:solidFill>
                  <a:srgbClr val="1F2933"/>
                </a:solidFill>
              </a:rPr>
              <a:t>- Then run matched control and tumor cases with identical geometry and excitation.</a:t>
            </a:r>
          </a:p>
          <a:p>
            <a:r>
              <a:rPr sz="1275" b="0">
                <a:solidFill>
                  <a:srgbClr val="1F2933"/>
                </a:solidFill>
              </a:rPr>
              <a:t>- Evaluate surface displacement, nipple/landmark displacement and stress around the lesion.</a:t>
            </a:r>
          </a:p>
          <a:p>
            <a:r>
              <a:rPr sz="1275" b="0">
                <a:solidFill>
                  <a:srgbClr val="1F2933"/>
                </a:solidFill>
              </a:rPr>
              <a:t>- Avoid running many tumor cases before the baseline amplitude is credible.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853624" y="1381125"/>
            <a:ext cx="3151501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0BB8E2F4-1E26-4F40-B521-BFFC2162DC73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252505D6-8704-49C8-8D82-2A60E3D8052F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2DE8E9BB-47E2-4026-A84E-70E66C6A94EE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Current Limitations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E03773E9-F870-4BD6-A5DD-6A82A5A500C1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model is a controlled research pipeline, not a clinical patient-specific model yet.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54D9B1A3-80B4-490B-94E3-6577E7C50C6A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Geometry is parametric rather than patient-specific.</a:t>
            </a:r>
          </a:p>
          <a:p>
            <a:r>
              <a:rPr sz="1275" b="0">
                <a:solidFill>
                  <a:srgbClr val="1F2933"/>
                </a:solidFill>
              </a:rPr>
              <a:t>- Dynamic input is an excitation model, not a validated real jump reproduction.</a:t>
            </a:r>
          </a:p>
          <a:p>
            <a:r>
              <a:rPr sz="1275" b="0">
                <a:solidFill>
                  <a:srgbClr val="1F2933"/>
                </a:solidFill>
              </a:rPr>
              <a:t>- Material stiffness and damping still need calibration.</a:t>
            </a:r>
          </a:p>
          <a:p>
            <a:r>
              <a:rPr sz="1275" b="0">
                <a:solidFill>
                  <a:srgbClr val="1F2933"/>
                </a:solidFill>
              </a:rPr>
              <a:t>- Cooper support and tumor effects require robust matched solves.</a:t>
            </a:r>
          </a:p>
          <a:p>
            <a:r>
              <a:rPr sz="1275" b="0">
                <a:solidFill>
                  <a:srgbClr val="1F2933"/>
                </a:solidFill>
              </a:rPr>
              <a:t>- Automated postprocess is still under improvement for large MPH files.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6239CB34-E111-4C2C-A394-4A5B44FB5CE2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309293DC-F76F-432D-BEEA-8F482DB40F09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B0AEBEE1-B361-4992-95CC-8A838BE3CF43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Main Conclusion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122EA57D-44DA-426A-9413-3CE3D0760967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project establishes a reproducible COMSOL route for controlled EWS model development.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18FB7B1A-BA99-4E33-81B7-E4C35C500FEE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A staged anatomical baseline is available.</a:t>
            </a:r>
          </a:p>
          <a:p>
            <a:r>
              <a:rPr sz="1275" b="0">
                <a:solidFill>
                  <a:srgbClr val="1F2933"/>
                </a:solidFill>
              </a:rPr>
              <a:t>- Dynamic excitation, skin and material choices are now the key calibration issues.</a:t>
            </a:r>
          </a:p>
          <a:p>
            <a:r>
              <a:rPr sz="1275" b="0">
                <a:solidFill>
                  <a:srgbClr val="1F2933"/>
                </a:solidFill>
              </a:rPr>
              <a:t>- Tumor placement is geometry-ready for matched sensitivity runs.</a:t>
            </a:r>
          </a:p>
          <a:p>
            <a:r>
              <a:rPr sz="1275" b="0">
                <a:solidFill>
                  <a:srgbClr val="1F2933"/>
                </a:solidFill>
              </a:rPr>
              <a:t>- The pipeline can support future patient-specific geometry and EWS-data coupling.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CEF9CD94-DD00-4E87-8396-56E9398069B5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F4E48D02-E8DB-4A46-8AD3-4EB5F7C7D57D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10" name="slide_title">
            <a:extLst>
              <a:ext uri="{FF2B5EF4-FFF2-40B4-BE49-F238E27FC236}">
                <a16:creationId xmlns:a16="http://schemas.microsoft.com/office/drawing/2014/main" id="{B8E53D8E-41A3-4088-B3DB-A9402879CAC0}"/>
              </a:ext>
            </a:extLst>
          </p:cNvPr>
          <p:cNvSpPr>
            <a:spLocks noGrp="1"/>
          </p:cNvSpPr>
          <p:nvPr/>
        </p:nvSpPr>
        <p:spPr>
          <a:xfrm>
            <a:off x="523875" y="342900"/>
            <a:ext cx="7715250" cy="4572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2100" b="1">
                <a:solidFill>
                  <a:srgbClr val="1F2933"/>
                </a:solidFill>
              </a:rPr>
              <a:t>Next Steps</a:t>
            </a:r>
          </a:p>
        </p:txBody>
      </p:sp>
      <p:sp>
        <p:nvSpPr>
          <p:cNvPr id="11" name="claim_bar">
            <a:extLst>
              <a:ext uri="{FF2B5EF4-FFF2-40B4-BE49-F238E27FC236}">
                <a16:creationId xmlns:a16="http://schemas.microsoft.com/office/drawing/2014/main" id="{D637699B-A8D7-49EF-9824-0D7E5D95992A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7715250" cy="400050"/>
          </a:xfrm>
          <a:prstGeom prst="rect">
            <a:avLst/>
          </a:prstGeom>
          <a:ln>
            <a:solidFill>
              <a:srgbClr val="C7D7DF"/>
            </a:solidFill>
          </a:ln>
        </p:spPr>
        <p:txBody>
          <a:bodyPr/>
          <a:lstStyle/>
          <a:p>
            <a:r>
              <a:rPr sz="1275" b="1">
                <a:solidFill>
                  <a:srgbClr val="006D7C"/>
                </a:solidFill>
              </a:rPr>
              <a:t>The highest-value next work is calibration before broad tumor sweeps.</a:t>
            </a:r>
          </a:p>
        </p:txBody>
      </p:sp>
      <p:sp>
        <p:nvSpPr>
          <p:cNvPr id="12" name="body_bullets">
            <a:extLst>
              <a:ext uri="{FF2B5EF4-FFF2-40B4-BE49-F238E27FC236}">
                <a16:creationId xmlns:a16="http://schemas.microsoft.com/office/drawing/2014/main" id="{39E97281-0AA2-49B4-A4DF-8CAD6B770F18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7143750" cy="261937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275" b="0">
                <a:solidFill>
                  <a:srgbClr val="1F2933"/>
                </a:solidFill>
              </a:rPr>
              <a:t>- Run and evaluate soft-interior volumetric-skin scout.</a:t>
            </a:r>
          </a:p>
          <a:p>
            <a:r>
              <a:rPr sz="1275" b="0">
                <a:solidFill>
                  <a:srgbClr val="1F2933"/>
                </a:solidFill>
              </a:rPr>
              <a:t>- Select primary dynamic excitation amplitude.</a:t>
            </a:r>
          </a:p>
          <a:p>
            <a:r>
              <a:rPr sz="1275" b="0">
                <a:solidFill>
                  <a:srgbClr val="1F2933"/>
                </a:solidFill>
              </a:rPr>
              <a:t>- Run matched no-tumor versus upper-outer tumor cases.</a:t>
            </a:r>
          </a:p>
          <a:p>
            <a:r>
              <a:rPr sz="1275" b="0">
                <a:solidFill>
                  <a:srgbClr val="1F2933"/>
                </a:solidFill>
              </a:rPr>
              <a:t>- Improve surface/landmark postprocess reliability.</a:t>
            </a:r>
          </a:p>
          <a:p>
            <a:r>
              <a:rPr sz="1275" b="0">
                <a:solidFill>
                  <a:srgbClr val="1F2933"/>
                </a:solidFill>
              </a:rPr>
              <a:t>- Extend later toward patient-specific anatomy and real EWS measurements.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05" y="4588510"/>
            <a:ext cx="1664970" cy="554990"/>
          </a:xfrm>
          <a:prstGeom prst="rect">
            <a:avLst/>
          </a:prstGeom>
        </p:spPr>
      </p:pic>
      <p:pic>
        <p:nvPicPr>
          <p:cNvPr id="2" name="Content Placeholde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06236"/>
            <a:ext cx="1990725" cy="519537"/>
          </a:xfrm>
          <a:prstGeom prst="rect">
            <a:avLst/>
          </a:prstGeom>
        </p:spPr>
      </p:pic>
      <p:sp>
        <p:nvSpPr>
          <p:cNvPr id="8" name="footer_text">
            <a:extLst>
              <a:ext uri="{FF2B5EF4-FFF2-40B4-BE49-F238E27FC236}">
                <a16:creationId xmlns:a16="http://schemas.microsoft.com/office/drawing/2014/main" id="{32918A1A-B38A-45DD-ABEA-904F1139D8A1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5905500" cy="1333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00" b="0">
                <a:solidFill>
                  <a:srgbClr val="52606D"/>
                </a:solidFill>
              </a:rPr>
              <a:t>COMSOL FEM Breast Model for Early Warning Scan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04A08016-BE66-49F1-8D36-6E6EC1EB37BA}"/>
              </a:ext>
            </a:extLst>
          </p:cNvPr>
          <p:cNvSpPr>
            <a:spLocks noGrp="1"/>
          </p:cNvSpPr>
          <p:nvPr/>
        </p:nvSpPr>
        <p:spPr>
          <a:xfrm>
            <a:off x="8401050" y="4838700"/>
            <a:ext cx="285750" cy="1524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675" b="0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10" name="questions_title">
            <a:extLst>
              <a:ext uri="{FF2B5EF4-FFF2-40B4-BE49-F238E27FC236}">
                <a16:creationId xmlns:a16="http://schemas.microsoft.com/office/drawing/2014/main" id="{87D96670-D2C2-44D3-9297-8F78EBA2F09B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7429500" cy="66675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3450" b="1">
                <a:solidFill>
                  <a:srgbClr val="006D7C"/>
                </a:solidFill>
              </a:rPr>
              <a:t>Questions</a:t>
            </a:r>
          </a:p>
        </p:txBody>
      </p:sp>
      <p:sp>
        <p:nvSpPr>
          <p:cNvPr id="11" name="questions_subtitle">
            <a:extLst>
              <a:ext uri="{FF2B5EF4-FFF2-40B4-BE49-F238E27FC236}">
                <a16:creationId xmlns:a16="http://schemas.microsoft.com/office/drawing/2014/main" id="{303F5312-7FA1-477A-8CCE-5011A09AAC6B}"/>
              </a:ext>
            </a:extLst>
          </p:cNvPr>
          <p:cNvSpPr>
            <a:spLocks noGrp="1"/>
          </p:cNvSpPr>
          <p:nvPr/>
        </p:nvSpPr>
        <p:spPr>
          <a:xfrm>
            <a:off x="800100" y="2524125"/>
            <a:ext cx="4762500" cy="3810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/>
          <a:p>
            <a:r>
              <a:rPr sz="1500" b="0">
                <a:solidFill>
                  <a:srgbClr val="52606D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35956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Ue_PPT_V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Ue_PPT_V2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Office PowerPoint</Application>
  <DocSecurity>0</DocSecurity>
  <PresentationFormat>On-screen Show (16:9)</PresentationFormat>
  <Paragraphs>177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Kuijpers, Daan</cp:lastModifiedBy>
  <cp:revision>1</cp:revision>
  <dcterms:created xsi:type="dcterms:W3CDTF">2026-06-04T13:54:24Z</dcterms:created>
  <dcterms:modified xsi:type="dcterms:W3CDTF">2026-06-04T14:58:07Z</dcterms:modified>
</cp:coreProperties>
</file>