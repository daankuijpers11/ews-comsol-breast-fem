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31"/>
  </p:notesMasterIdLst>
  <p:sldIdLst>
    <p:sldId id="267" r:id="rId5"/>
    <p:sldId id="259" r:id="rId6"/>
    <p:sldId id="376" r:id="rId7"/>
    <p:sldId id="393" r:id="rId8"/>
    <p:sldId id="377" r:id="rId9"/>
    <p:sldId id="409" r:id="rId10"/>
    <p:sldId id="410" r:id="rId11"/>
    <p:sldId id="411" r:id="rId12"/>
    <p:sldId id="415" r:id="rId13"/>
    <p:sldId id="412" r:id="rId14"/>
    <p:sldId id="416" r:id="rId15"/>
    <p:sldId id="395" r:id="rId16"/>
    <p:sldId id="378" r:id="rId17"/>
    <p:sldId id="379" r:id="rId18"/>
    <p:sldId id="414" r:id="rId19"/>
    <p:sldId id="383" r:id="rId20"/>
    <p:sldId id="384" r:id="rId21"/>
    <p:sldId id="403" r:id="rId22"/>
    <p:sldId id="385" r:id="rId23"/>
    <p:sldId id="386" r:id="rId24"/>
    <p:sldId id="406" r:id="rId25"/>
    <p:sldId id="408" r:id="rId26"/>
    <p:sldId id="388" r:id="rId27"/>
    <p:sldId id="391" r:id="rId28"/>
    <p:sldId id="401" r:id="rId29"/>
    <p:sldId id="400" r:id="rId30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3300"/>
    <a:srgbClr val="FF6600"/>
    <a:srgbClr val="FFFFFF"/>
    <a:srgbClr val="000000"/>
    <a:srgbClr val="EE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0" d="100"/>
          <a:sy n="200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25DE2-B715-4EA4-8CF0-DA425EA806A7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9BBE-B871-48D7-983C-C0B1D7156D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1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686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206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2541D-E580-EE34-F304-7526585FE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8C18C15-0CAC-689D-1EA1-42E1C1B64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DCC7FA3-AE00-E9EF-FF3D-5C3ABF1DF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One fifth of breast cancer patients in the Netherlands are under 40 (~3000 women annually)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92C1824-08E7-C51F-101A-80E7638780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791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9BE59-CA84-20FF-6C87-044A32034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CEA395A-1876-C01B-0C0F-1242B5618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88D2F4C-1242-E592-2B17-021AD207F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the Netherlands, 30% of women do not partake in screening.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DBB4E70-3446-0E61-0429-21B4856B9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408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900AF-8F3A-F867-48DB-3D6785753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1A6F83C-A5B8-F04E-A96E-B33574436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DCE5005-2392-831A-EAFB-C88179B47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DC79174-5E08-BD2B-3907-D547957A3B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363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ED2F6-65C6-1970-25DD-7A2FC239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3B64181-FAEF-CBC9-02DC-90907A35F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C5103A2-3C54-D765-BE1C-1CA72118C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F26CA37-A2D3-248A-D0E7-B97566ABA2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135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D0C35-27BF-9ABB-CDDA-B52E478F5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C77350E-5F37-050E-24ED-6FE449C10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0096620-0A02-991D-8455-390B32D1A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A1F639-20BC-8C11-E2F0-C377EAB0B4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058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338A-028C-2241-82A4-98570DF53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7A64857-F55E-0484-7FCF-EB4B8AF15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0366364-E408-2392-FB1D-9D8F03497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2D955DF-4918-9F6A-D48E-E0A6E02E21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619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CD340-D1C8-429B-DB37-CE806F880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AEADD2D-0169-D840-EFDE-289667DCB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396AA18-C280-E8EA-B307-68EED4072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A6C8D71-00F8-8EC7-AD61-21CF2F396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105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F7035-E5B2-3FA7-6A33-8459E7A83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7D64505-FABA-8B89-D90C-1A37687E1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8A1796C-C43A-42F5-469C-B9C30183F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3F928-5342-6A64-C8E8-BA6D6CEA9F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516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45138-3B6E-656D-3DA9-0019CC5C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541BCB0-4E69-B462-3D3D-436351151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6F678FE-1590-B461-0EB8-E8672B42E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ACF9FCF-8276-AAAB-33D7-A6FEAAD610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125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1E277-7E1A-A8BC-E965-03B757EE8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DDE868A-FA26-9E98-2094-9EE02B3B8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834E769-1070-F59B-99FC-B857141DC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0664ED-C5C0-FF04-F96C-F1B3EB9A8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3439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2DFFD-86FA-D370-3E77-739836C0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7B08987-C4D4-2B76-013D-49C1C1F4D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29729B7-B7A5-5ACD-7F0B-B2096436A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CED71E-DBC4-A0D5-7847-9AF3BC01D7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8402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BED6B-822D-CF9C-539D-2E03C11AA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4BBC791-93C3-3AFD-FDE2-3BB413DFA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626435F-F087-B4CF-F230-0492382A0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0A76A91-2F63-D6D9-0090-C1D724F64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472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87288-F943-2095-02D2-A02CC4799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0B6EA26-3579-EB47-7F3C-1B158F3A3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77B0CD0-7424-D44C-CEE9-AD50732B0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7254543-ECC6-7CAE-AA28-BFDAED0C4A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337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7B0C2-B01D-FE49-75E8-E7B84A0F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CC38ED4-C80E-BF36-0D25-6BF1D1DCB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D37D7FE-981F-72A5-3C8B-AA2A5789C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E019450-1CD4-1E9F-5BFF-0CEC641FB5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5506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EB6A0-0A55-3336-3C1D-BB624C109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ABE8517-4B97-E9E3-1E53-97EC8D845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9EA1B64-CD4A-B49A-7FC7-3C3860480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5B0AE13-9FE1-0AA3-D8E3-420531080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2353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7B6C5-E60F-9F38-880F-07BEED58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B98637B-E395-FBB4-8241-BA3E5F1DE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785EA63-B28F-1FFE-9377-7E1B28540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9216BE8-DE7A-3272-AA0A-FA98D1518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6145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59C98-4609-6198-9CCA-4C00A9A46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D4AEE3E-6EC9-88FB-CC3D-0D8B421D1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920030F-8E49-DD17-E053-143EC9277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6339095-2592-F227-46DB-778AE0074A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112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ED61-9F33-B22E-FBF5-FF212033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F8B34D8-C553-1E02-60B0-021FF960D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FAE1E4B-6EA3-AFF1-9246-BCD440906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58F84B7-6903-12D7-821D-F7A6CE09AC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701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2F058-0024-9E3D-B9FD-62019048A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AB40D63-69E1-DC03-0DE4-76FD2F4EF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FFAAA56-8BA5-696B-1BE9-09095294D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BBBCF2-AA98-6B13-3237-718F1B2009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6656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97BD4-4DD3-DBEF-277E-31295FE0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FA5BA6B-8053-19DB-032D-89ED4A3B2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6B8CA18-FCDF-79B2-B4D3-1175B8CA3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275C22C-D153-D46D-ED00-33511230B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5993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F8D0E-51F9-2512-88E3-970C1A78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936173D-8C06-284B-AD32-B0FD456E2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F2DFFD6-005F-904B-D82D-1100F09AB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821A956-CDF8-054E-2A7F-28325E6CAE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4424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0F5C9-2226-D545-CAB1-3C13CD7C5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4656C38-D8F8-9DD3-88A5-78158539C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38C2F22-1E0B-2B11-6575-792E7033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80E4F5C-E9DD-6FE9-51DD-D53CAAAF06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3673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A6CD6-9D9C-54A6-AD77-DE866D63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E1DBE47-4A4D-AB41-DDD7-2FF9A37A9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34D38BE-367E-A228-9002-EC9DF0D5B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0381DE1-577D-7D25-F55C-4E73214A30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887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lack75"/>
          <p:cNvSpPr/>
          <p:nvPr userDrawn="1"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7560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Example of a title at the top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1548000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00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164422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/>
          <p:cNvSpPr/>
          <p:nvPr userDrawn="1"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18355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GB"/>
              <a:t>Example of a title in the middle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2628097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98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2931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/>
          <p:cNvSpPr/>
          <p:nvPr userDrawn="1"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29150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GB"/>
              <a:t>Example of a title at the bottom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3708591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98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22374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This is an example of a 27 </a:t>
            </a:r>
            <a:r>
              <a:rPr lang="en-GB" err="1"/>
              <a:t>pt</a:t>
            </a:r>
            <a:r>
              <a:rPr lang="en-GB"/>
              <a:t> headline with 27 </a:t>
            </a:r>
            <a:r>
              <a:rPr lang="en-GB" err="1"/>
              <a:t>pt</a:t>
            </a:r>
            <a:r>
              <a:rPr lang="en-GB"/>
              <a:t>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/>
              <a:t>This is an example of 19,5 </a:t>
            </a:r>
            <a:r>
              <a:rPr lang="en-GB" err="1"/>
              <a:t>pt</a:t>
            </a:r>
            <a:r>
              <a:rPr lang="en-GB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lang="nl-NL" sz="195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enter text</a:t>
            </a:r>
          </a:p>
        </p:txBody>
      </p:sp>
    </p:spTree>
    <p:extLst>
      <p:ext uri="{BB962C8B-B14F-4D97-AF65-F5344CB8AC3E}">
        <p14:creationId xmlns:p14="http://schemas.microsoft.com/office/powerpoint/2010/main" val="16824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/>
              <a:t>This is an example of 19,5 </a:t>
            </a:r>
            <a:r>
              <a:rPr lang="en-GB" err="1"/>
              <a:t>pt</a:t>
            </a:r>
            <a:r>
              <a:rPr lang="en-GB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9815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/>
              <a:t>This is an example of 19,5 </a:t>
            </a:r>
            <a:r>
              <a:rPr lang="en-GB" err="1"/>
              <a:t>pt</a:t>
            </a:r>
            <a:r>
              <a:rPr lang="en-GB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27240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rPr lang="en-GB"/>
              <a:t>This is an example of a 27 </a:t>
            </a:r>
            <a:r>
              <a:rPr lang="en-GB" err="1"/>
              <a:t>pt</a:t>
            </a:r>
            <a:r>
              <a:rPr lang="en-GB"/>
              <a:t> headline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jdelijke aanduiding voor inhoud 9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Click icon to insert 16x9 image or movie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defRPr sz="1100" i="1"/>
            </a:lvl1pPr>
          </a:lstStyle>
          <a:p>
            <a:pPr lvl="0"/>
            <a:r>
              <a:rPr lang="en-GB"/>
              <a:t>Click to insert Caption under image or movie</a:t>
            </a:r>
          </a:p>
        </p:txBody>
      </p:sp>
    </p:spTree>
    <p:extLst>
      <p:ext uri="{BB962C8B-B14F-4D97-AF65-F5344CB8AC3E}">
        <p14:creationId xmlns:p14="http://schemas.microsoft.com/office/powerpoint/2010/main" val="1938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 27pt headline on a slide with three images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/>
              <a:t>Click to enter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/>
              <a:t>Click to enter text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/>
              <a:t>Click to enter text</a:t>
            </a:r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11" name="Tijdelijke aanduiding voor afbeelding 9"/>
          <p:cNvSpPr>
            <a:spLocks noGrp="1"/>
          </p:cNvSpPr>
          <p:nvPr>
            <p:ph type="pic" sz="quarter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  <a:p>
            <a:endParaRPr lang="en-GB"/>
          </a:p>
        </p:txBody>
      </p:sp>
      <p:sp>
        <p:nvSpPr>
          <p:cNvPr id="12" name="Tijdelijke aanduiding voor afbeelding 9"/>
          <p:cNvSpPr>
            <a:spLocks noGrp="1"/>
          </p:cNvSpPr>
          <p:nvPr>
            <p:ph type="pic" sz="quarter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2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/>
              <a:t>This is an example of 19,5 </a:t>
            </a:r>
            <a:r>
              <a:rPr lang="en-GB" err="1"/>
              <a:t>pt</a:t>
            </a:r>
            <a:r>
              <a:rPr lang="en-GB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8872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/>
              <a:t>This is an example of 19,5 </a:t>
            </a:r>
            <a:r>
              <a:rPr lang="en-GB" err="1"/>
              <a:t>pt</a:t>
            </a:r>
            <a:r>
              <a:rPr lang="en-GB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68122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This is an example of a white headline on a full screen, dark image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This is an example of a black headline on a full screen, light image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8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This is an example of a black headline on a white background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Rechte verbindingslijn 6"/>
          <p:cNvCxnSpPr/>
          <p:nvPr userDrawn="1"/>
        </p:nvCxn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afbeelding 8"/>
          <p:cNvSpPr>
            <a:spLocks noGrp="1"/>
          </p:cNvSpPr>
          <p:nvPr>
            <p:ph type="pic" sz="quarter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8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This is an example of a 27 </a:t>
            </a:r>
            <a:r>
              <a:rPr lang="en-GB" err="1"/>
              <a:t>pt</a:t>
            </a:r>
            <a:r>
              <a:rPr lang="en-GB"/>
              <a:t> headline with 27 </a:t>
            </a:r>
            <a:r>
              <a:rPr lang="en-GB" err="1"/>
              <a:t>pt</a:t>
            </a:r>
            <a:r>
              <a:rPr lang="en-GB"/>
              <a:t>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9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/>
              <a:t>Sample slide with table and text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jdelijke aanduiding voor tabel 7"/>
          <p:cNvSpPr>
            <a:spLocks noGrp="1"/>
          </p:cNvSpPr>
          <p:nvPr>
            <p:ph type="tbl" sz="quarter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239938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/>
              <a:t>Example chart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insert chart</a:t>
            </a:r>
          </a:p>
        </p:txBody>
      </p:sp>
    </p:spTree>
    <p:extLst>
      <p:ext uri="{BB962C8B-B14F-4D97-AF65-F5344CB8AC3E}">
        <p14:creationId xmlns:p14="http://schemas.microsoft.com/office/powerpoint/2010/main" val="42023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bg1"/>
          </a:solidFill>
        </p:spPr>
        <p:txBody>
          <a:bodyPr vert="horz" lIns="756000" tIns="0" rIns="0" bIns="0" rtlCol="0" anchor="ctr"/>
          <a:lstStyle>
            <a:lvl1pPr algn="l">
              <a:defRPr sz="1100" b="0">
                <a:solidFill>
                  <a:schemeClr val="tx1"/>
                </a:solidFill>
              </a:defRPr>
            </a:lvl1pPr>
          </a:lstStyle>
          <a:p>
            <a:fld id="{C194BDB0-F4EA-4DD6-8281-CCE2440D0C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This is an example of a 27 </a:t>
            </a:r>
            <a:r>
              <a:rPr lang="en-GB" err="1"/>
              <a:t>pt</a:t>
            </a:r>
            <a:r>
              <a:rPr lang="en-GB"/>
              <a:t> headline with 27 </a:t>
            </a:r>
            <a:r>
              <a:rPr lang="en-GB" err="1"/>
              <a:t>pt</a:t>
            </a:r>
            <a:r>
              <a:rPr lang="en-GB"/>
              <a:t> line spacing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err="1"/>
              <a:t>Klik</a:t>
            </a:r>
            <a:r>
              <a:rPr lang="en-GB"/>
              <a:t> om de </a:t>
            </a:r>
            <a:r>
              <a:rPr lang="en-GB" err="1"/>
              <a:t>modelstijlen</a:t>
            </a:r>
            <a:r>
              <a:rPr lang="en-GB"/>
              <a:t> </a:t>
            </a:r>
            <a:r>
              <a:rPr lang="en-GB" err="1"/>
              <a:t>te</a:t>
            </a:r>
            <a:r>
              <a:rPr lang="en-GB"/>
              <a:t> </a:t>
            </a:r>
            <a:r>
              <a:rPr lang="en-GB" err="1"/>
              <a:t>bewerken</a:t>
            </a:r>
            <a:endParaRPr lang="en-GB"/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/>
          <a:lstStyle>
            <a:lvl1pPr algn="l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GB"/>
              <a:t>Title of the presentation - by tab Insert -&gt; Header text and Footer text</a:t>
            </a:r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93FD69BB-9D62-3A4C-8433-C5954D52BB6F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539750" indent="-1778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5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5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100" noProof="0" dirty="0"/>
              <a:t>Advancing Breast Models Through Improved Tumor Complexity for AI-Based Cancer Detection</a:t>
            </a:r>
          </a:p>
        </p:txBody>
      </p:sp>
      <p:sp>
        <p:nvSpPr>
          <p:cNvPr id="15" name="Ondertitel 14"/>
          <p:cNvSpPr>
            <a:spLocks noGrp="1"/>
          </p:cNvSpPr>
          <p:nvPr>
            <p:ph type="subTitle" idx="1"/>
          </p:nvPr>
        </p:nvSpPr>
        <p:spPr>
          <a:xfrm>
            <a:off x="1" y="2627549"/>
            <a:ext cx="9143999" cy="288000"/>
          </a:xfrm>
        </p:spPr>
        <p:txBody>
          <a:bodyPr/>
          <a:lstStyle/>
          <a:p>
            <a:r>
              <a:rPr lang="en-US" noProof="0" dirty="0"/>
              <a:t>23-10-2025</a:t>
            </a:r>
          </a:p>
        </p:txBody>
      </p:sp>
      <p:sp>
        <p:nvSpPr>
          <p:cNvPr id="16" name="Tijdelijke aanduiding voor tekst 1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Tim Diepstraten</a:t>
            </a:r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MSc Externship Project at the Early Warning Scan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575EAB-349C-8C88-930D-08EFD8B90C11}"/>
              </a:ext>
            </a:extLst>
          </p:cNvPr>
          <p:cNvSpPr/>
          <p:nvPr/>
        </p:nvSpPr>
        <p:spPr>
          <a:xfrm>
            <a:off x="-6667" y="2913168"/>
            <a:ext cx="9150665" cy="1077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E9C881-A035-F0A9-48E1-07784E3F4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2913167"/>
            <a:ext cx="4121465" cy="10761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540418-50B5-716E-B0B5-282975EC7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869" y="2960618"/>
            <a:ext cx="1258731" cy="98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67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2.3 million annual cases of breast cancer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Leading cause of cancer-related death among women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Lack of early symptoms</a:t>
            </a:r>
          </a:p>
          <a:p>
            <a:pPr lvl="2" indent="0">
              <a:buNone/>
            </a:pPr>
            <a:r>
              <a:rPr lang="en-US" noProof="0" dirty="0">
                <a:sym typeface="Wingdings" panose="05000000000000000000" pitchFamily="2" charset="2"/>
              </a:rPr>
              <a:t> </a:t>
            </a:r>
            <a:r>
              <a:rPr lang="en-US" noProof="0" dirty="0"/>
              <a:t>Late disease detection</a:t>
            </a:r>
          </a:p>
          <a:p>
            <a:pPr lvl="2" indent="0">
              <a:buNone/>
            </a:pPr>
            <a:endParaRPr lang="en-US" noProof="0" dirty="0"/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Solution: </a:t>
            </a:r>
          </a:p>
          <a:p>
            <a:pPr marR="0" lvl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Better early screening methods</a:t>
            </a:r>
          </a:p>
          <a:p>
            <a:endParaRPr lang="en-US" noProof="0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D04238-99C1-E3E5-7E77-7430BBFF2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656" y="1978185"/>
            <a:ext cx="3688241" cy="24998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E07FB8-9102-1D19-98C7-52E1DC8A5C04}"/>
              </a:ext>
            </a:extLst>
          </p:cNvPr>
          <p:cNvSpPr txBox="1"/>
          <p:nvPr/>
        </p:nvSpPr>
        <p:spPr>
          <a:xfrm>
            <a:off x="7508646" y="4314111"/>
            <a:ext cx="1453076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noProof="0" dirty="0"/>
              <a:t>National Breast Cancer Foundation (Australia)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2EEBF3-003D-A10C-05D2-6884E3B62BBA}"/>
              </a:ext>
            </a:extLst>
          </p:cNvPr>
          <p:cNvSpPr txBox="1"/>
          <p:nvPr/>
        </p:nvSpPr>
        <p:spPr>
          <a:xfrm>
            <a:off x="6242010" y="2011557"/>
            <a:ext cx="1776594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5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Breast Cancer in Australia</a:t>
            </a:r>
          </a:p>
        </p:txBody>
      </p:sp>
    </p:spTree>
    <p:extLst>
      <p:ext uri="{BB962C8B-B14F-4D97-AF65-F5344CB8AC3E}">
        <p14:creationId xmlns:p14="http://schemas.microsoft.com/office/powerpoint/2010/main" val="201116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359D5-B4F8-09CB-A403-4A9029C0A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6B20C-AF40-C509-892B-BA3B2C11A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Mammography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6CA481F-ED16-8389-9DCC-20B9210B9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Standard for breast cancer screening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lvl="1"/>
            <a:endParaRPr lang="en-US" noProof="0" dirty="0"/>
          </a:p>
          <a:p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A594764-3CD1-6184-F03C-08AF821C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4330DCB-D8F3-9177-1A87-AAA7F0A0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3</a:t>
            </a:fld>
            <a:endParaRPr lang="en-US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55A785-C33F-E4DF-7174-FE48382AD0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04" r="6402"/>
          <a:stretch>
            <a:fillRect/>
          </a:stretch>
        </p:blipFill>
        <p:spPr>
          <a:xfrm>
            <a:off x="2076847" y="1795139"/>
            <a:ext cx="4990305" cy="247206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EB7535-363A-ECBF-1639-ADF51E59D9AB}"/>
              </a:ext>
            </a:extLst>
          </p:cNvPr>
          <p:cNvSpPr txBox="1"/>
          <p:nvPr/>
        </p:nvSpPr>
        <p:spPr>
          <a:xfrm>
            <a:off x="6771366" y="4125784"/>
            <a:ext cx="38758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noProof="0" dirty="0" err="1"/>
              <a:t>inviTRA</a:t>
            </a:r>
            <a:endParaRPr lang="en-US" sz="500" noProof="0" dirty="0"/>
          </a:p>
        </p:txBody>
      </p:sp>
    </p:spTree>
    <p:extLst>
      <p:ext uri="{BB962C8B-B14F-4D97-AF65-F5344CB8AC3E}">
        <p14:creationId xmlns:p14="http://schemas.microsoft.com/office/powerpoint/2010/main" val="225911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CF6DD-CF72-F18C-4074-7C5BD46D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04182D-E0F7-B59F-015C-343C51F7A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Shortcomings of Mammography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772F6D1-0996-4A53-0482-D876CE920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Radiation Exposure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Discomfort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Cost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Dense vs fatty tissue</a:t>
            </a:r>
          </a:p>
          <a:p>
            <a:pPr marL="523875" lvl="2" indent="-342900">
              <a:defRPr/>
            </a:pPr>
            <a:r>
              <a:rPr lang="en-US" noProof="0" dirty="0">
                <a:solidFill>
                  <a:prstClr val="black"/>
                </a:solidFill>
                <a:latin typeface="Calibri"/>
              </a:rPr>
              <a:t>High false positives/negatives</a:t>
            </a:r>
          </a:p>
          <a:p>
            <a:pPr marL="523875" lvl="2" indent="-342900"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screening for women under 50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noProof="0" dirty="0">
              <a:solidFill>
                <a:prstClr val="black"/>
              </a:solidFill>
              <a:latin typeface="Calibri"/>
            </a:endParaRP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need to do better!</a:t>
            </a:r>
          </a:p>
          <a:p>
            <a:pPr lvl="1"/>
            <a:endParaRPr lang="en-US" noProof="0" dirty="0"/>
          </a:p>
          <a:p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0FC69D1B-441D-2D6E-F9EB-45030607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5ACE78-5CDE-41A2-D251-C63A5407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B9CDA2-E960-FDBA-0993-FFCC20BAA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746" y="2260236"/>
            <a:ext cx="3009988" cy="2148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C16FB3-D0CA-096A-F282-842F71BCFF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772"/>
          <a:stretch>
            <a:fillRect/>
          </a:stretch>
        </p:blipFill>
        <p:spPr>
          <a:xfrm>
            <a:off x="5879342" y="469731"/>
            <a:ext cx="3009988" cy="17905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D1467E-F0E1-F8D2-3CD8-8B95D7F69F61}"/>
              </a:ext>
            </a:extLst>
          </p:cNvPr>
          <p:cNvSpPr txBox="1"/>
          <p:nvPr/>
        </p:nvSpPr>
        <p:spPr>
          <a:xfrm>
            <a:off x="5802002" y="2130767"/>
            <a:ext cx="66635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noProof="0" dirty="0" err="1"/>
              <a:t>VeryWell</a:t>
            </a:r>
            <a:r>
              <a:rPr lang="en-US" sz="500" noProof="0" dirty="0"/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46182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33AED-88E8-802F-F5E2-74F21FF6F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28AAA-5F81-5DC3-1CC6-3DC2C03A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7AFE249-5724-45EA-D5C9-D74E67785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306642"/>
            <a:ext cx="4624387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Dutch startup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approach to breast cancer screening</a:t>
            </a:r>
            <a:endParaRPr lang="en-US" noProof="0" dirty="0"/>
          </a:p>
          <a:p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Image acquisition</a:t>
            </a:r>
          </a:p>
          <a:p>
            <a:pPr marL="638175" lvl="2" indent="-457200"/>
            <a:r>
              <a:rPr lang="en-US" noProof="0" dirty="0"/>
              <a:t>52 cameras</a:t>
            </a:r>
          </a:p>
          <a:p>
            <a:pPr marL="638175" lvl="2" indent="-457200"/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6906635-033D-A14B-4CED-1F81D672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9F83914-7E2C-AC85-338C-63B244B2B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662597-BFD4-343A-9CFC-CF8F4BAF2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390" y="1650084"/>
            <a:ext cx="3594233" cy="23947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E56A39-8BEC-3BA2-D927-39D2D8ACE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390" y="714308"/>
            <a:ext cx="3594233" cy="93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8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ECE1E-2AC1-E96E-EE30-3E6D3E7B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FA0C86-8A2C-84D5-EA64-817A4419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5B2D9F3-4DA7-1DFD-ABB2-E4A9F8E5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ECE6FF5-0530-DF48-07B3-27AC756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75C2C2-4A93-2EC1-CAB3-2EAB9002C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390" y="714308"/>
            <a:ext cx="3594233" cy="935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B40FCE-15AD-D3A9-6622-B849CE5216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64" t="17066" r="35416" b="12871"/>
          <a:stretch>
            <a:fillRect/>
          </a:stretch>
        </p:blipFill>
        <p:spPr>
          <a:xfrm>
            <a:off x="5319390" y="1650084"/>
            <a:ext cx="3594233" cy="2655501"/>
          </a:xfrm>
          <a:prstGeom prst="rect">
            <a:avLst/>
          </a:prstGeom>
        </p:spPr>
      </p:pic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4DAE0A1C-2591-9F93-1B22-840274B97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306642"/>
            <a:ext cx="4624387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Dutch startup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approach to breast cancer screening</a:t>
            </a:r>
            <a:endParaRPr lang="en-US" noProof="0" dirty="0"/>
          </a:p>
          <a:p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Image acquisition</a:t>
            </a:r>
          </a:p>
          <a:p>
            <a:pPr marL="638175" lvl="2" indent="-457200"/>
            <a:r>
              <a:rPr lang="en-US" noProof="0" dirty="0"/>
              <a:t>52 cameras</a:t>
            </a:r>
          </a:p>
          <a:p>
            <a:pPr marL="638175" lvl="2" indent="-45720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14646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D3124-AFA4-2134-4829-2B7442C14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F56D71-CEC9-5448-EECA-7EE86B76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D5C125-57B9-ACB1-1908-2347D47A7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347302C-D38A-F7D7-7C31-6A7F43D6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5D0BD9-1EB7-8BFD-42A2-6DA232CC6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390" y="714308"/>
            <a:ext cx="3594233" cy="935776"/>
          </a:xfrm>
          <a:prstGeom prst="rect">
            <a:avLst/>
          </a:prstGeom>
        </p:spPr>
      </p:pic>
      <p:pic>
        <p:nvPicPr>
          <p:cNvPr id="6" name="Tijdelijke aanduiding voor inhoud 12">
            <a:extLst>
              <a:ext uri="{FF2B5EF4-FFF2-40B4-BE49-F238E27FC236}">
                <a16:creationId xmlns:a16="http://schemas.microsoft.com/office/drawing/2014/main" id="{CF8F4C0C-DD77-4F4D-7E73-15A0EF2C21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2" b="13409"/>
          <a:stretch>
            <a:fillRect/>
          </a:stretch>
        </p:blipFill>
        <p:spPr>
          <a:xfrm>
            <a:off x="5319390" y="1650084"/>
            <a:ext cx="3594233" cy="2617311"/>
          </a:xfrm>
          <a:prstGeom prst="rect">
            <a:avLst/>
          </a:prstGeom>
        </p:spPr>
      </p:pic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F7D84F98-7201-9AB0-8358-1E6F4BB23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306642"/>
            <a:ext cx="4624387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Dutch startup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approach to breast cancer screening</a:t>
            </a:r>
            <a:endParaRPr lang="en-US" noProof="0" dirty="0"/>
          </a:p>
          <a:p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Image acquisition</a:t>
            </a:r>
          </a:p>
          <a:p>
            <a:pPr marL="638175" lvl="2" indent="-457200"/>
            <a:r>
              <a:rPr lang="en-US" noProof="0" dirty="0"/>
              <a:t>52 cameras</a:t>
            </a:r>
          </a:p>
          <a:p>
            <a:pPr marL="638175" lvl="2" indent="-457200"/>
            <a:r>
              <a:rPr lang="en-US" dirty="0">
                <a:solidFill>
                  <a:prstClr val="black"/>
                </a:solidFill>
              </a:rPr>
              <a:t>Photogrammetry</a:t>
            </a:r>
          </a:p>
          <a:p>
            <a:pPr marL="638175" lvl="2" indent="-45720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340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E26E-5E63-C22B-9957-F371DBBE8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7A039E-2F57-E3E3-AB23-9AA110FF5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E40032A-082F-691F-96AF-B5C36FBF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A7AEE0E-973B-2F48-FABD-C0D30B63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F780C-9BE9-97DF-E88B-5E40022ED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390" y="714308"/>
            <a:ext cx="3594233" cy="935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D3C936-EC2C-A055-41C9-5CE5CBC7F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032" y="1650083"/>
            <a:ext cx="3590591" cy="2325981"/>
          </a:xfrm>
          <a:prstGeom prst="rect">
            <a:avLst/>
          </a:prstGeom>
        </p:spPr>
      </p:pic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95C534B8-E09D-963E-D0B7-B3CC6C276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306642"/>
            <a:ext cx="4624387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Dutch startup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approach to breast cancer screening</a:t>
            </a:r>
            <a:endParaRPr lang="en-US" noProof="0" dirty="0"/>
          </a:p>
          <a:p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Image acquisition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Dynamic 3d Model</a:t>
            </a:r>
          </a:p>
          <a:p>
            <a:pPr marL="638175" lvl="2" indent="-457200"/>
            <a:r>
              <a:rPr lang="en-US" dirty="0"/>
              <a:t>Breast movement is tracked at 340 locations</a:t>
            </a:r>
          </a:p>
          <a:p>
            <a:pPr marL="638175" lvl="2" indent="-45720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952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F05A-5D5F-D494-AB77-17BAB5F7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9EDDEB-1518-AD6C-6ED1-DDB1AC60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427AC50-0C0C-D83C-3B3D-5860B190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93C2504-E824-DC4B-5208-8812942C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3ECC00-9A2B-BCA6-F3B4-30C5AE6F7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390" y="714308"/>
            <a:ext cx="3594233" cy="935776"/>
          </a:xfrm>
          <a:prstGeom prst="rect">
            <a:avLst/>
          </a:prstGeom>
        </p:spPr>
      </p:pic>
      <p:pic>
        <p:nvPicPr>
          <p:cNvPr id="6" name="Tijdelijke aanduiding voor inhoud 4">
            <a:extLst>
              <a:ext uri="{FF2B5EF4-FFF2-40B4-BE49-F238E27FC236}">
                <a16:creationId xmlns:a16="http://schemas.microsoft.com/office/drawing/2014/main" id="{C515B1B4-B4D8-9C39-3A39-48F00E4901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638" t="2764" r="8103" b="67151"/>
          <a:stretch>
            <a:fillRect/>
          </a:stretch>
        </p:blipFill>
        <p:spPr>
          <a:xfrm>
            <a:off x="4031248" y="3083205"/>
            <a:ext cx="4887463" cy="1432613"/>
          </a:xfrm>
          <a:prstGeom prst="rect">
            <a:avLst/>
          </a:prstGeom>
        </p:spPr>
      </p:pic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F7801AFD-EDC4-2ECA-8B76-DFDC7B7AD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306642"/>
            <a:ext cx="4624387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Dutch startup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approach to breast cancer screening</a:t>
            </a:r>
            <a:endParaRPr lang="en-US" noProof="0" dirty="0"/>
          </a:p>
          <a:p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Image acquisition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Dynamic 3d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extraction</a:t>
            </a:r>
          </a:p>
          <a:p>
            <a:pPr marL="638175" lvl="2" indent="-457200"/>
            <a:r>
              <a:rPr lang="en-US" dirty="0"/>
              <a:t>Frequency decomposition</a:t>
            </a:r>
          </a:p>
          <a:p>
            <a:pPr marL="638175" lvl="2" indent="-457200"/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650155-CEF5-BECF-F445-8C10E73B8470}"/>
              </a:ext>
            </a:extLst>
          </p:cNvPr>
          <p:cNvSpPr/>
          <p:nvPr/>
        </p:nvSpPr>
        <p:spPr>
          <a:xfrm>
            <a:off x="6323873" y="3195638"/>
            <a:ext cx="509588" cy="93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743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E8A85-1667-E4E4-29C9-77E4A0D04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5E43B38-31E9-C8C0-03D2-D44ACFAE567B}"/>
              </a:ext>
            </a:extLst>
          </p:cNvPr>
          <p:cNvSpPr/>
          <p:nvPr/>
        </p:nvSpPr>
        <p:spPr>
          <a:xfrm>
            <a:off x="8140966" y="1650084"/>
            <a:ext cx="766117" cy="1486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4E179D0-67B8-3B09-1AC0-80D5DF0A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BF3DA5A-A1D4-4D55-DCC6-CD6DA810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0BB8B31-AE46-C30D-B97C-EB38769D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3F690B-81CB-5974-B8FC-49D44B466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390" y="714308"/>
            <a:ext cx="3594233" cy="935776"/>
          </a:xfrm>
          <a:prstGeom prst="rect">
            <a:avLst/>
          </a:prstGeom>
        </p:spPr>
      </p:pic>
      <p:pic>
        <p:nvPicPr>
          <p:cNvPr id="6" name="Tijdelijke aanduiding voor inhoud 4">
            <a:extLst>
              <a:ext uri="{FF2B5EF4-FFF2-40B4-BE49-F238E27FC236}">
                <a16:creationId xmlns:a16="http://schemas.microsoft.com/office/drawing/2014/main" id="{0AC2C960-318B-1C31-4DD5-E47AD0F0FE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638" t="2764" r="8103" b="67151"/>
          <a:stretch>
            <a:fillRect/>
          </a:stretch>
        </p:blipFill>
        <p:spPr>
          <a:xfrm>
            <a:off x="4031248" y="3083205"/>
            <a:ext cx="4887463" cy="14326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97269B1-4F4E-403E-C9C1-7313C7239E76}"/>
              </a:ext>
            </a:extLst>
          </p:cNvPr>
          <p:cNvSpPr/>
          <p:nvPr/>
        </p:nvSpPr>
        <p:spPr>
          <a:xfrm>
            <a:off x="6486525" y="1752600"/>
            <a:ext cx="509588" cy="93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" name="animation">
            <a:hlinkClick r:id="" action="ppaction://media"/>
            <a:extLst>
              <a:ext uri="{FF2B5EF4-FFF2-40B4-BE49-F238E27FC236}">
                <a16:creationId xmlns:a16="http://schemas.microsoft.com/office/drawing/2014/main" id="{0EDE986D-F444-8A85-AAA5-F0EBFAE3EF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t="9043" r="35950"/>
          <a:stretch>
            <a:fillRect/>
          </a:stretch>
        </p:blipFill>
        <p:spPr>
          <a:xfrm>
            <a:off x="5319390" y="1650084"/>
            <a:ext cx="2941122" cy="1432613"/>
          </a:xfrm>
          <a:prstGeom prst="rect">
            <a:avLst/>
          </a:prstGeom>
        </p:spPr>
      </p:pic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1D23AA31-E093-7654-0FF7-1930F399A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306642"/>
            <a:ext cx="4624387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Dutch startup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approach to breast cancer screening</a:t>
            </a:r>
            <a:endParaRPr lang="en-US" noProof="0" dirty="0"/>
          </a:p>
          <a:p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Image acquisition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Dynamic 3d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extraction</a:t>
            </a:r>
          </a:p>
          <a:p>
            <a:pPr marL="638175" lvl="2" indent="-457200"/>
            <a:r>
              <a:rPr lang="en-US" dirty="0"/>
              <a:t>Frequency decomposition</a:t>
            </a:r>
          </a:p>
          <a:p>
            <a:pPr marL="638175" lvl="2" indent="-457200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BDCFA7-A9B5-A577-3275-A65E3E499C44}"/>
              </a:ext>
            </a:extLst>
          </p:cNvPr>
          <p:cNvSpPr/>
          <p:nvPr/>
        </p:nvSpPr>
        <p:spPr>
          <a:xfrm>
            <a:off x="6362700" y="3185721"/>
            <a:ext cx="509588" cy="93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6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6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71A6-9A19-F6D1-5B7D-FACE1E2C3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5DA7B8F-38D3-AD62-7D7B-5DC6A71A0DCF}"/>
              </a:ext>
            </a:extLst>
          </p:cNvPr>
          <p:cNvSpPr/>
          <p:nvPr/>
        </p:nvSpPr>
        <p:spPr>
          <a:xfrm>
            <a:off x="8140966" y="1650084"/>
            <a:ext cx="766117" cy="1486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3EB80EF-F082-7634-CEFF-CE14CB1A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B7B65BB-6495-2D64-4F8D-FD3DFE2A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FEFFE91-F555-62E7-5D0F-FC25E380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EC74ED-5D0F-1BFF-3BE6-A41B20C51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390" y="714308"/>
            <a:ext cx="3594233" cy="935776"/>
          </a:xfrm>
          <a:prstGeom prst="rect">
            <a:avLst/>
          </a:prstGeom>
        </p:spPr>
      </p:pic>
      <p:pic>
        <p:nvPicPr>
          <p:cNvPr id="6" name="Tijdelijke aanduiding voor inhoud 4">
            <a:extLst>
              <a:ext uri="{FF2B5EF4-FFF2-40B4-BE49-F238E27FC236}">
                <a16:creationId xmlns:a16="http://schemas.microsoft.com/office/drawing/2014/main" id="{B03FBEFD-15D1-7398-715C-BF02FCC86F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638" t="2764" r="8103" b="67151"/>
          <a:stretch>
            <a:fillRect/>
          </a:stretch>
        </p:blipFill>
        <p:spPr>
          <a:xfrm>
            <a:off x="4031248" y="3083205"/>
            <a:ext cx="4887463" cy="14326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FCE9DAC-C15C-E146-D506-C7ABC569702C}"/>
              </a:ext>
            </a:extLst>
          </p:cNvPr>
          <p:cNvSpPr/>
          <p:nvPr/>
        </p:nvSpPr>
        <p:spPr>
          <a:xfrm>
            <a:off x="6486525" y="1752600"/>
            <a:ext cx="509588" cy="93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" name="animation">
            <a:hlinkClick r:id="" action="ppaction://media"/>
            <a:extLst>
              <a:ext uri="{FF2B5EF4-FFF2-40B4-BE49-F238E27FC236}">
                <a16:creationId xmlns:a16="http://schemas.microsoft.com/office/drawing/2014/main" id="{8ECA530A-D953-690E-6AE9-40CDCD2665E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t="9043" r="35950"/>
          <a:stretch>
            <a:fillRect/>
          </a:stretch>
        </p:blipFill>
        <p:spPr>
          <a:xfrm>
            <a:off x="5319390" y="1650084"/>
            <a:ext cx="2941122" cy="1432613"/>
          </a:xfrm>
          <a:prstGeom prst="rect">
            <a:avLst/>
          </a:prstGeom>
        </p:spPr>
      </p:pic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5E03A3B3-4226-BF08-C41F-74105944C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306642"/>
            <a:ext cx="4624387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Dutch startup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approach to breast cancer screening</a:t>
            </a:r>
            <a:endParaRPr lang="en-US" noProof="0" dirty="0"/>
          </a:p>
          <a:p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Image acquisition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Dynamic 3d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extraction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AI-powered risk assessment</a:t>
            </a:r>
          </a:p>
          <a:p>
            <a:pPr lvl="2" indent="0">
              <a:buNone/>
            </a:pPr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E77F89-3E1B-7312-B320-8AF332CD6E89}"/>
              </a:ext>
            </a:extLst>
          </p:cNvPr>
          <p:cNvSpPr/>
          <p:nvPr/>
        </p:nvSpPr>
        <p:spPr>
          <a:xfrm>
            <a:off x="6362700" y="3185721"/>
            <a:ext cx="509588" cy="93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52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6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26BCC-39DA-DCF4-0D5E-63EDD2402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526F59-1AAB-A2FF-471A-7F4775CB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A56E879-94B9-2BD8-8E9F-A53132D04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4" y="1306642"/>
            <a:ext cx="4365626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Advantages over mammography:</a:t>
            </a:r>
          </a:p>
          <a:p>
            <a:pPr marL="523875" lvl="2" indent="-342900"/>
            <a:r>
              <a:rPr lang="en-US" noProof="0" dirty="0"/>
              <a:t>Painless</a:t>
            </a:r>
          </a:p>
          <a:p>
            <a:pPr marL="523875" lvl="2" indent="-342900"/>
            <a:r>
              <a:rPr lang="en-US" noProof="0" dirty="0"/>
              <a:t>No X-rays</a:t>
            </a:r>
          </a:p>
          <a:p>
            <a:pPr marL="523875" lvl="2" indent="-342900"/>
            <a:r>
              <a:rPr lang="en-US" noProof="0" dirty="0"/>
              <a:t>Low-cost</a:t>
            </a:r>
          </a:p>
          <a:p>
            <a:pPr marL="523875" lvl="2" indent="-342900"/>
            <a:r>
              <a:rPr lang="en-US" noProof="0" dirty="0"/>
              <a:t>Effective on dense tissue</a:t>
            </a:r>
          </a:p>
          <a:p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6653237-25D4-3414-206F-4817981AE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B914935-BA85-F717-3FAB-4F0BB3FD5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C83ED-066D-A905-381E-3F64F01BF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392" y="1948822"/>
            <a:ext cx="3594233" cy="2394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82EC08-A4FB-60F1-E214-93B80FABB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391" y="1008757"/>
            <a:ext cx="3594233" cy="93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8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CA106-2DF6-E9D5-C319-98A35C92B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263B3-467A-01B4-8837-2DBB6DF93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Current Challenges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FD617B9-F3FC-29FE-DC21-8ED9FCDCA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Acquisition of training data for AI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950" noProof="0" dirty="0"/>
              <a:t>Develop software to produce breast models</a:t>
            </a:r>
          </a:p>
          <a:p>
            <a:pPr marL="523875" lvl="2" indent="-342900"/>
            <a:r>
              <a:rPr lang="en-US" noProof="0" dirty="0"/>
              <a:t>FEM modeling</a:t>
            </a:r>
          </a:p>
          <a:p>
            <a:pPr marL="523875" lvl="2" indent="-342900"/>
            <a:r>
              <a:rPr lang="en-US" noProof="0" dirty="0"/>
              <a:t>Incremental process</a:t>
            </a:r>
          </a:p>
          <a:p>
            <a:pPr marL="342900" lvl="1" indent="-342900"/>
            <a:endParaRPr lang="en-US" noProof="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950" noProof="0" dirty="0"/>
              <a:t>My project:</a:t>
            </a:r>
          </a:p>
          <a:p>
            <a:pPr lvl="1"/>
            <a:r>
              <a:rPr lang="en-US" sz="1950" noProof="0" dirty="0"/>
              <a:t>      </a:t>
            </a:r>
            <a:r>
              <a:rPr lang="en-US" noProof="0" dirty="0"/>
              <a:t>Improve model generation by incorporating tumors with variable characteristics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D09E938-BB4F-FDC1-171A-BE28693D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3715135-8177-2C03-EE1F-489882F5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6" name="Afbeelding 17">
            <a:extLst>
              <a:ext uri="{FF2B5EF4-FFF2-40B4-BE49-F238E27FC236}">
                <a16:creationId xmlns:a16="http://schemas.microsoft.com/office/drawing/2014/main" id="{185D5ED6-FFB5-0499-507B-EE9F634AB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254" y="3295570"/>
            <a:ext cx="6338352" cy="12728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694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94503-B8DD-FD4A-FBE9-BE0554CBB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6F5B88-0CA3-BDCF-1463-B0E41AF0F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Introducing The Breast Model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B53FA6-91F1-ADF0-1183-844775DEC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Defining breast area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Rotation around y-axis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68B4D3C-CCDA-E7DF-F4B3-0D5EA286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90E4BC3-7FBE-4F30-D4BD-E3025763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7" name="Picture 6" descr="A yellow and purple diagram&#10;&#10;AI-generated content may be incorrect.">
            <a:extLst>
              <a:ext uri="{FF2B5EF4-FFF2-40B4-BE49-F238E27FC236}">
                <a16:creationId xmlns:a16="http://schemas.microsoft.com/office/drawing/2014/main" id="{6B5318DB-C515-5EFD-E83B-D257C6C25C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777" y="2273024"/>
            <a:ext cx="3197278" cy="2125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8599BA-812F-831F-4715-AC59A6230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055" y="2273024"/>
            <a:ext cx="2192595" cy="21257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B9D880-4216-270F-9B52-5F5035F97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337" y="2273024"/>
            <a:ext cx="1833440" cy="212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9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827D4-9E4A-7188-086D-D509F026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6C9C9A-FD0D-1D35-1E66-4D831567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Introducing The Breast Model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D55D3AF-A219-B029-3F6C-5C7EAF49C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Mesh generation </a:t>
            </a:r>
            <a:r>
              <a:rPr lang="en-US" noProof="0" dirty="0">
                <a:sym typeface="Wingdings" panose="05000000000000000000" pitchFamily="2" charset="2"/>
              </a:rPr>
              <a:t></a:t>
            </a:r>
            <a:r>
              <a:rPr lang="en-US" noProof="0" dirty="0"/>
              <a:t> </a:t>
            </a:r>
            <a:r>
              <a:rPr lang="en-US" noProof="0" dirty="0" err="1"/>
              <a:t>Gmsh</a:t>
            </a:r>
            <a:r>
              <a:rPr lang="en-US" noProof="0" dirty="0"/>
              <a:t> 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Simulation </a:t>
            </a:r>
            <a:r>
              <a:rPr lang="en-US" noProof="0" dirty="0">
                <a:sym typeface="Wingdings" panose="05000000000000000000" pitchFamily="2" charset="2"/>
              </a:rPr>
              <a:t></a:t>
            </a:r>
            <a:r>
              <a:rPr lang="en-US" noProof="0" dirty="0"/>
              <a:t> FEBio 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Individual material properties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≈16k nodes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≈14k elements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60A8BC4-AC3C-9C26-A390-4A97E366F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E7AF2C6-7FAF-3C46-E7B1-237C7674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15</a:t>
            </a:fld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3203A8-F652-378C-91DE-DFA510901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311" y="2524155"/>
            <a:ext cx="1660796" cy="19513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42FEF1-1E96-CF3F-D264-47A48A2FD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107" y="2524155"/>
            <a:ext cx="1953761" cy="19513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ED73CD-B72B-0C24-B902-53D623B92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868" y="2524155"/>
            <a:ext cx="1513645" cy="19538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A3335D-F66D-3AC1-07ED-6DCF36C32DC9}"/>
              </a:ext>
            </a:extLst>
          </p:cNvPr>
          <p:cNvSpPr/>
          <p:nvPr/>
        </p:nvSpPr>
        <p:spPr>
          <a:xfrm>
            <a:off x="3925311" y="2254448"/>
            <a:ext cx="5128202" cy="2671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EC2BB-538D-0E57-ECD7-99B37F4B7516}"/>
              </a:ext>
            </a:extLst>
          </p:cNvPr>
          <p:cNvSpPr txBox="1"/>
          <p:nvPr/>
        </p:nvSpPr>
        <p:spPr>
          <a:xfrm>
            <a:off x="4266513" y="2233732"/>
            <a:ext cx="131959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Glandular (30%)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4F93C0-B4AE-7F6A-D64A-CEBC7678AC16}"/>
              </a:ext>
            </a:extLst>
          </p:cNvPr>
          <p:cNvSpPr txBox="1"/>
          <p:nvPr/>
        </p:nvSpPr>
        <p:spPr>
          <a:xfrm>
            <a:off x="5964906" y="2238002"/>
            <a:ext cx="119616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Adipose (70%)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2B1417-558C-2FF4-F5D1-92F02525899A}"/>
              </a:ext>
            </a:extLst>
          </p:cNvPr>
          <p:cNvSpPr txBox="1"/>
          <p:nvPr/>
        </p:nvSpPr>
        <p:spPr>
          <a:xfrm>
            <a:off x="7930623" y="2233732"/>
            <a:ext cx="47481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Skin</a:t>
            </a:r>
          </a:p>
        </p:txBody>
      </p:sp>
    </p:spTree>
    <p:extLst>
      <p:ext uri="{BB962C8B-B14F-4D97-AF65-F5344CB8AC3E}">
        <p14:creationId xmlns:p14="http://schemas.microsoft.com/office/powerpoint/2010/main" val="290692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56AA0-93DB-3CF4-F741-43DA9135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B6E681-BE02-7083-DA70-CD22A6D0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Procedural Tumor Generation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B2C59E8-0E3D-66EC-5CF1-B9A8D3BBF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Parameters determine growth behavior of spheres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separate mesh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Modification of material properties</a:t>
            </a:r>
          </a:p>
          <a:p>
            <a:pPr marL="523875" lvl="2" indent="-342900"/>
            <a:r>
              <a:rPr lang="en-US" dirty="0"/>
              <a:t>5x stiffer compared to non-tumorous</a:t>
            </a:r>
            <a:endParaRPr lang="en-US" noProof="0" dirty="0"/>
          </a:p>
          <a:p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B95A031-1461-ACDB-022B-E08BE6B4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54C7C9B-9DB8-7E6C-71C1-EA13B173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16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71C1E6-31CB-6C26-683B-CB8FE5752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090" y="1940558"/>
            <a:ext cx="3097798" cy="22885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8543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6FD62-1194-AE37-9FB2-82125A668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AD078-FDC7-835A-2BC0-A999AD160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Testing Methodology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1050D05-558E-8D61-0583-2C407CD28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Breast diameter: 14cm</a:t>
            </a: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Tumor placed at (35mm, 40mm, 0mm)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Gravity and initial displacement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CFC1DB6-5597-C0D2-331A-10EDFFDB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7EB6FF8-AAD4-D007-511F-288EF4AC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17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E948C2-71F6-156A-6EBC-DE706762A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080" y="2200842"/>
            <a:ext cx="2282542" cy="2197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406147-5547-B066-046C-036DD6CA1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838" y="2307195"/>
            <a:ext cx="2853133" cy="209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7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295B1-EBFF-B526-DD31-2ECFD493B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B6575F-BB01-B4A4-2D3A-71092330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Results: Tumor Size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FFB04C4-9FF3-9336-ABC9-D5177D6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Spherical Tumors: 5mm, 10mm, 20mm, 30mm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CFE30B1-0E70-26A4-B6BD-E6320263C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28F3B0D-4E43-4230-E5F4-BCB3868A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18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2DA8E1-1DD0-0EE3-58C1-190D6A959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6" y="1877716"/>
            <a:ext cx="3237940" cy="25666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6F8C06-7C5C-AC00-ABC9-02B3DB425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1877716"/>
            <a:ext cx="3311273" cy="25666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6CF89F-754D-09BB-D962-A17A8037B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1591" y="622894"/>
            <a:ext cx="1085182" cy="99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9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3EA46-6A3E-7B9D-D3E1-D28B0312A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45B1DF-D38B-723D-2B63-5C07CB9BA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Results: Tumor Size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CF78E90-EB63-AC79-2A33-0E7041C88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Increased tumor size </a:t>
            </a:r>
            <a:r>
              <a:rPr lang="en-US" dirty="0">
                <a:sym typeface="Wingdings" panose="05000000000000000000" pitchFamily="2" charset="2"/>
              </a:rPr>
              <a:t> larger</a:t>
            </a:r>
            <a:r>
              <a:rPr lang="en-US" dirty="0"/>
              <a:t> deformation</a:t>
            </a:r>
          </a:p>
          <a:p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= highly dependent on location</a:t>
            </a:r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417D36D-140E-8E18-7369-56F4417A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FA8DC19-51A2-D283-6BCC-EEAF7428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19</a:t>
            </a:fld>
            <a:endParaRPr lang="en-US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350B17-F352-CF19-9594-8BAB92199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1" y="2090568"/>
            <a:ext cx="2960363" cy="2375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3489776-FB36-51DB-EBF3-F666D3384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777" y="281971"/>
            <a:ext cx="1825155" cy="17574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5BD754-92AA-F453-69C6-C2F77C53C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9454" y="2090568"/>
            <a:ext cx="3049123" cy="2375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B25BC6-C59D-F019-5E57-7B4EA5FF3C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8577" y="2090568"/>
            <a:ext cx="2960363" cy="23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37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46F5-5588-C12E-B841-B41D05F0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43F616-D93F-13A4-F62F-C7CFC675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Results: Tumor Morphology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ECA5C5A-5E15-C463-8869-602B2B9AA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Tumor volume ≈ 4.1 cm</a:t>
            </a:r>
            <a:r>
              <a:rPr lang="en-US" baseline="30000" noProof="0" dirty="0"/>
              <a:t>3 </a:t>
            </a:r>
            <a:r>
              <a:rPr lang="en-US" noProof="0" dirty="0"/>
              <a:t>(within 5%)</a:t>
            </a:r>
            <a:endParaRPr lang="en-US" baseline="30000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6E5BC11-2769-6273-C059-4DF43282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7CDFF80-117D-9F4B-8195-D35C45A5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20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63A483-9826-5CDD-376C-D9B0B4552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005" y="2205401"/>
            <a:ext cx="2183606" cy="21018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C2627E-3B8B-7394-062D-CD52921DA4CE}"/>
              </a:ext>
            </a:extLst>
          </p:cNvPr>
          <p:cNvSpPr txBox="1"/>
          <p:nvPr/>
        </p:nvSpPr>
        <p:spPr>
          <a:xfrm>
            <a:off x="-31751" y="4539606"/>
            <a:ext cx="9137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noProof="0" dirty="0"/>
              <a:t>*Brook K. Byrd1, *Venkataramanan Krishnaswamy2, *Timothy B. Rooney3, *Rebecca A. Zuurbier3, Richard J. Barth Jr.4</a:t>
            </a:r>
          </a:p>
          <a:p>
            <a:r>
              <a:rPr lang="en-US" sz="500" noProof="0" dirty="0"/>
              <a:t>1Thayer School of Engineering, Dartmouth College, Hanover, NH;2CairnSurgical, Inc., Lebanon, NH;3Department of Radiology, Dartmouth-Hitchcock Medical Center, Lebanon, NH;4Department of Surgery, Dartmouth-Hitchcock Medical Center, Lebanon, NH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1B13E5-B010-6722-1438-209B152B1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61" y="2210163"/>
            <a:ext cx="1056878" cy="96949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173C92-61CD-761E-04CB-F02A74DC6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655" y="3378054"/>
            <a:ext cx="1236584" cy="92922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9A9E93-961D-B0DA-6611-85B582DF66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988" y="3300477"/>
            <a:ext cx="1065282" cy="100680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CE95FC3-8377-1ED9-6E75-3AD2A5D039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988" y="2206566"/>
            <a:ext cx="1147368" cy="97668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7F5227D-3610-8AE2-86E9-70E4132D1C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8781" y="2128304"/>
            <a:ext cx="3009007" cy="23443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98BF693-379B-4338-DCA4-5857A3B3E7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4777" y="281971"/>
            <a:ext cx="1825155" cy="175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8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AEFE1-A704-B0B1-830A-B05C98AE4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CFD447-0F9C-4AA1-A253-1288D6006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Results: Tumor Morphology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EECE6D-52B4-F8A0-3A0A-072E8FF80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Tumor morphology affects deformation</a:t>
            </a:r>
          </a:p>
          <a:p>
            <a:r>
              <a:rPr lang="en-US" dirty="0"/>
              <a:t>      = highly dependent on location</a:t>
            </a:r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A250401-DBA9-F502-F2E5-6712FCF80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FAB18EF-EC79-6257-0FFE-633AB51D3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BB991-3677-F1E2-4FC2-C24FC9FE93DE}"/>
              </a:ext>
            </a:extLst>
          </p:cNvPr>
          <p:cNvSpPr txBox="1"/>
          <p:nvPr/>
        </p:nvSpPr>
        <p:spPr>
          <a:xfrm>
            <a:off x="-36512" y="4564686"/>
            <a:ext cx="85174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noProof="0" dirty="0"/>
              <a:t>*Brook K. Byrd1, *Venkataramanan Krishnaswamy2, *Timothy B. Rooney3, *Rebecca A. Zuurbier3, Richard J. Barth Jr.4</a:t>
            </a:r>
          </a:p>
          <a:p>
            <a:r>
              <a:rPr lang="en-US" sz="500" noProof="0" dirty="0"/>
              <a:t>1Thayer School of Engineering, Dartmouth College, Hanover, NH;2CairnSurgical, Inc., Lebanon, NH;3Department of Radiology, Dartmouth-Hitchcock Medical Center, Lebanon, NH;4Department of Surgery, Dartmouth-Hitchcock Medical Center, Lebanon, NH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E8D086-EC00-11A7-C10E-6361A608A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708" y="515784"/>
            <a:ext cx="2096617" cy="2018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4A5F5-4F08-B158-C2FE-788F549AC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2" y="2659937"/>
            <a:ext cx="2252700" cy="17794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C0C049-1F85-AC4F-92A1-7F8DBFB4A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2035" y="2659936"/>
            <a:ext cx="2252701" cy="17794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35E586-D063-BE5F-1385-E8B10E32B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4738" y="2659935"/>
            <a:ext cx="2252702" cy="17794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19EAD7-577B-D8E2-39ED-F36854098E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7440" y="2659934"/>
            <a:ext cx="2252703" cy="177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13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57BEB-C763-DFB1-2917-053AF5184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137E2C64-765C-8BCD-08F0-B210DB214246}"/>
              </a:ext>
            </a:extLst>
          </p:cNvPr>
          <p:cNvSpPr txBox="1"/>
          <p:nvPr/>
        </p:nvSpPr>
        <p:spPr>
          <a:xfrm>
            <a:off x="7294911" y="255163"/>
            <a:ext cx="1147806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Dense Breast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86A720-80D9-F0CE-6DC6-0B9D2BFA6CE2}"/>
              </a:ext>
            </a:extLst>
          </p:cNvPr>
          <p:cNvSpPr txBox="1"/>
          <p:nvPr/>
        </p:nvSpPr>
        <p:spPr>
          <a:xfrm>
            <a:off x="6016176" y="254690"/>
            <a:ext cx="120491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Regular Breast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72E0A1-D565-97D8-9446-959F8E40E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176" y="481014"/>
            <a:ext cx="1204911" cy="20907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85F056-304E-74AA-3906-B58B6FBB4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187" y="481487"/>
            <a:ext cx="1147806" cy="209073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C95BD67-68A6-FDDF-DB22-6996539FB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Results: Breast Density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D2FE4C4-634C-9158-9A9A-BF61AD156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289D627-A848-2128-97FE-59D5DFE8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22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E0071B-9057-1333-B956-5837C371B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50991"/>
            <a:ext cx="2290347" cy="17844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CF8AAB-A6D6-4BC4-8816-CED2EBF405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1654" y="2650991"/>
            <a:ext cx="2290346" cy="17844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89C5FD-7822-9644-9FA4-159D343F96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999" y="2650989"/>
            <a:ext cx="2290347" cy="17841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B950E1-F1F9-8282-DE27-745ACC8E9D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2346" y="2650989"/>
            <a:ext cx="2258672" cy="17841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BEC4AB-54F1-4306-8250-E6C934A70F69}"/>
              </a:ext>
            </a:extLst>
          </p:cNvPr>
          <p:cNvSpPr txBox="1"/>
          <p:nvPr/>
        </p:nvSpPr>
        <p:spPr>
          <a:xfrm>
            <a:off x="7348755" y="1402407"/>
            <a:ext cx="10406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Glandular (80%)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F3137D-6917-0394-0661-919350BF5A37}"/>
              </a:ext>
            </a:extLst>
          </p:cNvPr>
          <p:cNvSpPr txBox="1"/>
          <p:nvPr/>
        </p:nvSpPr>
        <p:spPr>
          <a:xfrm>
            <a:off x="6098296" y="1401934"/>
            <a:ext cx="10406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Glandular (30%)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F34D82-1517-0ADE-2A26-1CF2A0A0B940}"/>
              </a:ext>
            </a:extLst>
          </p:cNvPr>
          <p:cNvSpPr txBox="1"/>
          <p:nvPr/>
        </p:nvSpPr>
        <p:spPr>
          <a:xfrm>
            <a:off x="6016176" y="2026374"/>
            <a:ext cx="949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Adipose (70%)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ABAC8F-B208-AC3C-6F6F-E40AD43FDA04}"/>
              </a:ext>
            </a:extLst>
          </p:cNvPr>
          <p:cNvSpPr txBox="1"/>
          <p:nvPr/>
        </p:nvSpPr>
        <p:spPr>
          <a:xfrm>
            <a:off x="7295187" y="2242512"/>
            <a:ext cx="949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Adipose (20%)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19030C36-9550-1924-E310-36A8BE59C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4" y="1306642"/>
            <a:ext cx="5203783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Spherical Tumors: 5mm, 10mm, 20mm, 30mm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5mm: greater displacement in dense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8991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C909-0856-8786-E2CC-86CB5003D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55F16A-2EC4-22FB-F60C-D35778292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Discussion and Future Improvements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7517F83-9EDF-1685-CA70-EB1C9E246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Only small step in much larger process</a:t>
            </a:r>
          </a:p>
          <a:p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Work in progress: </a:t>
            </a:r>
          </a:p>
          <a:p>
            <a:pPr marL="523875" lvl="2" indent="-342900"/>
            <a:r>
              <a:rPr lang="en-US" noProof="0" dirty="0"/>
              <a:t>Tissue heterogeneity</a:t>
            </a:r>
          </a:p>
          <a:p>
            <a:pPr marL="523875" lvl="2" indent="-342900"/>
            <a:r>
              <a:rPr lang="en-US" noProof="0" dirty="0"/>
              <a:t>Real breast data acquisition </a:t>
            </a:r>
            <a:r>
              <a:rPr lang="en-US" noProof="0" dirty="0">
                <a:sym typeface="Wingdings" panose="05000000000000000000" pitchFamily="2" charset="2"/>
              </a:rPr>
              <a:t> improve model</a:t>
            </a:r>
          </a:p>
          <a:p>
            <a:pPr lvl="2" indent="0">
              <a:buNone/>
            </a:pPr>
            <a:endParaRPr lang="en-US" noProof="0" dirty="0"/>
          </a:p>
          <a:p>
            <a:pPr lvl="1"/>
            <a:r>
              <a:rPr lang="en-US" sz="1950" b="1" dirty="0"/>
              <a:t> "Small steps taken consistently create the biggest journeys."</a:t>
            </a:r>
            <a:endParaRPr lang="en-US" sz="1950" b="1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4C01DD5-F1CD-9DEA-78AC-CFC4CBE5B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B5A7244-2038-2383-2C46-79DA5E5D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2276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490E5-D543-987B-3224-61B8B3BE2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0571-4E0E-FC11-BFF0-003A04B2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Acknowledgement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6AFEA-8630-FEEB-3015-A7A63ADD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9C6C5-F727-E48F-3878-0F47F56D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t>24</a:t>
            </a:fld>
            <a:endParaRPr lang="en-US" noProof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B8D87E-F1E8-1501-EA64-B67107B53EB2}"/>
              </a:ext>
            </a:extLst>
          </p:cNvPr>
          <p:cNvSpPr txBox="1">
            <a:spLocks/>
          </p:cNvSpPr>
          <p:nvPr/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975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750" indent="-1778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bg1"/>
                </a:solidFill>
              </a:rPr>
              <a:t>Early Warning Scan &amp; </a:t>
            </a:r>
            <a:r>
              <a:rPr lang="en-US" noProof="0" dirty="0" err="1">
                <a:solidFill>
                  <a:schemeClr val="bg1"/>
                </a:solidFill>
              </a:rPr>
              <a:t>YvYa</a:t>
            </a:r>
            <a:r>
              <a:rPr lang="en-US" noProof="0" dirty="0">
                <a:solidFill>
                  <a:schemeClr val="bg1"/>
                </a:solidFill>
              </a:rPr>
              <a:t> Foundation</a:t>
            </a:r>
          </a:p>
          <a:p>
            <a:pPr marL="523875" lvl="2" indent="-342900"/>
            <a:r>
              <a:rPr lang="en-US" noProof="0" dirty="0">
                <a:solidFill>
                  <a:schemeClr val="bg1"/>
                </a:solidFill>
              </a:rPr>
              <a:t>Tom Sanders</a:t>
            </a:r>
          </a:p>
          <a:p>
            <a:pPr marL="523875" lvl="2" indent="-342900"/>
            <a:r>
              <a:rPr lang="en-US" noProof="0" dirty="0">
                <a:solidFill>
                  <a:schemeClr val="bg1"/>
                </a:solidFill>
              </a:rPr>
              <a:t>Patrick Peffer</a:t>
            </a:r>
          </a:p>
          <a:p>
            <a:pPr marL="523875" lvl="2" indent="-342900"/>
            <a:r>
              <a:rPr lang="en-US" noProof="0" dirty="0">
                <a:solidFill>
                  <a:schemeClr val="bg1"/>
                </a:solidFill>
              </a:rPr>
              <a:t>Silvia Schouten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50" noProof="0" dirty="0">
                <a:solidFill>
                  <a:schemeClr val="bg1"/>
                </a:solidFill>
              </a:rPr>
              <a:t>Coen Hurkmans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50" noProof="0" dirty="0">
                <a:solidFill>
                  <a:schemeClr val="bg1"/>
                </a:solidFill>
              </a:rPr>
              <a:t>Ryan Engels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bg1"/>
                </a:solidFill>
              </a:rPr>
              <a:t>Sioux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bg1"/>
                </a:solidFill>
              </a:rPr>
              <a:t>Nicholas Kurniawan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6BED6B-DBBE-5810-5807-285097D76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675" y="570253"/>
            <a:ext cx="3041650" cy="7941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6270B4-DEBD-0EF9-8290-A43DF09F6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101" y="1546694"/>
            <a:ext cx="1252224" cy="9761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177958-2ABB-4A28-6D0D-68D8B03A2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813" y="2705101"/>
            <a:ext cx="2195512" cy="87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0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1E789-85BA-E703-DF96-053FF5F4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2F76C1-EBE3-3BC4-9E47-8D0C8163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DFEA003-074F-847F-0A04-24A14EF0E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Increased tumor size </a:t>
            </a:r>
            <a:r>
              <a:rPr lang="en-US" noProof="0" dirty="0">
                <a:sym typeface="Wingdings" panose="05000000000000000000" pitchFamily="2" charset="2"/>
              </a:rPr>
              <a:t> larger</a:t>
            </a:r>
            <a:r>
              <a:rPr lang="en-US" noProof="0" dirty="0"/>
              <a:t> deformation difference vs control</a:t>
            </a:r>
          </a:p>
          <a:p>
            <a:pPr marL="523875" lvl="2" indent="-342900"/>
            <a:r>
              <a:rPr lang="en-US" noProof="0" dirty="0"/>
              <a:t>Highly dependent on location</a:t>
            </a:r>
          </a:p>
          <a:p>
            <a:pPr marL="523875" lvl="2" indent="-342900"/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Tumor morphology affects deformation</a:t>
            </a:r>
          </a:p>
          <a:p>
            <a:pPr marL="523875" lvl="2" indent="-342900"/>
            <a:r>
              <a:rPr lang="en-US" noProof="0" dirty="0"/>
              <a:t>Highly dependent on location</a:t>
            </a:r>
          </a:p>
          <a:p>
            <a:pPr marL="523875" lvl="2" indent="-342900"/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Small tumors: deformation vs control enhanced in dense breast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1CE85D5-446F-4814-9325-24060550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8292B98-018B-34D8-A89F-C29FD9B99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641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A8D74-CFC4-6772-3FFF-A3947557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EB26E41-2F9B-8568-34DA-16808077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D6AA478-342C-FFB8-CD79-05074EC7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26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7FEE93-0658-C387-62C4-1225A37FF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134" y="322622"/>
            <a:ext cx="4265926" cy="410570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F4AE39-F0EA-C113-02E0-A201F7B3A9E8}"/>
              </a:ext>
            </a:extLst>
          </p:cNvPr>
          <p:cNvCxnSpPr/>
          <p:nvPr/>
        </p:nvCxnSpPr>
        <p:spPr>
          <a:xfrm flipV="1">
            <a:off x="5956371" y="3724009"/>
            <a:ext cx="0" cy="423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2C442E-AF46-D032-C83D-8910E081AE5F}"/>
              </a:ext>
            </a:extLst>
          </p:cNvPr>
          <p:cNvCxnSpPr>
            <a:cxnSpLocks/>
          </p:cNvCxnSpPr>
          <p:nvPr/>
        </p:nvCxnSpPr>
        <p:spPr>
          <a:xfrm flipH="1">
            <a:off x="5576888" y="4148004"/>
            <a:ext cx="3794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06BA921-3FD2-B9E9-9911-BAC9D9080001}"/>
              </a:ext>
            </a:extLst>
          </p:cNvPr>
          <p:cNvSpPr txBox="1"/>
          <p:nvPr/>
        </p:nvSpPr>
        <p:spPr>
          <a:xfrm>
            <a:off x="5828772" y="3430045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z</a:t>
            </a:r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D4E752-8F97-873B-B6EA-EB72EDF37C33}"/>
              </a:ext>
            </a:extLst>
          </p:cNvPr>
          <p:cNvSpPr txBox="1"/>
          <p:nvPr/>
        </p:nvSpPr>
        <p:spPr>
          <a:xfrm>
            <a:off x="5350468" y="3936006"/>
            <a:ext cx="263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x</a:t>
            </a:r>
            <a:endParaRPr lang="en-US" noProof="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854742-7A82-21E0-811B-C863831A95F0}"/>
              </a:ext>
            </a:extLst>
          </p:cNvPr>
          <p:cNvSpPr/>
          <p:nvPr/>
        </p:nvSpPr>
        <p:spPr>
          <a:xfrm>
            <a:off x="4118472" y="2219325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6050A89-39A6-A590-B501-716E71829ED5}"/>
              </a:ext>
            </a:extLst>
          </p:cNvPr>
          <p:cNvSpPr/>
          <p:nvPr/>
        </p:nvSpPr>
        <p:spPr>
          <a:xfrm>
            <a:off x="4118470" y="1557337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31B409A-24F4-8270-0492-D516C9713D13}"/>
              </a:ext>
            </a:extLst>
          </p:cNvPr>
          <p:cNvSpPr/>
          <p:nvPr/>
        </p:nvSpPr>
        <p:spPr>
          <a:xfrm>
            <a:off x="4118470" y="1000125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BF8D0BB-E2EE-D8CB-EE1F-1074EF408E2D}"/>
              </a:ext>
            </a:extLst>
          </p:cNvPr>
          <p:cNvSpPr/>
          <p:nvPr/>
        </p:nvSpPr>
        <p:spPr>
          <a:xfrm>
            <a:off x="4842372" y="2219325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D9692A3-1C50-166D-917A-93897D931F54}"/>
              </a:ext>
            </a:extLst>
          </p:cNvPr>
          <p:cNvSpPr/>
          <p:nvPr/>
        </p:nvSpPr>
        <p:spPr>
          <a:xfrm>
            <a:off x="5482075" y="2219325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E72F681-A2F4-C845-8391-0556515D640F}"/>
              </a:ext>
            </a:extLst>
          </p:cNvPr>
          <p:cNvSpPr/>
          <p:nvPr/>
        </p:nvSpPr>
        <p:spPr>
          <a:xfrm>
            <a:off x="4118469" y="2940443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AC95C15-61A9-5976-E7B3-8F85C9F976CB}"/>
              </a:ext>
            </a:extLst>
          </p:cNvPr>
          <p:cNvSpPr/>
          <p:nvPr/>
        </p:nvSpPr>
        <p:spPr>
          <a:xfrm>
            <a:off x="4118469" y="3550043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ECF33BA-E3B8-5934-3BD1-C6E0DAEC29E8}"/>
              </a:ext>
            </a:extLst>
          </p:cNvPr>
          <p:cNvSpPr/>
          <p:nvPr/>
        </p:nvSpPr>
        <p:spPr>
          <a:xfrm>
            <a:off x="3394572" y="2219325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BEA39B4-AF39-3402-6FF0-91478E9DB122}"/>
              </a:ext>
            </a:extLst>
          </p:cNvPr>
          <p:cNvSpPr/>
          <p:nvPr/>
        </p:nvSpPr>
        <p:spPr>
          <a:xfrm>
            <a:off x="2773018" y="2215478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3BE72F-1A1D-A99A-FC3B-8F469AC514D3}"/>
              </a:ext>
            </a:extLst>
          </p:cNvPr>
          <p:cNvSpPr txBox="1"/>
          <p:nvPr/>
        </p:nvSpPr>
        <p:spPr>
          <a:xfrm>
            <a:off x="4126741" y="2121621"/>
            <a:ext cx="349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N1</a:t>
            </a:r>
            <a:endParaRPr lang="en-US" b="1" noProof="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15FEB4-3804-C598-8351-B952639BF5AF}"/>
              </a:ext>
            </a:extLst>
          </p:cNvPr>
          <p:cNvSpPr txBox="1"/>
          <p:nvPr/>
        </p:nvSpPr>
        <p:spPr>
          <a:xfrm>
            <a:off x="4126741" y="1459633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N2</a:t>
            </a:r>
            <a:endParaRPr lang="en-US" b="1" noProof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37C909-22BB-49BF-31E0-25ACEC145DEC}"/>
              </a:ext>
            </a:extLst>
          </p:cNvPr>
          <p:cNvSpPr txBox="1"/>
          <p:nvPr/>
        </p:nvSpPr>
        <p:spPr>
          <a:xfrm>
            <a:off x="4126741" y="893223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N3</a:t>
            </a:r>
            <a:endParaRPr lang="en-US" b="1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397937-6CB1-84F9-A6CB-9E81BFD24559}"/>
              </a:ext>
            </a:extLst>
          </p:cNvPr>
          <p:cNvSpPr txBox="1"/>
          <p:nvPr/>
        </p:nvSpPr>
        <p:spPr>
          <a:xfrm>
            <a:off x="4126741" y="2835832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N6</a:t>
            </a:r>
            <a:endParaRPr lang="en-US" b="1" noProof="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47BD58-0EEA-956C-3BDC-509C5D096E75}"/>
              </a:ext>
            </a:extLst>
          </p:cNvPr>
          <p:cNvSpPr txBox="1"/>
          <p:nvPr/>
        </p:nvSpPr>
        <p:spPr>
          <a:xfrm>
            <a:off x="4126741" y="3445432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N7</a:t>
            </a:r>
            <a:endParaRPr lang="en-US" b="1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5B3EDC-E1EF-8CB1-CC12-03E97C7C467A}"/>
              </a:ext>
            </a:extLst>
          </p:cNvPr>
          <p:cNvSpPr txBox="1"/>
          <p:nvPr/>
        </p:nvSpPr>
        <p:spPr>
          <a:xfrm>
            <a:off x="4842372" y="2121621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N4</a:t>
            </a:r>
            <a:endParaRPr lang="en-US" b="1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E807EC-DB7C-F523-0123-DE6946B2045F}"/>
              </a:ext>
            </a:extLst>
          </p:cNvPr>
          <p:cNvSpPr txBox="1"/>
          <p:nvPr/>
        </p:nvSpPr>
        <p:spPr>
          <a:xfrm>
            <a:off x="5478996" y="2121621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N5</a:t>
            </a:r>
            <a:endParaRPr lang="en-US" b="1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DE2111-5747-3D00-A7EC-7B8F8238C4C8}"/>
              </a:ext>
            </a:extLst>
          </p:cNvPr>
          <p:cNvSpPr txBox="1"/>
          <p:nvPr/>
        </p:nvSpPr>
        <p:spPr>
          <a:xfrm>
            <a:off x="3402841" y="2114714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N8</a:t>
            </a:r>
            <a:endParaRPr lang="en-US" b="1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CE16E2-6F0C-F347-1112-9F45E7618D9F}"/>
              </a:ext>
            </a:extLst>
          </p:cNvPr>
          <p:cNvSpPr txBox="1"/>
          <p:nvPr/>
        </p:nvSpPr>
        <p:spPr>
          <a:xfrm>
            <a:off x="2766217" y="2114714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N9</a:t>
            </a:r>
            <a:endParaRPr lang="en-US" b="1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DE7C904-A214-1756-C69B-B1EDB5B3DEAB}"/>
              </a:ext>
            </a:extLst>
          </p:cNvPr>
          <p:cNvSpPr/>
          <p:nvPr/>
        </p:nvSpPr>
        <p:spPr>
          <a:xfrm>
            <a:off x="3086564" y="2187236"/>
            <a:ext cx="119062" cy="1686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C582BE7-2512-BB19-DD32-8302A90DAA68}"/>
              </a:ext>
            </a:extLst>
          </p:cNvPr>
          <p:cNvSpPr/>
          <p:nvPr/>
        </p:nvSpPr>
        <p:spPr>
          <a:xfrm>
            <a:off x="3126105" y="2087310"/>
            <a:ext cx="119062" cy="1686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E0ADF50-DE97-C1BF-5AC7-BA5332384A13}"/>
              </a:ext>
            </a:extLst>
          </p:cNvPr>
          <p:cNvSpPr/>
          <p:nvPr/>
        </p:nvSpPr>
        <p:spPr>
          <a:xfrm>
            <a:off x="3199648" y="2159832"/>
            <a:ext cx="119062" cy="1686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7245456-E8E2-EBB9-7527-6AB979F2FD70}"/>
              </a:ext>
            </a:extLst>
          </p:cNvPr>
          <p:cNvSpPr/>
          <p:nvPr/>
        </p:nvSpPr>
        <p:spPr>
          <a:xfrm>
            <a:off x="3141334" y="2227385"/>
            <a:ext cx="119062" cy="1686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638352-6D66-92CA-B87C-D0A5A521526D}"/>
              </a:ext>
            </a:extLst>
          </p:cNvPr>
          <p:cNvSpPr txBox="1"/>
          <p:nvPr/>
        </p:nvSpPr>
        <p:spPr>
          <a:xfrm>
            <a:off x="2922969" y="1849426"/>
            <a:ext cx="5533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Tumor</a:t>
            </a:r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406092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_16x9.potx" id="{9370F84E-7576-4FDA-B736-A09996DF8429}" vid="{ED81D3C9-A1FB-4E5B-AF38-E92F700A58FD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506bdfe-a911-40f9-8965-f728809fb15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CFDCC81E8B894E922A1235B2A86D76" ma:contentTypeVersion="7" ma:contentTypeDescription="Create a new document." ma:contentTypeScope="" ma:versionID="af3b97a934f2d8814641684f00e5f939">
  <xsd:schema xmlns:xsd="http://www.w3.org/2001/XMLSchema" xmlns:xs="http://www.w3.org/2001/XMLSchema" xmlns:p="http://schemas.microsoft.com/office/2006/metadata/properties" xmlns:ns3="2506bdfe-a911-40f9-8965-f728809fb150" xmlns:ns4="95c69a58-dedf-4b0f-96a3-30befa183c82" targetNamespace="http://schemas.microsoft.com/office/2006/metadata/properties" ma:root="true" ma:fieldsID="7bf824fed9fb425022c88553df893cfe" ns3:_="" ns4:_="">
    <xsd:import namespace="2506bdfe-a911-40f9-8965-f728809fb150"/>
    <xsd:import namespace="95c69a58-dedf-4b0f-96a3-30befa183c8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6bdfe-a911-40f9-8965-f728809fb1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69a58-dedf-4b0f-96a3-30befa183c8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3BB40F-87C8-4453-9D87-E81B794821CD}">
  <ds:schemaRefs>
    <ds:schemaRef ds:uri="2506bdfe-a911-40f9-8965-f728809fb150"/>
    <ds:schemaRef ds:uri="95c69a58-dedf-4b0f-96a3-30befa183c8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479676D-19A5-4F75-BD21-4470CA15FA50}">
  <ds:schemaRefs>
    <ds:schemaRef ds:uri="2506bdfe-a911-40f9-8965-f728809fb150"/>
    <ds:schemaRef ds:uri="95c69a58-dedf-4b0f-96a3-30befa183c8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DACC21C-90D6-4DCF-B2A7-CB8913C7537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TUe_16x9 (2)</Template>
  <TotalTime>1878</TotalTime>
  <Words>1097</Words>
  <Application>Microsoft Office PowerPoint</Application>
  <PresentationFormat>On-screen Show (16:9)</PresentationFormat>
  <Paragraphs>252</Paragraphs>
  <Slides>26</Slides>
  <Notes>25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Kantoorthema</vt:lpstr>
      <vt:lpstr>Advancing Breast Models Through Improved Tumor Complexity for AI-Based Cancer Detection</vt:lpstr>
      <vt:lpstr>Introduction</vt:lpstr>
      <vt:lpstr>Mammography</vt:lpstr>
      <vt:lpstr>Shortcomings of Mammography</vt:lpstr>
      <vt:lpstr>The Early Warning Scan</vt:lpstr>
      <vt:lpstr>The Early Warning Scan</vt:lpstr>
      <vt:lpstr>The Early Warning Scan</vt:lpstr>
      <vt:lpstr>The Early Warning Scan</vt:lpstr>
      <vt:lpstr>The Early Warning Scan</vt:lpstr>
      <vt:lpstr>The Early Warning Scan</vt:lpstr>
      <vt:lpstr>The Early Warning Scan</vt:lpstr>
      <vt:lpstr>The Early Warning Scan</vt:lpstr>
      <vt:lpstr>Current Challenges</vt:lpstr>
      <vt:lpstr>Introducing The Breast Model</vt:lpstr>
      <vt:lpstr>Introducing The Breast Model</vt:lpstr>
      <vt:lpstr>Procedural Tumor Generation</vt:lpstr>
      <vt:lpstr>Testing Methodology</vt:lpstr>
      <vt:lpstr>Results: Tumor Size</vt:lpstr>
      <vt:lpstr>Results: Tumor Size</vt:lpstr>
      <vt:lpstr>Results: Tumor Morphology</vt:lpstr>
      <vt:lpstr>Results: Tumor Morphology</vt:lpstr>
      <vt:lpstr>Results: Breast Density</vt:lpstr>
      <vt:lpstr>Discussion and Future Improvements</vt:lpstr>
      <vt:lpstr>Acknowledgement</vt:lpstr>
      <vt:lpstr>Conclusion</vt:lpstr>
      <vt:lpstr>PowerPoint Presentation</vt:lpstr>
    </vt:vector>
  </TitlesOfParts>
  <Company>TU/e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of a title at the top</dc:title>
  <dc:creator>Ven, I.M.J. van de</dc:creator>
  <cp:lastModifiedBy>Diepstraten, Tim</cp:lastModifiedBy>
  <cp:revision>45</cp:revision>
  <dcterms:created xsi:type="dcterms:W3CDTF">2019-11-27T15:26:32Z</dcterms:created>
  <dcterms:modified xsi:type="dcterms:W3CDTF">2025-10-23T10:10:41Z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0x01010033CFDCC81E8B894E922A1235B2A86D76</vt:lpwstr>
  </property>
</Properties>
</file>