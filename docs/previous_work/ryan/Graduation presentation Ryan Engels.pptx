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omments/modernComment_127_8C98A385.xml" ContentType="application/vnd.ms-powerpoint.comment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3"/>
  </p:notesMasterIdLst>
  <p:sldIdLst>
    <p:sldId id="293" r:id="rId2"/>
    <p:sldId id="305" r:id="rId3"/>
    <p:sldId id="294" r:id="rId4"/>
    <p:sldId id="295" r:id="rId5"/>
    <p:sldId id="298" r:id="rId6"/>
    <p:sldId id="296" r:id="rId7"/>
    <p:sldId id="306" r:id="rId8"/>
    <p:sldId id="297" r:id="rId9"/>
    <p:sldId id="299" r:id="rId10"/>
    <p:sldId id="310" r:id="rId11"/>
    <p:sldId id="300" r:id="rId12"/>
    <p:sldId id="304" r:id="rId13"/>
    <p:sldId id="301" r:id="rId14"/>
    <p:sldId id="302" r:id="rId15"/>
    <p:sldId id="303" r:id="rId16"/>
    <p:sldId id="308" r:id="rId17"/>
    <p:sldId id="311" r:id="rId18"/>
    <p:sldId id="309" r:id="rId19"/>
    <p:sldId id="312" r:id="rId20"/>
    <p:sldId id="313" r:id="rId21"/>
    <p:sldId id="314" r:id="rId2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9C523A9-0AD7-0896-FBC7-BB3D8DDD268E}" name="Ryan Engels (student)" initials="R(" userId="S::rmh.engels@student.han.nl::cf020767-a91f-419f-b152-5a18e468d69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056"/>
    <a:srgbClr val="E508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599546-6FDB-273D-66C4-862F0B390BEA}" v="18" dt="2026-01-20T20:37:10.822"/>
    <p1510:client id="{1D3F46EC-83A2-BF2D-CDF3-2E89D8EECE2F}" v="71" dt="2026-01-19T19:31:32.629"/>
    <p1510:client id="{826D2A3D-F4D4-6040-156D-465859F185D0}" v="219" dt="2026-01-20T19:51:15.032"/>
    <p1510:client id="{9D3322DE-A5E8-AD31-14BE-1AE753742503}" v="25" dt="2026-01-21T16:24:57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>
      <p:cViewPr varScale="1">
        <p:scale>
          <a:sx n="88" d="100"/>
          <a:sy n="88" d="100"/>
        </p:scale>
        <p:origin x="176" y="7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omments/modernComment_127_8C98A38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F7A932-0C22-4C5C-99BF-B8735C7F8DA0}" authorId="{D9C523A9-0AD7-0896-FBC7-BB3D8DDD268E}" created="2026-01-13T13:16:23.307">
    <pc:sldMkLst xmlns:pc="http://schemas.microsoft.com/office/powerpoint/2013/main/command">
      <pc:docMk/>
      <pc:sldMk cId="2358813573" sldId="295"/>
    </pc:sldMkLst>
    <p188:txBody>
      <a:bodyPr/>
      <a:lstStyle/>
      <a:p>
        <a:r>
          <a:rPr lang="en-GB"/>
          <a:t>beter uitleggen hoe het apparaat in zn werking gaat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BE9AD-F25F-DC4E-A3E6-F2D615BC1CA1}" type="datetimeFigureOut">
              <a:rPr lang="nl-NL" smtClean="0"/>
              <a:t>21-01-2026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0A0B3-ACC2-C246-BF6C-EE3CA289D24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2157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0A0B3-ACC2-C246-BF6C-EE3CA289D24C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3769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Afbeelding 4">
            <a:extLst>
              <a:ext uri="{FF2B5EF4-FFF2-40B4-BE49-F238E27FC236}">
                <a16:creationId xmlns:a16="http://schemas.microsoft.com/office/drawing/2014/main" id="{3E43DDCB-339E-4C3A-9E9E-C22943510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877" y="1624878"/>
            <a:ext cx="5330383" cy="2545109"/>
          </a:xfrm>
          <a:prstGeom prst="rect">
            <a:avLst/>
          </a:prstGeom>
        </p:spPr>
      </p:pic>
      <p:sp>
        <p:nvSpPr>
          <p:cNvPr id="29" name="Tijdelijke aanduiding voor tekst 28">
            <a:extLst>
              <a:ext uri="{FF2B5EF4-FFF2-40B4-BE49-F238E27FC236}">
                <a16:creationId xmlns:a16="http://schemas.microsoft.com/office/drawing/2014/main" id="{FDED8E11-341A-45D2-85B1-F7C4DB5323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235" y="5095875"/>
            <a:ext cx="10452100" cy="1009650"/>
          </a:xfrm>
        </p:spPr>
        <p:txBody>
          <a:bodyPr>
            <a:normAutofit/>
          </a:bodyPr>
          <a:lstStyle>
            <a:lvl1pPr marL="0" indent="0">
              <a:buNone/>
              <a:defRPr lang="en-GB" sz="2475" b="0" i="0" u="none" strike="noStrike" cap="all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Avenir Next Condensed Medium" panose="020B0606020202020204" pitchFamily="34" charset="0"/>
                <a:ea typeface="Avenir Next Condensed Medium" panose="020B0606020202020204" pitchFamily="34" charset="0"/>
                <a:cs typeface="Avenir Next Condensed Medium" panose="020B0606020202020204" pitchFamily="34" charset="0"/>
                <a:sym typeface="Avenir Next Condensed Medium"/>
              </a:defRPr>
            </a:lvl1pPr>
          </a:lstStyle>
          <a:p>
            <a:pPr lvl="0"/>
            <a:r>
              <a:rPr lang="nl-NL"/>
              <a:t>VOORBEELD VAN EEN ONDERTITEL</a:t>
            </a:r>
            <a:endParaRPr lang="en-GB"/>
          </a:p>
        </p:txBody>
      </p:sp>
      <p:sp>
        <p:nvSpPr>
          <p:cNvPr id="34" name="Tijdelijke aanduiding voor tekst 33">
            <a:extLst>
              <a:ext uri="{FF2B5EF4-FFF2-40B4-BE49-F238E27FC236}">
                <a16:creationId xmlns:a16="http://schemas.microsoft.com/office/drawing/2014/main" id="{D9C3A310-643B-4139-9F62-77D0667471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233" y="1196300"/>
            <a:ext cx="10458803" cy="588915"/>
          </a:xfrm>
        </p:spPr>
        <p:txBody>
          <a:bodyPr anchor="b">
            <a:noAutofit/>
          </a:bodyPr>
          <a:lstStyle>
            <a:lvl1pPr marL="0" indent="0">
              <a:buNone/>
              <a:defRPr lang="nl-NL" sz="1846" b="0" kern="1200" cap="all" baseline="0" dirty="0" smtClean="0">
                <a:solidFill>
                  <a:schemeClr val="tx2"/>
                </a:solidFill>
                <a:latin typeface="Avenir Next Condensed Medium" panose="020B0606020202020204" pitchFamily="34" charset="0"/>
                <a:ea typeface="Avenir Next Condensed Medium" panose="020B0606020202020204" pitchFamily="34" charset="0"/>
                <a:cs typeface="Avenir Next Condensed Medium" panose="020B0606020202020204" pitchFamily="34" charset="0"/>
                <a:sym typeface="Avenir Next Condensed Demi Bold"/>
              </a:defRPr>
            </a:lvl1pPr>
          </a:lstStyle>
          <a:p>
            <a:pPr lvl="0"/>
            <a:r>
              <a:rPr lang="nl-NL"/>
              <a:t>NAAM OPLEIDING/FACULTEIT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3983EC9-36B1-B744-A87D-1AA0BEB38B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34" y="2214000"/>
            <a:ext cx="10452100" cy="2808000"/>
          </a:xfr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6750" b="1" cap="all" baseline="0">
                <a:latin typeface="Avenir Next Condensed Medium" panose="020B0606020202020204" pitchFamily="34" charset="0"/>
              </a:defRPr>
            </a:lvl1pPr>
          </a:lstStyle>
          <a:p>
            <a:r>
              <a:rPr lang="nl-NL"/>
              <a:t>Titel van de presentatie_</a:t>
            </a:r>
          </a:p>
        </p:txBody>
      </p:sp>
    </p:spTree>
    <p:extLst>
      <p:ext uri="{BB962C8B-B14F-4D97-AF65-F5344CB8AC3E}">
        <p14:creationId xmlns:p14="http://schemas.microsoft.com/office/powerpoint/2010/main" val="358500664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D13B7015-BB4D-A84E-84E4-520C33B85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nl-NL"/>
              <a:t>ONDERWERP / titel</a:t>
            </a:r>
          </a:p>
        </p:txBody>
      </p:sp>
      <p:sp>
        <p:nvSpPr>
          <p:cNvPr id="6" name="Tijdelijke aanduiding voor tekst 2"/>
          <p:cNvSpPr>
            <a:spLocks noGrp="1"/>
          </p:cNvSpPr>
          <p:nvPr>
            <p:ph type="body" sz="quarter" idx="11"/>
          </p:nvPr>
        </p:nvSpPr>
        <p:spPr>
          <a:xfrm>
            <a:off x="838200" y="1925638"/>
            <a:ext cx="10515600" cy="424800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63155089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6">
            <a:extLst>
              <a:ext uri="{FF2B5EF4-FFF2-40B4-BE49-F238E27FC236}">
                <a16:creationId xmlns:a16="http://schemas.microsoft.com/office/drawing/2014/main" id="{24158585-8C9B-2444-8413-2968F1CB9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9"/>
            <a:ext cx="105156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nl-NL"/>
              <a:t>ONDERWERP / titel</a:t>
            </a:r>
          </a:p>
        </p:txBody>
      </p:sp>
      <p:sp>
        <p:nvSpPr>
          <p:cNvPr id="7" name="Tijdelijke aanduiding voor tekst 2"/>
          <p:cNvSpPr>
            <a:spLocks noGrp="1"/>
          </p:cNvSpPr>
          <p:nvPr>
            <p:ph type="body" sz="quarter" idx="11"/>
          </p:nvPr>
        </p:nvSpPr>
        <p:spPr>
          <a:xfrm>
            <a:off x="838200" y="1925638"/>
            <a:ext cx="5257800" cy="424800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674806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260C8E6A-14DF-4CBC-B795-FDA284EC47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53203" y="1917701"/>
            <a:ext cx="4800600" cy="4259263"/>
          </a:xfrm>
        </p:spPr>
        <p:txBody>
          <a:bodyPr>
            <a:normAutofit/>
          </a:bodyPr>
          <a:lstStyle>
            <a:lvl1pPr marL="0" indent="0">
              <a:buNone/>
              <a:defRPr sz="1275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0688633-6D41-064D-B005-BBA9338D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9"/>
            <a:ext cx="105156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nl-NL"/>
              <a:t>ONDERWERP / titel</a:t>
            </a:r>
          </a:p>
        </p:txBody>
      </p:sp>
      <p:sp>
        <p:nvSpPr>
          <p:cNvPr id="8" name="Tijdelijke aanduiding voor tekst 2"/>
          <p:cNvSpPr>
            <a:spLocks noGrp="1"/>
          </p:cNvSpPr>
          <p:nvPr>
            <p:ph type="body" sz="quarter" idx="12"/>
          </p:nvPr>
        </p:nvSpPr>
        <p:spPr>
          <a:xfrm>
            <a:off x="838200" y="1926000"/>
            <a:ext cx="5257800" cy="424800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35136155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bbe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4B8653B3-70AE-4E3E-9A4D-3EAF4B4F4A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3200" y="1778435"/>
            <a:ext cx="4800600" cy="413103"/>
          </a:xfrm>
        </p:spPr>
        <p:txBody>
          <a:bodyPr anchor="ctr">
            <a:noAutofit/>
          </a:bodyPr>
          <a:lstStyle>
            <a:lvl1pPr marL="0" indent="0">
              <a:buNone/>
              <a:defRPr sz="2000" b="1" baseline="0"/>
            </a:lvl1pPr>
          </a:lstStyle>
          <a:p>
            <a:pPr lvl="0"/>
            <a:r>
              <a:rPr lang="nl-NL"/>
              <a:t>Klik voor </a:t>
            </a:r>
            <a:r>
              <a:rPr lang="nl-NL" err="1"/>
              <a:t>subkop</a:t>
            </a:r>
            <a:endParaRPr lang="en-GB"/>
          </a:p>
        </p:txBody>
      </p:sp>
      <p:sp>
        <p:nvSpPr>
          <p:cNvPr id="10" name="Tijdelijke aanduiding voor tekst 4">
            <a:extLst>
              <a:ext uri="{FF2B5EF4-FFF2-40B4-BE49-F238E27FC236}">
                <a16:creationId xmlns:a16="http://schemas.microsoft.com/office/drawing/2014/main" id="{60C7571E-BBB1-4DDF-9329-A0C028CAE8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1778435"/>
            <a:ext cx="4800600" cy="413103"/>
          </a:xfrm>
        </p:spPr>
        <p:txBody>
          <a:bodyPr anchor="ctr"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nl-NL"/>
              <a:t>Klik voor </a:t>
            </a:r>
            <a:r>
              <a:rPr lang="nl-NL" err="1"/>
              <a:t>subkop</a:t>
            </a:r>
            <a:endParaRPr lang="en-GB"/>
          </a:p>
        </p:txBody>
      </p:sp>
      <p:sp>
        <p:nvSpPr>
          <p:cNvPr id="8" name="Titel 6">
            <a:extLst>
              <a:ext uri="{FF2B5EF4-FFF2-40B4-BE49-F238E27FC236}">
                <a16:creationId xmlns:a16="http://schemas.microsoft.com/office/drawing/2014/main" id="{AB6897B6-1B30-8840-AEF5-653E3015C3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9"/>
            <a:ext cx="105156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nl-NL"/>
              <a:t>ONDERWERP / titel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8"/>
          </p:nvPr>
        </p:nvSpPr>
        <p:spPr>
          <a:xfrm>
            <a:off x="838200" y="2286000"/>
            <a:ext cx="4800600" cy="390525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2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6553200" y="2286000"/>
            <a:ext cx="4800600" cy="390525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8130116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">
            <a:extLst>
              <a:ext uri="{FF2B5EF4-FFF2-40B4-BE49-F238E27FC236}">
                <a16:creationId xmlns:a16="http://schemas.microsoft.com/office/drawing/2014/main" id="{2F35E840-7D0C-489A-B88C-9B5B6A358F43}"/>
              </a:ext>
            </a:extLst>
          </p:cNvPr>
          <p:cNvSpPr/>
          <p:nvPr/>
        </p:nvSpPr>
        <p:spPr>
          <a:xfrm>
            <a:off x="3149600" y="733425"/>
            <a:ext cx="5892800" cy="539115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/>
          </a:p>
        </p:txBody>
      </p:sp>
      <p:pic>
        <p:nvPicPr>
          <p:cNvPr id="14" name="Afbeelding 2">
            <a:extLst>
              <a:ext uri="{FF2B5EF4-FFF2-40B4-BE49-F238E27FC236}">
                <a16:creationId xmlns:a16="http://schemas.microsoft.com/office/drawing/2014/main" id="{FFDA8079-95BD-45E3-8313-ABF6A59ED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217" y="601591"/>
            <a:ext cx="474585" cy="297299"/>
          </a:xfrm>
          <a:prstGeom prst="rect">
            <a:avLst/>
          </a:prstGeom>
        </p:spPr>
      </p:pic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7E150451-5081-475D-A7BF-2CE6F5C377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40216" y="5429602"/>
            <a:ext cx="4910667" cy="493713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NAAM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0DA6865-FA7E-094E-A575-DAADE998A2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0216" y="1628775"/>
            <a:ext cx="4910667" cy="36004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‘QUOTE’</a:t>
            </a:r>
          </a:p>
        </p:txBody>
      </p:sp>
    </p:spTree>
    <p:extLst>
      <p:ext uri="{BB962C8B-B14F-4D97-AF65-F5344CB8AC3E}">
        <p14:creationId xmlns:p14="http://schemas.microsoft.com/office/powerpoint/2010/main" val="296755287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11C99-437C-4169-9F1E-2329F46F79C9}" type="datetime1">
              <a:rPr lang="nl-NL"/>
              <a:pPr>
                <a:defRPr/>
              </a:pPr>
              <a:t>21-01-2026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B44841-17C6-4FF0-BAF1-CBF7D943FF39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0026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3D1BAB-5AA2-4A82-94AD-BFED8AD8D237}" type="datetime1">
              <a:rPr lang="nl-NL"/>
              <a:pPr>
                <a:defRPr/>
              </a:pPr>
              <a:t>21-01-2026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1F693C-0BF9-432D-9F8B-AB6BA74C62F1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45302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">
            <a:extLst>
              <a:ext uri="{FF2B5EF4-FFF2-40B4-BE49-F238E27FC236}">
                <a16:creationId xmlns:a16="http://schemas.microsoft.com/office/drawing/2014/main" id="{2F35E840-7D0C-489A-B88C-9B5B6A358F43}"/>
              </a:ext>
            </a:extLst>
          </p:cNvPr>
          <p:cNvSpPr/>
          <p:nvPr/>
        </p:nvSpPr>
        <p:spPr>
          <a:xfrm>
            <a:off x="3149600" y="733425"/>
            <a:ext cx="5892800" cy="539115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pic>
        <p:nvPicPr>
          <p:cNvPr id="14" name="Afbeelding 2">
            <a:extLst>
              <a:ext uri="{FF2B5EF4-FFF2-40B4-BE49-F238E27FC236}">
                <a16:creationId xmlns:a16="http://schemas.microsoft.com/office/drawing/2014/main" id="{FFDA8079-95BD-45E3-8313-ABF6A59ED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216" y="601589"/>
            <a:ext cx="474585" cy="297299"/>
          </a:xfrm>
          <a:prstGeom prst="rect">
            <a:avLst/>
          </a:prstGeom>
        </p:spPr>
      </p:pic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0085B888-A864-4C76-87C8-996231F374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119" y="1628775"/>
            <a:ext cx="4909763" cy="360045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sz="3600"/>
              <a:t>‘</a:t>
            </a:r>
            <a:r>
              <a:rPr lang="en-GB" sz="3600"/>
              <a:t>Quote’</a:t>
            </a:r>
            <a:endParaRPr lang="nl-NL" sz="3600"/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7E150451-5081-475D-A7BF-2CE6F5C377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40215" y="5429600"/>
            <a:ext cx="4910667" cy="493713"/>
          </a:xfrm>
        </p:spPr>
        <p:txBody>
          <a:bodyPr anchor="b"/>
          <a:lstStyle>
            <a:lvl1pPr marL="0" indent="0">
              <a:buNone/>
              <a:defRPr sz="174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NAAM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42256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6486190-F1D1-43BB-B712-AB7BE1C1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BC46703-C372-4CCF-BBDB-349EF159E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2936B9B-9586-48DE-B845-C54BC129D8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076" y="6227765"/>
            <a:ext cx="1812259" cy="58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374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lang="nl-NL" sz="3200" b="1" kern="1200" cap="all" baseline="0" dirty="0">
          <a:solidFill>
            <a:schemeClr val="tx2"/>
          </a:solidFill>
          <a:latin typeface="Avenir Next Condensed Medium" panose="020B0606020202020204" pitchFamily="34" charset="0"/>
          <a:ea typeface="+mj-ea"/>
          <a:cs typeface="Arial" panose="020B0604020202020204" pitchFamily="34" charset="0"/>
          <a:sym typeface="Avenir Next Condensed Demi Bold"/>
        </a:defRPr>
      </a:lvl1pPr>
    </p:titleStyle>
    <p:bodyStyle>
      <a:lvl1pPr marL="18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6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­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4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72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90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27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3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1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co.iarc.fr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microsoft.com/office/2018/10/relationships/comments" Target="../comments/modernComment_127_8C98A385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earlywarningscan.nl/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4-83598-8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microsoft.com/office/2007/relationships/media" Target="../media/media1.mov"/><Relationship Id="rId1" Type="http://schemas.openxmlformats.org/officeDocument/2006/relationships/video" Target="NULL" TargetMode="External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A5D59-5560-4F56-A1AF-4A9A68924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539" y="373624"/>
            <a:ext cx="9764641" cy="1343813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E50056"/>
                </a:solidFill>
                <a:latin typeface="Avenir Next Condensed Medium"/>
                <a:cs typeface="Arial"/>
              </a:rPr>
              <a:t>IMPLEMENTING TISSUE HETEROGENEITY IN FINITE ELEMENT BREAST MODELS FOR OPTICAL CANCER DETECTION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436A515-9EB7-4C92-9366-1B660DF5BE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11388" y="1925638"/>
            <a:ext cx="6431280" cy="424800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179705" indent="-179705">
              <a:buNone/>
            </a:pPr>
            <a:endParaRPr lang="en-GB" sz="3000">
              <a:latin typeface="Aptos Display"/>
              <a:cs typeface="Arial"/>
            </a:endParaRPr>
          </a:p>
          <a:p>
            <a:pPr marL="179705" indent="-179705">
              <a:buNone/>
            </a:pPr>
            <a:r>
              <a:rPr lang="nl-NL" sz="5400" dirty="0">
                <a:latin typeface="Arial"/>
                <a:cs typeface="Arial"/>
              </a:rPr>
              <a:t> </a:t>
            </a:r>
            <a:endParaRPr lang="nl-NL" sz="5400" dirty="0"/>
          </a:p>
          <a:p>
            <a:pPr marL="179705" indent="-179705">
              <a:buNone/>
            </a:pPr>
            <a:endParaRPr lang="nl-NL" sz="5400"/>
          </a:p>
          <a:p>
            <a:pPr marL="0" indent="0">
              <a:buNone/>
            </a:pPr>
            <a:endParaRPr lang="nl-NL" sz="5400"/>
          </a:p>
          <a:p>
            <a:pPr marL="179705" indent="-179705"/>
            <a:endParaRPr lang="nl-NL"/>
          </a:p>
          <a:p>
            <a:pPr marL="179705" indent="-179705"/>
            <a:endParaRPr lang="nl-NL"/>
          </a:p>
          <a:p>
            <a:pPr marL="0" indent="0">
              <a:buNone/>
            </a:pPr>
            <a:r>
              <a:rPr lang="nl-NL" dirty="0">
                <a:latin typeface="Arial"/>
                <a:cs typeface="Arial"/>
              </a:rPr>
              <a:t>Made </a:t>
            </a:r>
            <a:r>
              <a:rPr lang="nl-NL" err="1">
                <a:latin typeface="Arial"/>
                <a:cs typeface="Arial"/>
              </a:rPr>
              <a:t>by</a:t>
            </a:r>
            <a:r>
              <a:rPr lang="nl-NL" dirty="0">
                <a:latin typeface="Arial"/>
                <a:cs typeface="Arial"/>
              </a:rPr>
              <a:t>: Ryan Engels</a:t>
            </a:r>
          </a:p>
          <a:p>
            <a:pPr marL="0" indent="0">
              <a:buNone/>
            </a:pPr>
            <a:r>
              <a:rPr lang="nl-NL" dirty="0">
                <a:latin typeface="Arial"/>
                <a:cs typeface="Arial"/>
              </a:rPr>
              <a:t>Supervisor: </a:t>
            </a:r>
            <a:endParaRPr lang="nl-NL" dirty="0"/>
          </a:p>
          <a:p>
            <a:pPr marL="0" indent="0">
              <a:buNone/>
            </a:pPr>
            <a:r>
              <a:rPr lang="en-GB">
                <a:latin typeface="Arial"/>
                <a:cs typeface="Arial"/>
              </a:rPr>
              <a:t>Prof. Dr. Ir. C.W. Hurkmans </a:t>
            </a:r>
            <a:endParaRPr lang="nl-NL">
              <a:latin typeface="Arial"/>
            </a:endParaRPr>
          </a:p>
          <a:p>
            <a:pPr marL="179705" indent="-179705"/>
            <a:endParaRPr lang="nl-NL"/>
          </a:p>
          <a:p>
            <a:pPr marL="0" indent="0">
              <a:buNone/>
            </a:pPr>
            <a:r>
              <a:rPr lang="nl-NL" dirty="0">
                <a:latin typeface="Arial"/>
                <a:cs typeface="Arial"/>
              </a:rPr>
              <a:t>Bio-Informatica</a:t>
            </a:r>
            <a:endParaRPr lang="nl-NL" dirty="0"/>
          </a:p>
        </p:txBody>
      </p:sp>
      <p:pic>
        <p:nvPicPr>
          <p:cNvPr id="4" name="Picture 3" descr="logo-Catharina-20200701 – 3 goede vragen">
            <a:extLst>
              <a:ext uri="{FF2B5EF4-FFF2-40B4-BE49-F238E27FC236}">
                <a16:creationId xmlns:a16="http://schemas.microsoft.com/office/drawing/2014/main" id="{35221337-8959-246A-3333-0669E9CB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758" y="6173940"/>
            <a:ext cx="1534267" cy="496612"/>
          </a:xfrm>
          <a:prstGeom prst="rect">
            <a:avLst/>
          </a:prstGeom>
        </p:spPr>
      </p:pic>
      <p:pic>
        <p:nvPicPr>
          <p:cNvPr id="5" name="Picture 4" descr="Your Risk — Know Your Lemons® for Early Detection">
            <a:extLst>
              <a:ext uri="{FF2B5EF4-FFF2-40B4-BE49-F238E27FC236}">
                <a16:creationId xmlns:a16="http://schemas.microsoft.com/office/drawing/2014/main" id="{6828AAC3-BA12-7862-7AE5-99D1B5C8D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976" y="2202584"/>
            <a:ext cx="7268343" cy="369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01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39729-C416-ED08-D8A9-4460B4B62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GB">
                <a:latin typeface="Avenir Next Condensed Medium"/>
                <a:cs typeface="Arial"/>
              </a:rPr>
              <a:t>Global challenge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0068F-FE6E-AB64-E89D-B01977D62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9705" indent="-179705">
              <a:spcAft>
                <a:spcPts val="600"/>
              </a:spcAft>
            </a:pPr>
            <a:r>
              <a:rPr lang="en-GB" dirty="0">
                <a:latin typeface="Arial"/>
                <a:cs typeface="Arial"/>
              </a:rPr>
              <a:t>Most common cancer</a:t>
            </a:r>
          </a:p>
          <a:p>
            <a:pPr marL="179705" indent="-179705">
              <a:spcAft>
                <a:spcPts val="600"/>
              </a:spcAft>
            </a:pPr>
            <a:r>
              <a:rPr lang="en-GB" dirty="0">
                <a:latin typeface="Arial"/>
                <a:cs typeface="Arial"/>
              </a:rPr>
              <a:t>Early detection</a:t>
            </a:r>
          </a:p>
          <a:p>
            <a:pPr marL="179705" indent="-179705">
              <a:spcAft>
                <a:spcPts val="600"/>
              </a:spcAft>
            </a:pPr>
            <a:r>
              <a:rPr lang="en-GB" dirty="0">
                <a:latin typeface="Arial"/>
                <a:cs typeface="Arial"/>
              </a:rPr>
              <a:t>Screening saves lives</a:t>
            </a:r>
          </a:p>
          <a:p>
            <a:pPr marL="179705" indent="-179705">
              <a:spcAft>
                <a:spcPts val="600"/>
              </a:spcAft>
            </a:pPr>
            <a:endParaRPr lang="en-GB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11AEC28-6C34-D919-F1D8-AA9A5BF6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81F693C-0BF9-432D-9F8B-AB6BA74C62F1}" type="slidenum">
              <a:rPr lang="nl-NL"/>
              <a:pPr>
                <a:spcAft>
                  <a:spcPts val="600"/>
                </a:spcAft>
                <a:defRPr/>
              </a:pPr>
              <a:t>2</a:t>
            </a:fld>
            <a:endParaRPr lang="nl-NL"/>
          </a:p>
        </p:txBody>
      </p:sp>
      <p:pic>
        <p:nvPicPr>
          <p:cNvPr id="5" name="Picture 4" descr="A graph of different types of diseases&#10;&#10;AI-generated content may be incorrect.">
            <a:extLst>
              <a:ext uri="{FF2B5EF4-FFF2-40B4-BE49-F238E27FC236}">
                <a16:creationId xmlns:a16="http://schemas.microsoft.com/office/drawing/2014/main" id="{500172F1-30FA-C2DC-7BF7-072B9CF0A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124" y="19921"/>
            <a:ext cx="6666100" cy="60289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A3713C-FB2E-7BFD-0A61-134F3CFDE5EF}"/>
              </a:ext>
            </a:extLst>
          </p:cNvPr>
          <p:cNvSpPr txBox="1"/>
          <p:nvPr/>
        </p:nvSpPr>
        <p:spPr>
          <a:xfrm>
            <a:off x="7070917" y="6051177"/>
            <a:ext cx="512136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/>
              <a:t>Source: Global Cancer Observatory (IARC), Cancer Today, </a:t>
            </a:r>
            <a:r>
              <a:rPr lang="en-US" sz="1100" dirty="0">
                <a:hlinkClick r:id="rId3"/>
              </a:rPr>
              <a:t>https://gco.iarc.fr/</a:t>
            </a:r>
            <a:endParaRPr lang="en-US" sz="11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9271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finition of mammography - NCI Dictionary of Cancer Terms - NCI">
            <a:extLst>
              <a:ext uri="{FF2B5EF4-FFF2-40B4-BE49-F238E27FC236}">
                <a16:creationId xmlns:a16="http://schemas.microsoft.com/office/drawing/2014/main" id="{B9B96FE9-830F-7E0B-B4B9-664F1590C4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32" r="-1" b="-1"/>
          <a:stretch>
            <a:fillRect/>
          </a:stretch>
        </p:blipFill>
        <p:spPr>
          <a:xfrm>
            <a:off x="6553203" y="1023453"/>
            <a:ext cx="4800600" cy="4259263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22EAE8-5DA8-7392-19E9-DB532433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/>
              <a:t>Current screening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A2600-56BC-329D-7C97-C99E130133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926000"/>
            <a:ext cx="5257800" cy="4248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9705" indent="-179705">
              <a:spcAft>
                <a:spcPts val="600"/>
              </a:spcAft>
            </a:pPr>
            <a:r>
              <a:rPr lang="en-US" dirty="0">
                <a:latin typeface="Arial"/>
                <a:cs typeface="Arial"/>
              </a:rPr>
              <a:t>X-ray mammography</a:t>
            </a:r>
            <a:endParaRPr lang="en-US" dirty="0"/>
          </a:p>
          <a:p>
            <a:pPr marL="179705" indent="-179705">
              <a:spcAft>
                <a:spcPts val="600"/>
              </a:spcAft>
            </a:pPr>
            <a:r>
              <a:rPr lang="en-US" dirty="0">
                <a:latin typeface="Arial"/>
                <a:cs typeface="Arial"/>
              </a:rPr>
              <a:t>Reduced sensitivity in dense breast tissue (especially women &lt;40)</a:t>
            </a:r>
          </a:p>
        </p:txBody>
      </p:sp>
      <p:pic>
        <p:nvPicPr>
          <p:cNvPr id="5" name="Picture 4" descr="A close-up of a breast scan&#10;&#10;AI-generated content may be incorrect.">
            <a:extLst>
              <a:ext uri="{FF2B5EF4-FFF2-40B4-BE49-F238E27FC236}">
                <a16:creationId xmlns:a16="http://schemas.microsoft.com/office/drawing/2014/main" id="{5752DB83-0C41-CF52-C7C8-2641D0F13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53" y="3430036"/>
            <a:ext cx="5682095" cy="2431568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19EA5AD-510E-B4A7-E785-180B4ABB563D}"/>
              </a:ext>
            </a:extLst>
          </p:cNvPr>
          <p:cNvSpPr txBox="1">
            <a:spLocks/>
          </p:cNvSpPr>
          <p:nvPr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18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­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4427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3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fld id="{F81F693C-0BF9-432D-9F8B-AB6BA74C62F1}" type="slidenum">
              <a:rPr lang="nl-NL"/>
              <a:pPr marL="0" indent="0">
                <a:buNone/>
                <a:defRPr/>
              </a:pPr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4450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DF8D68-51BB-FE98-15F9-79103C3D3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/>
              <a:t>Early warning scan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C666E94-D480-A821-3929-153CEAAFD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255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179705" indent="-179705">
              <a:spcAft>
                <a:spcPts val="600"/>
              </a:spcAft>
            </a:pPr>
            <a:r>
              <a:rPr lang="en-US"/>
              <a:t>Multi camera optical imaging system</a:t>
            </a:r>
          </a:p>
          <a:p>
            <a:pPr marL="179705" indent="-179705">
              <a:spcAft>
                <a:spcPts val="600"/>
              </a:spcAft>
            </a:pPr>
            <a:r>
              <a:rPr lang="en-US"/>
              <a:t>Radiation free alternative</a:t>
            </a:r>
          </a:p>
          <a:p>
            <a:pPr marL="179705" indent="-179705">
              <a:spcAft>
                <a:spcPts val="600"/>
              </a:spcAft>
            </a:pPr>
            <a:r>
              <a:rPr lang="en-US"/>
              <a:t>Exploits biomechanical differences between healthy and cancerous tissue</a:t>
            </a:r>
          </a:p>
          <a:p>
            <a:pPr marL="179705" indent="-179705">
              <a:spcAft>
                <a:spcPts val="600"/>
              </a:spcAft>
            </a:pPr>
            <a:endParaRPr lang="en-US"/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752B2611-3A74-3064-95BE-8B130C994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81F693C-0BF9-432D-9F8B-AB6BA74C62F1}" type="slidenum">
              <a:rPr lang="nl-NL"/>
              <a:pPr>
                <a:spcAft>
                  <a:spcPts val="600"/>
                </a:spcAft>
                <a:defRPr/>
              </a:pPr>
              <a:t>4</a:t>
            </a:fld>
            <a:endParaRPr lang="nl-NL"/>
          </a:p>
        </p:txBody>
      </p:sp>
      <p:pic>
        <p:nvPicPr>
          <p:cNvPr id="8" name="Picture Placeholder 7" descr="A circular object with many lights&#10;&#10;AI-generated content may be incorrect.">
            <a:extLst>
              <a:ext uri="{FF2B5EF4-FFF2-40B4-BE49-F238E27FC236}">
                <a16:creationId xmlns:a16="http://schemas.microsoft.com/office/drawing/2014/main" id="{23A84C02-9B30-07A0-EEC7-FA3913E036F3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/>
          <a:srcRect l="17712" r="15255" b="2"/>
          <a:stretch>
            <a:fillRect/>
          </a:stretch>
        </p:blipFill>
        <p:spPr>
          <a:xfrm>
            <a:off x="6191250" y="1496704"/>
            <a:ext cx="5162550" cy="4351338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73D5C7-9C1E-7A70-99B4-A1B4030971BB}"/>
              </a:ext>
            </a:extLst>
          </p:cNvPr>
          <p:cNvSpPr txBox="1"/>
          <p:nvPr/>
        </p:nvSpPr>
        <p:spPr>
          <a:xfrm>
            <a:off x="6096287" y="5846815"/>
            <a:ext cx="570555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>
                <a:ea typeface="+mn-lt"/>
                <a:cs typeface="+mn-lt"/>
              </a:rPr>
              <a:t>Source</a:t>
            </a:r>
            <a:r>
              <a:rPr lang="en-GB" sz="1100" b="1" dirty="0">
                <a:ea typeface="+mn-lt"/>
                <a:cs typeface="+mn-lt"/>
              </a:rPr>
              <a:t>:</a:t>
            </a:r>
            <a:r>
              <a:rPr lang="en-GB" sz="1100" dirty="0">
                <a:ea typeface="+mn-lt"/>
                <a:cs typeface="+mn-lt"/>
              </a:rPr>
              <a:t> Early Warning Scan, </a:t>
            </a:r>
            <a:r>
              <a:rPr lang="en-GB" sz="1100" i="1" dirty="0">
                <a:ea typeface="+mn-lt"/>
                <a:cs typeface="+mn-lt"/>
              </a:rPr>
              <a:t>EarlyWarningScan.nl</a:t>
            </a:r>
            <a:r>
              <a:rPr lang="en-GB" sz="1100" dirty="0">
                <a:ea typeface="+mn-lt"/>
                <a:cs typeface="+mn-lt"/>
              </a:rPr>
              <a:t>, </a:t>
            </a:r>
            <a:r>
              <a:rPr lang="en-GB" sz="1100" dirty="0"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https://www.earlywarningscan.nl</a:t>
            </a:r>
            <a:endParaRPr lang="en-US" sz="1100" dirty="0">
              <a:cs typeface="Arial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endParaRPr lang="en-US" sz="11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88135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124EB9-6FAF-1FE7-CEA2-AA49A59B2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GB"/>
              <a:t>The Reality of Breast Tissue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F12B5-8B3E-D0F9-F029-98AB1AE61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179705" indent="-179705">
              <a:spcAft>
                <a:spcPts val="600"/>
              </a:spcAft>
            </a:pPr>
            <a:r>
              <a:rPr lang="en-GB"/>
              <a:t>Tissue heterogeneity in breasts</a:t>
            </a:r>
          </a:p>
          <a:p>
            <a:pPr marL="179705" indent="-179705">
              <a:spcAft>
                <a:spcPts val="600"/>
              </a:spcAft>
            </a:pPr>
            <a:r>
              <a:rPr lang="en-GB"/>
              <a:t>Glandular tissue 2-3x stiffer than adipose</a:t>
            </a:r>
          </a:p>
          <a:p>
            <a:pPr marL="179705" indent="-179705">
              <a:spcAft>
                <a:spcPts val="600"/>
              </a:spcAft>
            </a:pPr>
            <a:r>
              <a:rPr lang="en-GB"/>
              <a:t>Gradual transitions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/>
              <a:t>​</a:t>
            </a:r>
          </a:p>
          <a:p>
            <a:pPr marL="179705" indent="-179705">
              <a:spcAft>
                <a:spcPts val="600"/>
              </a:spcAft>
            </a:pPr>
            <a:endParaRPr lang="en-GB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FFB935C-A020-3100-D8C6-EF2CE30EC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81F693C-0BF9-432D-9F8B-AB6BA74C62F1}" type="slidenum">
              <a:rPr lang="nl-NL"/>
              <a:pPr>
                <a:spcAft>
                  <a:spcPts val="600"/>
                </a:spcAft>
                <a:defRPr/>
              </a:pPr>
              <a:t>5</a:t>
            </a:fld>
            <a:endParaRPr lang="nl-NL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EB5B53-E821-C3A9-7C50-537BCAE9D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32" y="3613101"/>
            <a:ext cx="8572500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4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B8E68F-0B25-8CD1-9881-D4D9E962C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/>
              <a:t>Why Finite Element Models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6D455-7252-E000-BDE9-46A3E80E9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255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GB" dirty="0">
                <a:latin typeface="Arial"/>
                <a:cs typeface="Arial"/>
              </a:rPr>
              <a:t>Predict tissue deformation</a:t>
            </a:r>
            <a:endParaRPr lang="en-GB" dirty="0"/>
          </a:p>
          <a:p>
            <a:pPr marL="342900" indent="-342900"/>
            <a:r>
              <a:rPr lang="en-GB" dirty="0">
                <a:latin typeface="Arial"/>
                <a:cs typeface="Arial"/>
              </a:rPr>
              <a:t>Generate systematic data</a:t>
            </a:r>
            <a:endParaRPr lang="en-GB" dirty="0"/>
          </a:p>
          <a:p>
            <a:pPr marL="342900" indent="-342900"/>
            <a:r>
              <a:rPr lang="en-GB" dirty="0">
                <a:latin typeface="Arial"/>
                <a:cs typeface="Arial"/>
              </a:rPr>
              <a:t>Simulate soft tissue mechanics </a:t>
            </a:r>
            <a:endParaRPr lang="en-GB" dirty="0"/>
          </a:p>
          <a:p>
            <a:pPr marL="342900" indent="-342900"/>
            <a:r>
              <a:rPr lang="en-GB" dirty="0">
                <a:latin typeface="Arial"/>
                <a:cs typeface="Arial"/>
              </a:rPr>
              <a:t>Test different material properties </a:t>
            </a:r>
            <a:endParaRPr lang="en-GB" dirty="0"/>
          </a:p>
          <a:p>
            <a:pPr marL="342900" indent="-342900">
              <a:spcAft>
                <a:spcPts val="600"/>
              </a:spcAft>
            </a:pPr>
            <a:endParaRPr lang="en-GB"/>
          </a:p>
          <a:p>
            <a:pPr marL="179705" indent="-179705">
              <a:spcAft>
                <a:spcPts val="600"/>
              </a:spcAft>
            </a:pPr>
            <a:endParaRPr lang="en-GB"/>
          </a:p>
          <a:p>
            <a:pPr marL="179705" indent="-179705">
              <a:spcAft>
                <a:spcPts val="600"/>
              </a:spcAft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0D44A-B7D8-700A-50DA-2BCA29E5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F81F693C-0BF9-432D-9F8B-AB6BA74C62F1}" type="slidenum">
              <a:rPr lang="nl-NL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GB"/>
          </a:p>
        </p:txBody>
      </p:sp>
      <p:pic>
        <p:nvPicPr>
          <p:cNvPr id="8" name="Picture 7" descr="A diagram of a breast&#10;&#10;AI-generated content may be incorrect.">
            <a:extLst>
              <a:ext uri="{FF2B5EF4-FFF2-40B4-BE49-F238E27FC236}">
                <a16:creationId xmlns:a16="http://schemas.microsoft.com/office/drawing/2014/main" id="{2FEF9A72-84AC-4E49-76CC-399A8880D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776" y="1701520"/>
            <a:ext cx="5970139" cy="35829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5518FD-EF6D-C2E0-C58D-7B71D4F72EC7}"/>
              </a:ext>
            </a:extLst>
          </p:cNvPr>
          <p:cNvSpPr txBox="1"/>
          <p:nvPr/>
        </p:nvSpPr>
        <p:spPr>
          <a:xfrm>
            <a:off x="6121189" y="5428462"/>
            <a:ext cx="5705553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>
                <a:latin typeface="Arial"/>
                <a:cs typeface="Segoe UI"/>
              </a:rPr>
              <a:t>Source</a:t>
            </a:r>
            <a:r>
              <a:rPr lang="en-GB" sz="1100" b="1" dirty="0">
                <a:latin typeface="Arial"/>
                <a:cs typeface="Segoe UI"/>
              </a:rPr>
              <a:t>:</a:t>
            </a:r>
            <a:r>
              <a:rPr lang="en-GB" sz="1100" dirty="0">
                <a:latin typeface="Arial"/>
                <a:cs typeface="Segoe UI"/>
              </a:rPr>
              <a:t> Chen et al., </a:t>
            </a:r>
            <a:r>
              <a:rPr lang="en-GB" sz="1100" i="1" dirty="0">
                <a:latin typeface="Arial"/>
                <a:cs typeface="Segoe UI"/>
              </a:rPr>
              <a:t>Sci Rep</a:t>
            </a:r>
            <a:r>
              <a:rPr lang="en-GB" sz="1100" dirty="0">
                <a:latin typeface="Arial"/>
                <a:cs typeface="Segoe UI"/>
              </a:rPr>
              <a:t>, 2025. DOI: </a:t>
            </a:r>
            <a:r>
              <a:rPr lang="en-GB" sz="1100" dirty="0">
                <a:latin typeface="Arial"/>
                <a:cs typeface="Segoe UI"/>
                <a:hlinkClick r:id="rId3"/>
              </a:rPr>
              <a:t>https://doi.org/10.1038/s41598-024-83598-8</a:t>
            </a:r>
            <a:endParaRPr lang="en-US">
              <a:latin typeface="Arial"/>
            </a:endParaRPr>
          </a:p>
          <a:p>
            <a:pPr algn="l"/>
            <a:endParaRPr lang="en-GB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5599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9F18-3D42-837E-D74F-9361CBDD7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venir Next Condensed Medium"/>
                <a:cs typeface="Arial"/>
              </a:rPr>
              <a:t>Current Finite element model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F3315F-B7C7-5EF2-9022-E2E39143FA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25638"/>
            <a:ext cx="5673436" cy="4248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9705" indent="-179705"/>
            <a:r>
              <a:rPr lang="en-GB" dirty="0">
                <a:latin typeface="Arial"/>
                <a:cs typeface="Arial"/>
              </a:rPr>
              <a:t>Oversimplified homogeneous models</a:t>
            </a:r>
            <a:endParaRPr lang="en-US" dirty="0"/>
          </a:p>
          <a:p>
            <a:pPr marL="179705" indent="-179705"/>
            <a:r>
              <a:rPr lang="en-GB" dirty="0">
                <a:latin typeface="Arial"/>
                <a:cs typeface="Arial"/>
              </a:rPr>
              <a:t>Proof-of-concept</a:t>
            </a:r>
          </a:p>
          <a:p>
            <a:pPr marL="179705" indent="-179705"/>
            <a:r>
              <a:rPr lang="en-GB" dirty="0">
                <a:latin typeface="Arial"/>
                <a:cs typeface="Arial"/>
              </a:rPr>
              <a:t>Literature based values</a:t>
            </a:r>
          </a:p>
          <a:p>
            <a:pPr marL="179705" indent="-179705"/>
            <a:endParaRPr lang="en-GB" dirty="0">
              <a:latin typeface="Arial"/>
              <a:cs typeface="Arial"/>
            </a:endParaRPr>
          </a:p>
          <a:p>
            <a:pPr marL="179705" indent="-179705"/>
            <a:endParaRPr lang="en-GB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B49FD-B02B-004A-B687-DA136D26B7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86721" y="6331160"/>
            <a:ext cx="284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81F693C-0BF9-432D-9F8B-AB6BA74C62F1}" type="slidenum">
              <a:rPr lang="nl-NL"/>
              <a:pPr>
                <a:defRPr/>
              </a:pPr>
              <a:t>7</a:t>
            </a:fld>
            <a:endParaRPr lang="nl-NL"/>
          </a:p>
        </p:txBody>
      </p:sp>
      <p:pic>
        <p:nvPicPr>
          <p:cNvPr id="8" name="Picture 7" descr="A red and white object with a white circle&#10;&#10;AI-generated content may be incorrect.">
            <a:extLst>
              <a:ext uri="{FF2B5EF4-FFF2-40B4-BE49-F238E27FC236}">
                <a16:creationId xmlns:a16="http://schemas.microsoft.com/office/drawing/2014/main" id="{69A5076C-3AFD-FF13-C2E1-C16873FE2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987" y="2682201"/>
            <a:ext cx="4581237" cy="4695537"/>
          </a:xfrm>
          <a:prstGeom prst="rect">
            <a:avLst/>
          </a:prstGeom>
        </p:spPr>
      </p:pic>
      <p:pic>
        <p:nvPicPr>
          <p:cNvPr id="3" name="Picture 2" descr="A diagram of a function&#10;&#10;AI-generated content may be incorrect.">
            <a:extLst>
              <a:ext uri="{FF2B5EF4-FFF2-40B4-BE49-F238E27FC236}">
                <a16:creationId xmlns:a16="http://schemas.microsoft.com/office/drawing/2014/main" id="{F925012F-BAFB-6689-0652-CA54F7B18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601793" y="1169148"/>
            <a:ext cx="6011921" cy="399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776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9E53B9-0C20-93D6-5549-B15E86900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GB"/>
              <a:t>Research question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C26AD5-78BE-B678-D912-7D44ECD09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nl-NL" dirty="0">
                <a:highlight>
                  <a:srgbClr val="FFFFFF"/>
                </a:highlight>
                <a:latin typeface="Arial"/>
                <a:cs typeface="Arial"/>
              </a:rPr>
              <a:t>Hoe beïnvloedt het implementeren van weefselheterogeniteit en de </a:t>
            </a:r>
            <a:r>
              <a:rPr lang="nl-NL" dirty="0" err="1">
                <a:highlight>
                  <a:srgbClr val="FFFFFF"/>
                </a:highlight>
                <a:latin typeface="Arial"/>
                <a:cs typeface="Arial"/>
              </a:rPr>
              <a:t>lobulaire</a:t>
            </a:r>
            <a:r>
              <a:rPr lang="nl-NL" dirty="0">
                <a:highlight>
                  <a:srgbClr val="FFFFFF"/>
                </a:highlight>
                <a:latin typeface="Arial"/>
                <a:cs typeface="Arial"/>
              </a:rPr>
              <a:t> structuur van klierweefsel de biomechanische respons van het borstmodel tijdens gesimuleerde beweging? En hoe komt deze verandering tot uiting in oppervlakte displacement patronen?</a:t>
            </a:r>
          </a:p>
          <a:p>
            <a:pPr marL="0" indent="0">
              <a:spcAft>
                <a:spcPts val="600"/>
              </a:spcAft>
              <a:buNone/>
            </a:pPr>
            <a:endParaRPr lang="en-GB">
              <a:highlight>
                <a:srgbClr val="FFFFFF"/>
              </a:highlight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B09E7-AA55-FA2C-95DF-48A2A5084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1F693C-0BF9-432D-9F8B-AB6BA74C62F1}" type="slidenum">
              <a:rPr lang="nl-NL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52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D6EF0B-11ED-4503-1284-AC94B929E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/>
              <a:t>Model implementation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A3CA6-31C9-1300-D6D8-DAA395EAA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255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spcAft>
                <a:spcPts val="600"/>
              </a:spcAft>
            </a:pPr>
            <a:r>
              <a:rPr lang="en-GB" dirty="0">
                <a:latin typeface="Arial"/>
                <a:cs typeface="Arial"/>
              </a:rPr>
              <a:t>Radial density and stiffness gradients</a:t>
            </a:r>
          </a:p>
          <a:p>
            <a:pPr marL="342900" indent="-342900">
              <a:spcAft>
                <a:spcPts val="600"/>
              </a:spcAft>
            </a:pPr>
            <a:r>
              <a:rPr lang="en-GB" dirty="0">
                <a:latin typeface="Arial"/>
                <a:cs typeface="Arial"/>
              </a:rPr>
              <a:t>Lobular structures in glandular tissue</a:t>
            </a:r>
          </a:p>
          <a:p>
            <a:pPr marL="342900" indent="-342900">
              <a:spcAft>
                <a:spcPts val="600"/>
              </a:spcAft>
            </a:pPr>
            <a:r>
              <a:rPr lang="en-GB" dirty="0">
                <a:latin typeface="Arial"/>
                <a:cs typeface="Arial"/>
              </a:rPr>
              <a:t>Eight model variants </a:t>
            </a:r>
            <a:r>
              <a:rPr lang="en-GB">
                <a:latin typeface="Arial"/>
                <a:cs typeface="Arial"/>
              </a:rPr>
              <a:t>analysed</a:t>
            </a:r>
            <a:endParaRPr lang="en-GB"/>
          </a:p>
          <a:p>
            <a:pPr marL="179705" indent="-179705">
              <a:spcAft>
                <a:spcPts val="600"/>
              </a:spcAft>
            </a:pPr>
            <a:endParaRPr lang="en-GB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44D1CF7-03D9-12D7-0F51-E1931C338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81F693C-0BF9-432D-9F8B-AB6BA74C62F1}" type="slidenum">
              <a:rPr lang="nl-NL"/>
              <a:pPr>
                <a:spcAft>
                  <a:spcPts val="600"/>
                </a:spcAft>
                <a:defRPr/>
              </a:pPr>
              <a:t>9</a:t>
            </a:fld>
            <a:endParaRPr lang="nl-NL"/>
          </a:p>
        </p:txBody>
      </p:sp>
      <p:pic>
        <p:nvPicPr>
          <p:cNvPr id="9" name="Picture 8" descr="A blue and orange light&#10;&#10;AI-generated content may be incorrect.">
            <a:extLst>
              <a:ext uri="{FF2B5EF4-FFF2-40B4-BE49-F238E27FC236}">
                <a16:creationId xmlns:a16="http://schemas.microsoft.com/office/drawing/2014/main" id="{06704C17-91F6-DF74-301C-193DC370EF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02" t="21331" r="13884" b="19483"/>
          <a:stretch>
            <a:fillRect/>
          </a:stretch>
        </p:blipFill>
        <p:spPr>
          <a:xfrm>
            <a:off x="5451985" y="1972235"/>
            <a:ext cx="6572827" cy="405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96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303C-D538-1669-DB2E-8CE7D5ECB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611"/>
            <a:ext cx="10515600" cy="554383"/>
          </a:xfrm>
        </p:spPr>
        <p:txBody>
          <a:bodyPr/>
          <a:lstStyle/>
          <a:p>
            <a:r>
              <a:rPr lang="en-GB">
                <a:latin typeface="Avenir Next Condensed Medium"/>
                <a:cs typeface="Arial"/>
              </a:rPr>
              <a:t>Parameters</a:t>
            </a:r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2366565-E46F-2603-0599-6C02F3E1A6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6697294"/>
              </p:ext>
            </p:extLst>
          </p:nvPr>
        </p:nvGraphicFramePr>
        <p:xfrm>
          <a:off x="314440" y="688070"/>
          <a:ext cx="11670967" cy="55750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34026">
                  <a:extLst>
                    <a:ext uri="{9D8B030D-6E8A-4147-A177-3AD203B41FA5}">
                      <a16:colId xmlns:a16="http://schemas.microsoft.com/office/drawing/2014/main" val="2122873644"/>
                    </a:ext>
                  </a:extLst>
                </a:gridCol>
                <a:gridCol w="1383715">
                  <a:extLst>
                    <a:ext uri="{9D8B030D-6E8A-4147-A177-3AD203B41FA5}">
                      <a16:colId xmlns:a16="http://schemas.microsoft.com/office/drawing/2014/main" val="825677733"/>
                    </a:ext>
                  </a:extLst>
                </a:gridCol>
                <a:gridCol w="1458871">
                  <a:extLst>
                    <a:ext uri="{9D8B030D-6E8A-4147-A177-3AD203B41FA5}">
                      <a16:colId xmlns:a16="http://schemas.microsoft.com/office/drawing/2014/main" val="1475597624"/>
                    </a:ext>
                  </a:extLst>
                </a:gridCol>
                <a:gridCol w="1458871">
                  <a:extLst>
                    <a:ext uri="{9D8B030D-6E8A-4147-A177-3AD203B41FA5}">
                      <a16:colId xmlns:a16="http://schemas.microsoft.com/office/drawing/2014/main" val="3203020951"/>
                    </a:ext>
                  </a:extLst>
                </a:gridCol>
                <a:gridCol w="1458871">
                  <a:extLst>
                    <a:ext uri="{9D8B030D-6E8A-4147-A177-3AD203B41FA5}">
                      <a16:colId xmlns:a16="http://schemas.microsoft.com/office/drawing/2014/main" val="559174963"/>
                    </a:ext>
                  </a:extLst>
                </a:gridCol>
                <a:gridCol w="1458871">
                  <a:extLst>
                    <a:ext uri="{9D8B030D-6E8A-4147-A177-3AD203B41FA5}">
                      <a16:colId xmlns:a16="http://schemas.microsoft.com/office/drawing/2014/main" val="2897198098"/>
                    </a:ext>
                  </a:extLst>
                </a:gridCol>
                <a:gridCol w="1458871">
                  <a:extLst>
                    <a:ext uri="{9D8B030D-6E8A-4147-A177-3AD203B41FA5}">
                      <a16:colId xmlns:a16="http://schemas.microsoft.com/office/drawing/2014/main" val="1090799488"/>
                    </a:ext>
                  </a:extLst>
                </a:gridCol>
                <a:gridCol w="1458871">
                  <a:extLst>
                    <a:ext uri="{9D8B030D-6E8A-4147-A177-3AD203B41FA5}">
                      <a16:colId xmlns:a16="http://schemas.microsoft.com/office/drawing/2014/main" val="28204702"/>
                    </a:ext>
                  </a:extLst>
                </a:gridCol>
              </a:tblGrid>
              <a:tr h="929173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Aptos"/>
                        </a:rPr>
                        <a:t>Model</a:t>
                      </a:r>
                      <a:r>
                        <a:rPr lang="en-US" sz="20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Aptos"/>
                        </a:rPr>
                        <a:t>Adipose </a:t>
                      </a:r>
                      <a:endParaRPr lang="en-US" sz="2000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endParaRPr lang="en-US" sz="2000" b="1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r>
                        <a:rPr lang="el-GR" sz="2000" b="1" dirty="0">
                          <a:effectLst/>
                          <a:latin typeface="Aptos"/>
                        </a:rPr>
                        <a:t>ρ (</a:t>
                      </a:r>
                      <a:r>
                        <a:rPr lang="en-US" sz="2000" b="1" dirty="0">
                          <a:effectLst/>
                          <a:latin typeface="Aptos"/>
                        </a:rPr>
                        <a:t>kg/m³)</a:t>
                      </a:r>
                      <a:endParaRPr lang="en-US" sz="2000" dirty="0"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Aptos"/>
                        </a:rPr>
                        <a:t>Adipose </a:t>
                      </a:r>
                      <a:endParaRPr lang="en-US" sz="2000" dirty="0">
                        <a:effectLst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endParaRPr lang="en-US" sz="2000" b="1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Aptos"/>
                        </a:rPr>
                        <a:t>c₁ (Pa)</a:t>
                      </a:r>
                      <a:r>
                        <a:rPr lang="en-US" sz="2000" dirty="0">
                          <a:effectLst/>
                          <a:latin typeface="Aptos"/>
                        </a:rPr>
                        <a:t> </a:t>
                      </a:r>
                      <a:endParaRPr lang="en-US" sz="2000" dirty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Aptos"/>
                        </a:rPr>
                        <a:t>Adipose </a:t>
                      </a:r>
                      <a:endParaRPr lang="en-US" sz="2000" dirty="0">
                        <a:effectLst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endParaRPr lang="en-US" sz="2000" b="1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Aptos"/>
                        </a:rPr>
                        <a:t>c₂ (Pa)</a:t>
                      </a:r>
                      <a:r>
                        <a:rPr lang="en-US" sz="2000" dirty="0">
                          <a:effectLst/>
                          <a:latin typeface="Aptos"/>
                        </a:rPr>
                        <a:t> </a:t>
                      </a:r>
                      <a:endParaRPr lang="en-US" sz="2000" dirty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Aptos"/>
                        </a:rPr>
                        <a:t>Glandular </a:t>
                      </a:r>
                      <a:endParaRPr lang="en-US" sz="2000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endParaRPr lang="en-US" sz="2000" b="1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r>
                        <a:rPr lang="el-GR" sz="2000" b="1" dirty="0">
                          <a:effectLst/>
                          <a:latin typeface="Aptos"/>
                        </a:rPr>
                        <a:t>ρ (</a:t>
                      </a:r>
                      <a:r>
                        <a:rPr lang="en-US" sz="2000" b="1" dirty="0">
                          <a:effectLst/>
                          <a:latin typeface="Aptos"/>
                        </a:rPr>
                        <a:t>kg/m³)</a:t>
                      </a:r>
                      <a:r>
                        <a:rPr lang="en-US" sz="20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Aptos"/>
                        </a:rPr>
                        <a:t>Glandular </a:t>
                      </a:r>
                      <a:endParaRPr lang="en-US" sz="2000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endParaRPr lang="en-US" sz="2000" b="1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Aptos"/>
                        </a:rPr>
                        <a:t>c₁ (Pa)</a:t>
                      </a:r>
                      <a:r>
                        <a:rPr lang="en-US" sz="20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Aptos"/>
                        </a:rPr>
                        <a:t>Glandular </a:t>
                      </a:r>
                      <a:endParaRPr lang="en-US" sz="2000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endParaRPr lang="en-US" sz="2000" b="1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Aptos"/>
                        </a:rPr>
                        <a:t>c₂ (Pa)</a:t>
                      </a:r>
                      <a:r>
                        <a:rPr lang="en-US" sz="20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Aptos"/>
                        </a:rPr>
                        <a:t>Bulk Modulus</a:t>
                      </a:r>
                      <a:endParaRPr lang="en-US" sz="2000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endParaRPr lang="en-US" sz="200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Aptos"/>
                        </a:rPr>
                        <a:t>K (Pa)</a:t>
                      </a:r>
                      <a:r>
                        <a:rPr lang="en-US" sz="20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899254"/>
                  </a:ext>
                </a:extLst>
              </a:tr>
              <a:tr h="929173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800" b="1" dirty="0">
                          <a:effectLst/>
                          <a:latin typeface="Aptos"/>
                        </a:rPr>
                        <a:t>Baseline</a:t>
                      </a:r>
                      <a:r>
                        <a:rPr lang="en-GB" sz="18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911 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109 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106 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1041 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230 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195 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425,000 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314624"/>
                  </a:ext>
                </a:extLst>
              </a:tr>
              <a:tr h="929173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800" b="1" dirty="0">
                          <a:effectLst/>
                          <a:latin typeface="Aptos"/>
                        </a:rPr>
                        <a:t>Radial gradient (density only)</a:t>
                      </a:r>
                      <a:r>
                        <a:rPr lang="en-GB" sz="18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911 + a=50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109 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106 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911 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230 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195 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425,000 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289663"/>
                  </a:ext>
                </a:extLst>
              </a:tr>
              <a:tr h="929173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800" b="1" dirty="0">
                          <a:effectLst/>
                          <a:latin typeface="Aptos"/>
                        </a:rPr>
                        <a:t>Radial gradient </a:t>
                      </a:r>
                      <a:r>
                        <a:rPr lang="en-GB" sz="1800" dirty="0">
                          <a:effectLst/>
                          <a:latin typeface="WordVisiCarriageReturn_MSFontService"/>
                        </a:rPr>
                        <a:t> </a:t>
                      </a:r>
                      <a:br>
                        <a:rPr lang="en-GB" sz="1800" dirty="0">
                          <a:effectLst/>
                          <a:latin typeface="WordVisiCarriageReturn_MSFontService"/>
                        </a:rPr>
                      </a:br>
                      <a:r>
                        <a:rPr lang="en-GB" sz="1800" b="1" dirty="0">
                          <a:effectLst/>
                          <a:latin typeface="Aptos"/>
                        </a:rPr>
                        <a:t>(</a:t>
                      </a:r>
                      <a:r>
                        <a:rPr lang="en-GB" sz="1800" b="1" err="1">
                          <a:effectLst/>
                          <a:latin typeface="Aptos"/>
                        </a:rPr>
                        <a:t>coef</a:t>
                      </a:r>
                      <a:r>
                        <a:rPr lang="en-GB" sz="1800" b="1" dirty="0">
                          <a:effectLst/>
                          <a:latin typeface="Aptos"/>
                        </a:rPr>
                        <a:t> only)</a:t>
                      </a:r>
                      <a:r>
                        <a:rPr lang="en-GB" sz="18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911 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109 + a=30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106 + a=25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911 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230 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195 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425,000 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794580"/>
                  </a:ext>
                </a:extLst>
              </a:tr>
              <a:tr h="929173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Aptos"/>
                        </a:rPr>
                        <a:t>Lobular (Glandular only)</a:t>
                      </a:r>
                      <a:r>
                        <a:rPr lang="en-US" sz="18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911 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109 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106 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911 + 6 lob</a:t>
                      </a: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endParaRPr lang="en-US" sz="2000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a=35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230 + 6 lob</a:t>
                      </a:r>
                      <a:endParaRPr lang="en-US" dirty="0"/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endParaRPr lang="en-US" sz="2000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a=70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195 + 6 lob</a:t>
                      </a: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endParaRPr lang="en-US" sz="2000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 a=55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425,000 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204736"/>
                  </a:ext>
                </a:extLst>
              </a:tr>
              <a:tr h="929173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800" b="1" dirty="0">
                          <a:effectLst/>
                          <a:latin typeface="Aptos"/>
                        </a:rPr>
                        <a:t>Full model (Radial + Lobular)</a:t>
                      </a:r>
                      <a:r>
                        <a:rPr lang="en-GB" sz="18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911 + a=50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109 + a=30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106 + a=25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911 + 6 lob</a:t>
                      </a: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endParaRPr lang="en-US" sz="2000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 a=35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230 + 6 lob</a:t>
                      </a: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endParaRPr lang="en-US" sz="2000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 a=70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195 + 6 lob</a:t>
                      </a: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endParaRPr lang="en-US" sz="2000" dirty="0"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 a=55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</a:rPr>
                        <a:t>425,000 </a:t>
                      </a:r>
                    </a:p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endParaRPr lang="en-US" sz="2000" dirty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37542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CD6E3-8139-81F1-6948-86DE1F347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1F693C-0BF9-432D-9F8B-AB6BA74C62F1}" type="slidenum">
              <a:rPr lang="nl-NL"/>
              <a:pPr>
                <a:defRPr/>
              </a:pPr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9673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FFB088-9909-F017-4EB9-4DB05FF3E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GB"/>
              <a:t>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AA8E4-6CD7-3026-7093-CD709B756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459" y="1715985"/>
            <a:ext cx="5846660" cy="43403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9705" indent="-179705">
              <a:spcAft>
                <a:spcPts val="600"/>
              </a:spcAft>
            </a:pPr>
            <a:r>
              <a:rPr lang="en-GB" dirty="0">
                <a:latin typeface="Arial"/>
                <a:cs typeface="Arial"/>
              </a:rPr>
              <a:t>Stiffness gradient: 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13% reduction (14.0 mm → 12.2 mm)</a:t>
            </a:r>
            <a:endParaRPr lang="en-GB" dirty="0"/>
          </a:p>
          <a:p>
            <a:pPr marL="179705" indent="-179705">
              <a:spcAft>
                <a:spcPts val="600"/>
              </a:spcAft>
            </a:pPr>
            <a:r>
              <a:rPr lang="en-GB" dirty="0">
                <a:latin typeface="Arial"/>
                <a:cs typeface="Arial"/>
              </a:rPr>
              <a:t>Density gradient: 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2% reduction (14.0 mm → 13.7 mm)</a:t>
            </a:r>
            <a:endParaRPr lang="en-GB" dirty="0"/>
          </a:p>
          <a:p>
            <a:pPr marL="179705" indent="-179705">
              <a:spcAft>
                <a:spcPts val="600"/>
              </a:spcAft>
            </a:pPr>
            <a:r>
              <a:rPr lang="en-GB" dirty="0">
                <a:latin typeface="Arial"/>
                <a:cs typeface="Arial"/>
              </a:rPr>
              <a:t>Lobular model: 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9% increase (14.0 mm → 15.3 mm)</a:t>
            </a:r>
          </a:p>
          <a:p>
            <a:pPr marL="179705" indent="-179705">
              <a:spcAft>
                <a:spcPts val="600"/>
              </a:spcAft>
            </a:pPr>
            <a:r>
              <a:rPr lang="en-GB" dirty="0">
                <a:latin typeface="Arial"/>
                <a:cs typeface="Arial"/>
              </a:rPr>
              <a:t>Full Model: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4% reduction (14.0 mm → 13.4 mm)</a:t>
            </a:r>
          </a:p>
          <a:p>
            <a:pPr marL="179705" indent="-179705">
              <a:spcAft>
                <a:spcPts val="600"/>
              </a:spcAft>
            </a:pPr>
            <a:endParaRPr lang="en-GB" dirty="0"/>
          </a:p>
          <a:p>
            <a:pPr marL="179705" indent="-179705">
              <a:spcAft>
                <a:spcPts val="600"/>
              </a:spcAft>
            </a:pPr>
            <a:endParaRPr lang="en-GB" dirty="0"/>
          </a:p>
          <a:p>
            <a:pPr marL="179705" indent="-179705">
              <a:spcAft>
                <a:spcPts val="600"/>
              </a:spcAft>
            </a:pPr>
            <a:endParaRPr lang="en-GB"/>
          </a:p>
          <a:p>
            <a:pPr marL="179705" indent="-179705">
              <a:spcAft>
                <a:spcPts val="600"/>
              </a:spcAft>
            </a:pPr>
            <a:endParaRPr lang="en-GB"/>
          </a:p>
          <a:p>
            <a:pPr marL="179705" indent="-179705">
              <a:spcAft>
                <a:spcPts val="600"/>
              </a:spcAft>
            </a:pPr>
            <a:endParaRPr lang="en-GB"/>
          </a:p>
          <a:p>
            <a:pPr marL="179705" indent="-179705">
              <a:spcAft>
                <a:spcPts val="600"/>
              </a:spcAft>
            </a:pPr>
            <a:endParaRPr lang="en-GB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88621E4-FA51-A1CF-CE91-9CD1B15D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81F693C-0BF9-432D-9F8B-AB6BA74C62F1}" type="slidenum">
              <a:rPr lang="nl-NL"/>
              <a:pPr>
                <a:spcAft>
                  <a:spcPts val="600"/>
                </a:spcAft>
                <a:defRPr/>
              </a:pPr>
              <a:t>11</a:t>
            </a:fld>
            <a:endParaRPr lang="nl-NL"/>
          </a:p>
        </p:txBody>
      </p:sp>
      <p:pic>
        <p:nvPicPr>
          <p:cNvPr id="5" name="Screen Recording 2026-01-19 at 15.59.24">
            <a:hlinkClick r:id="" action="ppaction://media"/>
            <a:extLst>
              <a:ext uri="{FF2B5EF4-FFF2-40B4-BE49-F238E27FC236}">
                <a16:creationId xmlns:a16="http://schemas.microsoft.com/office/drawing/2014/main" id="{F2666333-7320-C892-67E9-CDF50A33D83D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12983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982945" y="1432724"/>
            <a:ext cx="5759627" cy="416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6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D13564-57AF-7F7D-5710-83796BBE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510847"/>
          </a:xfrm>
        </p:spPr>
        <p:txBody>
          <a:bodyPr anchor="b">
            <a:normAutofit fontScale="90000"/>
          </a:bodyPr>
          <a:lstStyle/>
          <a:p>
            <a:r>
              <a:rPr lang="en-GB"/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C2894-0B8A-53CE-222E-9D7F3D03B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1F693C-0BF9-432D-9F8B-AB6BA74C62F1}" type="slidenum">
              <a:rPr lang="nl-NL"/>
              <a:pPr>
                <a:defRPr/>
              </a:pPr>
              <a:t>12</a:t>
            </a:fld>
            <a:endParaRPr lang="en-GB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F293D8E-BCB7-42BA-5016-07DFE007D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288" t="3446" r="36882" b="53328"/>
          <a:stretch>
            <a:fillRect/>
          </a:stretch>
        </p:blipFill>
        <p:spPr>
          <a:xfrm>
            <a:off x="139699" y="770691"/>
            <a:ext cx="11443608" cy="522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5E5793-5463-6F0A-318A-BFDBD98AA6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8" t="90629" r="14252" b="499"/>
          <a:stretch>
            <a:fillRect/>
          </a:stretch>
        </p:blipFill>
        <p:spPr>
          <a:xfrm>
            <a:off x="1073924" y="5995358"/>
            <a:ext cx="7662511" cy="60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67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62B988-7534-BE93-593F-C6945A9F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/>
              <a:t>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D7A4A-C0B8-97B0-B29C-3EAB622A6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85605" cy="434187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179705" indent="-179705"/>
            <a:r>
              <a:rPr lang="en-GB" dirty="0">
                <a:latin typeface="Arial"/>
                <a:cs typeface="Arial"/>
              </a:rPr>
              <a:t>Nipple region: 89% displacement increase with stiffness gradients 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(1.52 mm → 2.88 mm)</a:t>
            </a:r>
            <a:br>
              <a:rPr lang="en-GB" dirty="0">
                <a:latin typeface="Arial"/>
                <a:cs typeface="Arial"/>
              </a:rPr>
            </a:br>
            <a:r>
              <a:rPr lang="en-GB" dirty="0">
                <a:latin typeface="Arial"/>
                <a:cs typeface="Arial"/>
              </a:rPr>
              <a:t>density gradient (1.52 mm → 2.11 mm)</a:t>
            </a:r>
          </a:p>
          <a:p>
            <a:pPr marL="179705" indent="-179705">
              <a:spcAft>
                <a:spcPts val="600"/>
              </a:spcAft>
            </a:pPr>
            <a:r>
              <a:rPr lang="en-GB" dirty="0">
                <a:latin typeface="Arial"/>
                <a:cs typeface="Arial"/>
              </a:rPr>
              <a:t>Lateral positions: consistent across models</a:t>
            </a:r>
          </a:p>
          <a:p>
            <a:pPr marL="179705" indent="-179705">
              <a:spcAft>
                <a:spcPts val="600"/>
              </a:spcAft>
            </a:pPr>
            <a:r>
              <a:rPr lang="en-GB" dirty="0">
                <a:latin typeface="Arial"/>
                <a:cs typeface="Arial"/>
              </a:rPr>
              <a:t>Superior-inferior  displacements</a:t>
            </a:r>
          </a:p>
          <a:p>
            <a:pPr marL="359410" lvl="1" indent="-179705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GB" dirty="0">
                <a:latin typeface="Arial"/>
                <a:cs typeface="Arial"/>
              </a:rPr>
              <a:t>Baseline: 4.75 mm</a:t>
            </a:r>
          </a:p>
          <a:p>
            <a:pPr marL="359410" lvl="1" indent="-179705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GB">
                <a:latin typeface="Arial"/>
                <a:cs typeface="Arial"/>
              </a:rPr>
              <a:t>Gradient density: 4.79 mm</a:t>
            </a:r>
          </a:p>
          <a:p>
            <a:pPr marL="359410" lvl="1" indent="-179705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GB">
                <a:latin typeface="Arial"/>
                <a:cs typeface="Arial"/>
              </a:rPr>
              <a:t>Gradient stiffness: 5.77 mm</a:t>
            </a:r>
            <a:endParaRPr lang="en-GB"/>
          </a:p>
          <a:p>
            <a:pPr marL="179705" indent="-179705">
              <a:spcAft>
                <a:spcPts val="600"/>
              </a:spcAft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42619-F6A4-AE51-40C5-881C8D4C0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1F693C-0BF9-432D-9F8B-AB6BA74C62F1}" type="slidenum">
              <a:rPr lang="nl-NL"/>
              <a:pPr>
                <a:defRPr/>
              </a:pPr>
              <a:t>13</a:t>
            </a:fld>
            <a:endParaRPr lang="en-GB"/>
          </a:p>
        </p:txBody>
      </p:sp>
      <p:pic>
        <p:nvPicPr>
          <p:cNvPr id="5" name="Picture 4" descr="A diagram of a circular object with colored dots&#10;&#10;AI-generated content may be incorrect.">
            <a:extLst>
              <a:ext uri="{FF2B5EF4-FFF2-40B4-BE49-F238E27FC236}">
                <a16:creationId xmlns:a16="http://schemas.microsoft.com/office/drawing/2014/main" id="{3267A913-F072-A063-4CB2-7BE12A4D8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831" y="136446"/>
            <a:ext cx="5752347" cy="60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125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72C0-04BF-D343-A7BA-7F0F2DC4D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venir Next Condensed Medium"/>
                <a:cs typeface="Arial"/>
              </a:rPr>
              <a:t>Limitations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DEAD4-1C34-EA99-A140-7B19BC880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179705" indent="-179705"/>
            <a:r>
              <a:rPr lang="en-GB" dirty="0">
                <a:latin typeface="Arial"/>
                <a:cs typeface="Arial"/>
              </a:rPr>
              <a:t>Idealized geometry</a:t>
            </a:r>
            <a:endParaRPr lang="en-US" dirty="0"/>
          </a:p>
          <a:p>
            <a:pPr marL="179705" indent="-179705"/>
            <a:r>
              <a:rPr lang="en-GB" dirty="0">
                <a:latin typeface="Arial"/>
                <a:cs typeface="Arial"/>
              </a:rPr>
              <a:t>Literature-based parameters</a:t>
            </a:r>
            <a:endParaRPr lang="en-GB" dirty="0"/>
          </a:p>
          <a:p>
            <a:pPr marL="179705" indent="-179705"/>
            <a:r>
              <a:rPr lang="en-GB" dirty="0">
                <a:latin typeface="Arial"/>
                <a:cs typeface="Arial"/>
              </a:rPr>
              <a:t>FEBio</a:t>
            </a:r>
          </a:p>
          <a:p>
            <a:pPr marL="179705" indent="-179705"/>
            <a:r>
              <a:rPr lang="en-GB" dirty="0">
                <a:latin typeface="Arial"/>
                <a:cs typeface="Arial"/>
              </a:rPr>
              <a:t>Data starting point</a:t>
            </a:r>
            <a:endParaRPr lang="en-GB" dirty="0"/>
          </a:p>
          <a:p>
            <a:pPr marL="179705" indent="-179705"/>
            <a:endParaRPr lang="en-GB" dirty="0"/>
          </a:p>
          <a:p>
            <a:pPr marL="179705" indent="-179705"/>
            <a:endParaRPr lang="en-GB"/>
          </a:p>
          <a:p>
            <a:pPr marL="179705" indent="-179705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911D6-416C-AFC5-9C09-2344D02A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1F693C-0BF9-432D-9F8B-AB6BA74C62F1}" type="slidenum">
              <a:rPr lang="nl-NL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759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EE27-2E47-CB64-7CBD-9E7A9D55E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venir Next Condensed Medium"/>
                <a:cs typeface="Arial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669BC-7458-06A5-9873-242D5E942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179705" indent="-179705"/>
            <a:r>
              <a:rPr lang="en-GB"/>
              <a:t>Heterogeneity fundamentally alters biomechanical response</a:t>
            </a:r>
          </a:p>
          <a:p>
            <a:pPr marL="179705" indent="-179705"/>
            <a:r>
              <a:rPr lang="en-GB"/>
              <a:t>Surface displacement changes are measurable and realistic</a:t>
            </a:r>
          </a:p>
          <a:p>
            <a:pPr marL="179705" indent="-179705"/>
            <a:r>
              <a:rPr lang="en-GB"/>
              <a:t>Stiffness variations more important than density</a:t>
            </a:r>
          </a:p>
          <a:p>
            <a:pPr marL="179705" indent="-179705"/>
            <a:r>
              <a:rPr lang="en-GB">
                <a:latin typeface="Arial"/>
                <a:cs typeface="Arial"/>
              </a:rPr>
              <a:t>Model needs improvements for AI training data generation</a:t>
            </a:r>
          </a:p>
          <a:p>
            <a:pPr marL="179705" indent="-179705"/>
            <a:r>
              <a:rPr lang="en-GB">
                <a:latin typeface="Arial"/>
                <a:cs typeface="Arial"/>
              </a:rPr>
              <a:t>Supports radiation free cancer detection development</a:t>
            </a:r>
          </a:p>
          <a:p>
            <a:pPr marL="179705" indent="-179705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834D6-2E15-8E07-9077-E79D195D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1F693C-0BF9-432D-9F8B-AB6BA74C62F1}" type="slidenum">
              <a:rPr lang="nl-NL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775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47C89-4DD7-480F-6E73-5C84CB95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venir Next Condensed Medium"/>
                <a:cs typeface="Arial"/>
              </a:rPr>
              <a:t>Future directions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97D40-8371-FEE4-8DF2-BEB62BEF5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179705" indent="-179705"/>
            <a:r>
              <a:rPr lang="en-GB" dirty="0"/>
              <a:t>Free form geometry</a:t>
            </a:r>
            <a:endParaRPr lang="en-US" dirty="0"/>
          </a:p>
          <a:p>
            <a:pPr marL="179705" indent="-179705"/>
            <a:r>
              <a:rPr lang="en-GB" dirty="0"/>
              <a:t>Patient specific geometries from medical imaging</a:t>
            </a:r>
            <a:endParaRPr lang="en-US" dirty="0"/>
          </a:p>
          <a:p>
            <a:pPr marL="179705" indent="-179705"/>
            <a:r>
              <a:rPr lang="en-GB" dirty="0"/>
              <a:t>Validation with clinical data</a:t>
            </a:r>
            <a:endParaRPr lang="en-US" dirty="0"/>
          </a:p>
          <a:p>
            <a:pPr marL="179705" indent="-179705"/>
            <a:r>
              <a:rPr lang="en-GB" dirty="0"/>
              <a:t>Cooper's ligament structures</a:t>
            </a:r>
            <a:endParaRPr lang="en-US" dirty="0"/>
          </a:p>
          <a:p>
            <a:pPr marL="179705" indent="-179705"/>
            <a:r>
              <a:rPr lang="en-GB" dirty="0">
                <a:latin typeface="Arial"/>
                <a:cs typeface="Arial"/>
              </a:rPr>
              <a:t>Tumour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0787-16F6-B410-AB7B-7E784D03B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1F693C-0BF9-432D-9F8B-AB6BA74C62F1}" type="slidenum">
              <a:rPr lang="nl-NL"/>
              <a:pPr>
                <a:defRPr/>
              </a:pPr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2526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272F8-AABF-4575-573B-480F39E03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/>
              <a:t>Questions?</a:t>
            </a:r>
          </a:p>
        </p:txBody>
      </p:sp>
      <p:pic>
        <p:nvPicPr>
          <p:cNvPr id="6" name="Picture 5" descr="Yellow question mark">
            <a:extLst>
              <a:ext uri="{FF2B5EF4-FFF2-40B4-BE49-F238E27FC236}">
                <a16:creationId xmlns:a16="http://schemas.microsoft.com/office/drawing/2014/main" id="{63B95250-F831-82C6-A6D2-E2D84A33FF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49" r="8" b="25001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D8100-72BE-8318-DFBE-92664BEA5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F81F693C-0BF9-432D-9F8B-AB6BA74C62F1}" type="slidenum">
              <a:rPr lang="nl-NL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4636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FEE8ACD-F622-6398-4584-49FD7501FC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794525"/>
              </p:ext>
            </p:extLst>
          </p:nvPr>
        </p:nvGraphicFramePr>
        <p:xfrm>
          <a:off x="330506" y="293783"/>
          <a:ext cx="11608458" cy="599206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34743">
                  <a:extLst>
                    <a:ext uri="{9D8B030D-6E8A-4147-A177-3AD203B41FA5}">
                      <a16:colId xmlns:a16="http://schemas.microsoft.com/office/drawing/2014/main" val="2178972929"/>
                    </a:ext>
                  </a:extLst>
                </a:gridCol>
                <a:gridCol w="1934743">
                  <a:extLst>
                    <a:ext uri="{9D8B030D-6E8A-4147-A177-3AD203B41FA5}">
                      <a16:colId xmlns:a16="http://schemas.microsoft.com/office/drawing/2014/main" val="2480327177"/>
                    </a:ext>
                  </a:extLst>
                </a:gridCol>
                <a:gridCol w="1934743">
                  <a:extLst>
                    <a:ext uri="{9D8B030D-6E8A-4147-A177-3AD203B41FA5}">
                      <a16:colId xmlns:a16="http://schemas.microsoft.com/office/drawing/2014/main" val="3071230255"/>
                    </a:ext>
                  </a:extLst>
                </a:gridCol>
                <a:gridCol w="1934743">
                  <a:extLst>
                    <a:ext uri="{9D8B030D-6E8A-4147-A177-3AD203B41FA5}">
                      <a16:colId xmlns:a16="http://schemas.microsoft.com/office/drawing/2014/main" val="3271473070"/>
                    </a:ext>
                  </a:extLst>
                </a:gridCol>
                <a:gridCol w="1934743">
                  <a:extLst>
                    <a:ext uri="{9D8B030D-6E8A-4147-A177-3AD203B41FA5}">
                      <a16:colId xmlns:a16="http://schemas.microsoft.com/office/drawing/2014/main" val="2057249885"/>
                    </a:ext>
                  </a:extLst>
                </a:gridCol>
                <a:gridCol w="1934743">
                  <a:extLst>
                    <a:ext uri="{9D8B030D-6E8A-4147-A177-3AD203B41FA5}">
                      <a16:colId xmlns:a16="http://schemas.microsoft.com/office/drawing/2014/main" val="3484571851"/>
                    </a:ext>
                  </a:extLst>
                </a:gridCol>
              </a:tblGrid>
              <a:tr h="999230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effectLst/>
                          <a:latin typeface="Aptos"/>
                        </a:rPr>
                        <a:t>Model</a:t>
                      </a:r>
                      <a:r>
                        <a:rPr lang="en-GB" sz="24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effectLst/>
                          <a:latin typeface="Aptos"/>
                        </a:rPr>
                        <a:t>Nipple</a:t>
                      </a:r>
                      <a:endParaRPr lang="en-US" dirty="0"/>
                    </a:p>
                    <a:p>
                      <a:pPr lvl="0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effectLst/>
                          <a:latin typeface="Aptos"/>
                        </a:rPr>
                        <a:t> </a:t>
                      </a:r>
                      <a:r>
                        <a:rPr lang="en-GB" sz="2400" dirty="0">
                          <a:effectLst/>
                          <a:latin typeface="Aptos"/>
                        </a:rPr>
                        <a:t> </a:t>
                      </a:r>
                    </a:p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effectLst/>
                          <a:latin typeface="Aptos"/>
                        </a:rPr>
                        <a:t>(mm)</a:t>
                      </a:r>
                      <a:r>
                        <a:rPr lang="en-GB" sz="24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effectLst/>
                          <a:latin typeface="Aptos"/>
                        </a:rPr>
                        <a:t>Left  </a:t>
                      </a:r>
                      <a:r>
                        <a:rPr lang="en-GB" sz="2400" dirty="0">
                          <a:effectLst/>
                          <a:latin typeface="Aptos"/>
                        </a:rPr>
                        <a:t> </a:t>
                      </a:r>
                    </a:p>
                    <a:p>
                      <a:pPr lvl="0">
                        <a:lnSpc>
                          <a:spcPts val="1275"/>
                        </a:lnSpc>
                        <a:buNone/>
                      </a:pPr>
                      <a:endParaRPr lang="en-GB" sz="2400" dirty="0">
                        <a:effectLst/>
                        <a:latin typeface="Aptos"/>
                      </a:endParaRPr>
                    </a:p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effectLst/>
                          <a:latin typeface="Aptos"/>
                        </a:rPr>
                        <a:t>(mm)</a:t>
                      </a:r>
                      <a:r>
                        <a:rPr lang="en-GB" sz="24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effectLst/>
                          <a:latin typeface="Aptos"/>
                        </a:rPr>
                        <a:t>Right </a:t>
                      </a:r>
                      <a:r>
                        <a:rPr lang="en-GB" sz="2400" dirty="0">
                          <a:effectLst/>
                          <a:latin typeface="Aptos"/>
                        </a:rPr>
                        <a:t> </a:t>
                      </a:r>
                    </a:p>
                    <a:p>
                      <a:pPr lvl="0">
                        <a:lnSpc>
                          <a:spcPts val="1275"/>
                        </a:lnSpc>
                        <a:buNone/>
                      </a:pPr>
                      <a:endParaRPr lang="en-GB" sz="2400" dirty="0">
                        <a:effectLst/>
                        <a:latin typeface="Aptos"/>
                      </a:endParaRPr>
                    </a:p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effectLst/>
                          <a:latin typeface="Aptos"/>
                        </a:rPr>
                        <a:t>(mm)</a:t>
                      </a:r>
                      <a:r>
                        <a:rPr lang="en-GB" sz="24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effectLst/>
                          <a:latin typeface="Aptos"/>
                        </a:rPr>
                        <a:t>Superior </a:t>
                      </a:r>
                      <a:r>
                        <a:rPr lang="en-GB" sz="2400" dirty="0">
                          <a:effectLst/>
                          <a:latin typeface="Aptos"/>
                        </a:rPr>
                        <a:t> </a:t>
                      </a:r>
                    </a:p>
                    <a:p>
                      <a:pPr lvl="0">
                        <a:lnSpc>
                          <a:spcPts val="1275"/>
                        </a:lnSpc>
                        <a:buNone/>
                      </a:pPr>
                      <a:endParaRPr lang="en-GB" sz="2400" dirty="0">
                        <a:effectLst/>
                        <a:latin typeface="Aptos"/>
                      </a:endParaRPr>
                    </a:p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effectLst/>
                          <a:latin typeface="Aptos"/>
                        </a:rPr>
                        <a:t>(mm)</a:t>
                      </a:r>
                      <a:r>
                        <a:rPr lang="en-GB" sz="24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effectLst/>
                          <a:latin typeface="Aptos"/>
                        </a:rPr>
                        <a:t>Inferior </a:t>
                      </a:r>
                      <a:r>
                        <a:rPr lang="en-GB" sz="2400" dirty="0">
                          <a:effectLst/>
                          <a:latin typeface="Aptos"/>
                        </a:rPr>
                        <a:t> </a:t>
                      </a:r>
                    </a:p>
                    <a:p>
                      <a:pPr lvl="0">
                        <a:lnSpc>
                          <a:spcPts val="1275"/>
                        </a:lnSpc>
                        <a:buNone/>
                      </a:pPr>
                      <a:endParaRPr lang="en-GB" sz="2400" dirty="0">
                        <a:effectLst/>
                        <a:latin typeface="Aptos"/>
                      </a:endParaRPr>
                    </a:p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effectLst/>
                          <a:latin typeface="Aptos"/>
                        </a:rPr>
                        <a:t>(mm)</a:t>
                      </a:r>
                      <a:r>
                        <a:rPr lang="en-GB" sz="2400" dirty="0">
                          <a:effectLst/>
                          <a:latin typeface="Aptos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804101"/>
                  </a:ext>
                </a:extLst>
              </a:tr>
              <a:tr h="623282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Baseline</a:t>
                      </a:r>
                      <a:r>
                        <a:rPr lang="en-GB" sz="240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GB" sz="2400" dirty="0"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1.52 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9.74 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9.81 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6.46 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4.75 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567280"/>
                  </a:ext>
                </a:extLst>
              </a:tr>
              <a:tr h="623282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Radial (</a:t>
                      </a:r>
                      <a:r>
                        <a:rPr lang="el-GR" sz="2400" b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ρ)</a:t>
                      </a:r>
                      <a:r>
                        <a:rPr lang="el-GR" sz="240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l-GR" sz="2400"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2.11 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9.79 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9.84 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6.43 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4.79 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558925"/>
                  </a:ext>
                </a:extLst>
              </a:tr>
              <a:tr h="623282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Radial (c)</a:t>
                      </a:r>
                      <a:r>
                        <a:rPr lang="en-GB" sz="240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GB" sz="2400" dirty="0"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2.88 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9.77 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9.74 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6.76 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5.77 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095770"/>
                  </a:ext>
                </a:extLst>
              </a:tr>
              <a:tr h="623282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Lobular</a:t>
                      </a:r>
                      <a:r>
                        <a:rPr lang="en-GB" sz="240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GB" sz="2400" dirty="0"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2.31 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9.68 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9.71 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6.39 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4.97 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106013"/>
                  </a:ext>
                </a:extLst>
              </a:tr>
              <a:tr h="623282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Full Model</a:t>
                      </a:r>
                      <a:r>
                        <a:rPr lang="en-GB" sz="240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GB" sz="2400" dirty="0"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2.72 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9.69 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9.68 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6.64 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5.52 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363709"/>
                  </a:ext>
                </a:extLst>
              </a:tr>
              <a:tr h="623282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Adipose </a:t>
                      </a:r>
                      <a:r>
                        <a:rPr lang="el-GR" sz="2400" b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ρ</a:t>
                      </a:r>
                      <a:r>
                        <a:rPr lang="el-GR" sz="240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l-GR" sz="2400"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2.28 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9.67 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9.70 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6.39 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4.97 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730834"/>
                  </a:ext>
                </a:extLst>
              </a:tr>
              <a:tr h="623282">
                <a:tc>
                  <a:txBody>
                    <a:bodyPr/>
                    <a:lstStyle/>
                    <a:p>
                      <a:pPr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Glandular </a:t>
                      </a:r>
                      <a:r>
                        <a:rPr lang="el-GR" sz="2400" b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ρ</a:t>
                      </a:r>
                      <a:r>
                        <a:rPr lang="el-GR" sz="240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l-GR" sz="2400"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0.96 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8.92 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9.05 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5.95 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3.64 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253476"/>
                  </a:ext>
                </a:extLst>
              </a:tr>
              <a:tr h="62328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Complete </a:t>
                      </a:r>
                      <a:endParaRPr lang="en-GB" sz="2400" dirty="0">
                        <a:effectLst/>
                        <a:latin typeface="Aptos"/>
                      </a:endParaRPr>
                    </a:p>
                    <a:p>
                      <a:pPr lvl="0" algn="l">
                        <a:lnSpc>
                          <a:spcPts val="1275"/>
                        </a:lnSpc>
                        <a:buNone/>
                      </a:pPr>
                      <a:endParaRPr lang="en-GB" sz="2400" b="1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  <a:p>
                      <a:pPr lvl="0" algn="l">
                        <a:lnSpc>
                          <a:spcPts val="1275"/>
                        </a:lnSpc>
                        <a:buNone/>
                      </a:pPr>
                      <a:r>
                        <a:rPr lang="en-GB" sz="2400" b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Model</a:t>
                      </a:r>
                      <a:r>
                        <a:rPr lang="en-GB" sz="240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GB" sz="2400" dirty="0"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1.47 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8.88 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8.97 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6.44 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2400" dirty="0">
                          <a:effectLst/>
                          <a:latin typeface="Aptos"/>
                        </a:rPr>
                        <a:t>3.60 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7022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86CF4-C0D5-98AE-8A2E-A566392DB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1F693C-0BF9-432D-9F8B-AB6BA74C62F1}" type="slidenum">
              <a:rPr lang="nl-NL"/>
              <a:pPr>
                <a:defRPr/>
              </a:pPr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8646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stress&#10;&#10;AI-generated content may be incorrect.">
            <a:extLst>
              <a:ext uri="{FF2B5EF4-FFF2-40B4-BE49-F238E27FC236}">
                <a16:creationId xmlns:a16="http://schemas.microsoft.com/office/drawing/2014/main" id="{91FA93CB-1D13-2FDE-5DA7-C08401E9D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659" y="326580"/>
            <a:ext cx="11690683" cy="577529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483CD-CE8B-EFB5-FB36-98D490A8C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1F693C-0BF9-432D-9F8B-AB6BA74C62F1}" type="slidenum">
              <a:rPr lang="nl-NL"/>
              <a:pPr>
                <a:defRPr/>
              </a:pPr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9317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B35C819-87D3-9E95-4529-90A917DB3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2675" y="332184"/>
            <a:ext cx="9924361" cy="590602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9BA60-BCFA-7ACC-9EBB-97E09FA4A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1F693C-0BF9-432D-9F8B-AB6BA74C62F1}" type="slidenum">
              <a:rPr lang="nl-NL"/>
              <a:pPr>
                <a:defRPr/>
              </a:pPr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6515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different colored vertical lines&#10;&#10;AI-generated content may be incorrect.">
            <a:extLst>
              <a:ext uri="{FF2B5EF4-FFF2-40B4-BE49-F238E27FC236}">
                <a16:creationId xmlns:a16="http://schemas.microsoft.com/office/drawing/2014/main" id="{D978C07A-0776-8712-C7F6-DD60210CBC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489" y="937486"/>
            <a:ext cx="11789352" cy="498028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03E94-CE60-6424-9E74-4E065243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1F693C-0BF9-432D-9F8B-AB6BA74C62F1}" type="slidenum">
              <a:rPr lang="nl-NL"/>
              <a:pPr>
                <a:defRPr/>
              </a:pPr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302467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e_Smal">
  <a:themeElements>
    <a:clrScheme name="HAN">
      <a:dk1>
        <a:sysClr val="windowText" lastClr="000000"/>
      </a:dk1>
      <a:lt1>
        <a:sysClr val="window" lastClr="FFFFFF"/>
      </a:lt1>
      <a:dk2>
        <a:srgbClr val="E50056"/>
      </a:dk2>
      <a:lt2>
        <a:srgbClr val="F8F8F8"/>
      </a:lt2>
      <a:accent1>
        <a:srgbClr val="000000"/>
      </a:accent1>
      <a:accent2>
        <a:srgbClr val="454545"/>
      </a:accent2>
      <a:accent3>
        <a:srgbClr val="757575"/>
      </a:accent3>
      <a:accent4>
        <a:srgbClr val="919191"/>
      </a:accent4>
      <a:accent5>
        <a:srgbClr val="E3E3E3"/>
      </a:accent5>
      <a:accent6>
        <a:srgbClr val="F8F8F8"/>
      </a:accent6>
      <a:hlink>
        <a:srgbClr val="000000"/>
      </a:hlink>
      <a:folHlink>
        <a:srgbClr val="000000"/>
      </a:folHlink>
    </a:clrScheme>
    <a:fontScheme name="HAN-PP">
      <a:majorFont>
        <a:latin typeface="Avenir Next Condensed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 Social Work presentatie voor november 2019.potx" id="{44649963-4D96-4ECF-A019-E73AF9A9E330}" vid="{98D7C554-FB59-45FE-88B4-DC574A0E7861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 Social Work presentatie voor november 2019</Template>
  <TotalTime>1108</TotalTime>
  <Words>679</Words>
  <Application>Microsoft Macintosh PowerPoint</Application>
  <PresentationFormat>Widescreen</PresentationFormat>
  <Paragraphs>245</Paragraphs>
  <Slides>21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Avenir Next Condensed Medium</vt:lpstr>
      <vt:lpstr>Calibri</vt:lpstr>
      <vt:lpstr>Courier New</vt:lpstr>
      <vt:lpstr>WordVisiCarriageReturn_MSFontService</vt:lpstr>
      <vt:lpstr>Presentatie_Smal</vt:lpstr>
      <vt:lpstr>IMPLEMENTING TISSUE HETEROGENEITY IN FINITE ELEMENT BREAST MODELS FOR OPTICAL CANCER DETECTION</vt:lpstr>
      <vt:lpstr>Global challenge</vt:lpstr>
      <vt:lpstr>Current screening limitations</vt:lpstr>
      <vt:lpstr>Early warning scan</vt:lpstr>
      <vt:lpstr>The Reality of Breast Tissue</vt:lpstr>
      <vt:lpstr>Why Finite Element Models</vt:lpstr>
      <vt:lpstr>Current Finite element model</vt:lpstr>
      <vt:lpstr>Research question</vt:lpstr>
      <vt:lpstr>Model implementation</vt:lpstr>
      <vt:lpstr>Parameters</vt:lpstr>
      <vt:lpstr>Results</vt:lpstr>
      <vt:lpstr>Results</vt:lpstr>
      <vt:lpstr>Results</vt:lpstr>
      <vt:lpstr>Limitations</vt:lpstr>
      <vt:lpstr>conclusion</vt:lpstr>
      <vt:lpstr>Future directions</vt:lpstr>
      <vt:lpstr>Questions?</vt:lpstr>
      <vt:lpstr>PowerPoint Presentation</vt:lpstr>
      <vt:lpstr>PowerPoint Presentation</vt:lpstr>
      <vt:lpstr>PowerPoint Presentation</vt:lpstr>
      <vt:lpstr>PowerPoint Presentation</vt:lpstr>
    </vt:vector>
  </TitlesOfParts>
  <Company>Hogeschool van Arnhem en Nijmegen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Haarlem-van der Lelie Sybille V</dc:creator>
  <cp:lastModifiedBy>Engels,Ryan R.M.H.</cp:lastModifiedBy>
  <cp:revision>501</cp:revision>
  <dcterms:created xsi:type="dcterms:W3CDTF">2019-11-14T07:45:59Z</dcterms:created>
  <dcterms:modified xsi:type="dcterms:W3CDTF">2026-01-22T13:25:45Z</dcterms:modified>
</cp:coreProperties>
</file>